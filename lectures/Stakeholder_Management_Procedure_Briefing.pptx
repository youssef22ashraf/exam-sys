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71" r:id="rId8"/>
    <p:sldId id="270" r:id="rId9"/>
    <p:sldId id="284" r:id="rId10"/>
    <p:sldId id="266" r:id="rId11"/>
    <p:sldId id="262" r:id="rId12"/>
    <p:sldId id="263" r:id="rId13"/>
    <p:sldId id="264" r:id="rId14"/>
    <p:sldId id="265" r:id="rId15"/>
    <p:sldId id="282" r:id="rId16"/>
    <p:sldId id="269" r:id="rId17"/>
    <p:sldId id="267" r:id="rId18"/>
    <p:sldId id="283" r:id="rId19"/>
    <p:sldId id="268" r:id="rId20"/>
    <p:sldId id="273" r:id="rId21"/>
    <p:sldId id="281" r:id="rId22"/>
    <p:sldId id="272" r:id="rId23"/>
    <p:sldId id="279" r:id="rId24"/>
    <p:sldId id="280" r:id="rId25"/>
    <p:sldId id="274" r:id="rId26"/>
    <p:sldId id="275" r:id="rId27"/>
    <p:sldId id="276" r:id="rId28"/>
    <p:sldId id="277" r:id="rId29"/>
    <p:sldId id="278"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3" autoAdjust="0"/>
    <p:restoredTop sz="94610"/>
  </p:normalViewPr>
  <p:slideViewPr>
    <p:cSldViewPr snapToGrid="0" snapToObjects="1">
      <p:cViewPr>
        <p:scale>
          <a:sx n="116" d="100"/>
          <a:sy n="116" d="100"/>
        </p:scale>
        <p:origin x="10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shraf Youssef" userId="af8ce710-8110-414b-88b7-0d7c64d55425" providerId="ADAL" clId="{73B7F3F6-93FD-4722-BDDC-8E9E5722087D}"/>
    <pc:docChg chg="undo custSel modSld">
      <pc:chgData name="Ahmed Ashraf Youssef" userId="af8ce710-8110-414b-88b7-0d7c64d55425" providerId="ADAL" clId="{73B7F3F6-93FD-4722-BDDC-8E9E5722087D}" dt="2026-08-23T08:01:10.720" v="89" actId="1036"/>
      <pc:docMkLst>
        <pc:docMk/>
      </pc:docMkLst>
      <pc:sldChg chg="modSp mod">
        <pc:chgData name="Ahmed Ashraf Youssef" userId="af8ce710-8110-414b-88b7-0d7c64d55425" providerId="ADAL" clId="{73B7F3F6-93FD-4722-BDDC-8E9E5722087D}" dt="2026-08-23T07:36:17.457" v="4" actId="1076"/>
        <pc:sldMkLst>
          <pc:docMk/>
          <pc:sldMk cId="0" sldId="257"/>
        </pc:sldMkLst>
        <pc:spChg chg="mod">
          <ac:chgData name="Ahmed Ashraf Youssef" userId="af8ce710-8110-414b-88b7-0d7c64d55425" providerId="ADAL" clId="{73B7F3F6-93FD-4722-BDDC-8E9E5722087D}" dt="2026-08-23T07:36:17.457" v="4" actId="1076"/>
          <ac:spMkLst>
            <pc:docMk/>
            <pc:sldMk cId="0" sldId="257"/>
            <ac:spMk id="3"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5"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6"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7" creationId="{00000000-0000-0000-0000-000000000000}"/>
          </ac:spMkLst>
        </pc:spChg>
        <pc:spChg chg="mod">
          <ac:chgData name="Ahmed Ashraf Youssef" userId="af8ce710-8110-414b-88b7-0d7c64d55425" providerId="ADAL" clId="{73B7F3F6-93FD-4722-BDDC-8E9E5722087D}" dt="2026-08-23T07:36:03.499" v="3" actId="1076"/>
          <ac:spMkLst>
            <pc:docMk/>
            <pc:sldMk cId="0" sldId="257"/>
            <ac:spMk id="8"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0"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1"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2"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5" creationId="{00000000-0000-0000-0000-000000000000}"/>
          </ac:spMkLst>
        </pc:spChg>
        <pc:picChg chg="mod">
          <ac:chgData name="Ahmed Ashraf Youssef" userId="af8ce710-8110-414b-88b7-0d7c64d55425" providerId="ADAL" clId="{73B7F3F6-93FD-4722-BDDC-8E9E5722087D}" dt="2026-08-23T07:35:55.915" v="1" actId="1076"/>
          <ac:picMkLst>
            <pc:docMk/>
            <pc:sldMk cId="0" sldId="257"/>
            <ac:picMk id="2" creationId="{00000000-0000-0000-0000-000000000000}"/>
          </ac:picMkLst>
        </pc:picChg>
      </pc:sldChg>
      <pc:sldChg chg="modSp mod">
        <pc:chgData name="Ahmed Ashraf Youssef" userId="af8ce710-8110-414b-88b7-0d7c64d55425" providerId="ADAL" clId="{73B7F3F6-93FD-4722-BDDC-8E9E5722087D}" dt="2026-08-23T07:59:38.294" v="37" actId="20577"/>
        <pc:sldMkLst>
          <pc:docMk/>
          <pc:sldMk cId="0" sldId="267"/>
        </pc:sldMkLst>
        <pc:spChg chg="mod">
          <ac:chgData name="Ahmed Ashraf Youssef" userId="af8ce710-8110-414b-88b7-0d7c64d55425" providerId="ADAL" clId="{73B7F3F6-93FD-4722-BDDC-8E9E5722087D}" dt="2026-08-23T07:59:38.294" v="37" actId="20577"/>
          <ac:spMkLst>
            <pc:docMk/>
            <pc:sldMk cId="0" sldId="267"/>
            <ac:spMk id="12" creationId="{00000000-0000-0000-0000-000000000000}"/>
          </ac:spMkLst>
        </pc:spChg>
        <pc:spChg chg="mod">
          <ac:chgData name="Ahmed Ashraf Youssef" userId="af8ce710-8110-414b-88b7-0d7c64d55425" providerId="ADAL" clId="{73B7F3F6-93FD-4722-BDDC-8E9E5722087D}" dt="2026-08-23T07:59:03.622" v="25" actId="20577"/>
          <ac:spMkLst>
            <pc:docMk/>
            <pc:sldMk cId="0" sldId="267"/>
            <ac:spMk id="13" creationId="{00000000-0000-0000-0000-000000000000}"/>
          </ac:spMkLst>
        </pc:spChg>
        <pc:spChg chg="mod">
          <ac:chgData name="Ahmed Ashraf Youssef" userId="af8ce710-8110-414b-88b7-0d7c64d55425" providerId="ADAL" clId="{73B7F3F6-93FD-4722-BDDC-8E9E5722087D}" dt="2026-08-23T07:58:36.974" v="13" actId="20577"/>
          <ac:spMkLst>
            <pc:docMk/>
            <pc:sldMk cId="0" sldId="267"/>
            <ac:spMk id="27" creationId="{00000000-0000-0000-0000-000000000000}"/>
          </ac:spMkLst>
        </pc:spChg>
      </pc:sldChg>
      <pc:sldChg chg="modSp mod">
        <pc:chgData name="Ahmed Ashraf Youssef" userId="af8ce710-8110-414b-88b7-0d7c64d55425" providerId="ADAL" clId="{73B7F3F6-93FD-4722-BDDC-8E9E5722087D}" dt="2026-08-23T08:00:00.782" v="40" actId="14100"/>
        <pc:sldMkLst>
          <pc:docMk/>
          <pc:sldMk cId="0" sldId="270"/>
        </pc:sldMkLst>
        <pc:spChg chg="mod">
          <ac:chgData name="Ahmed Ashraf Youssef" userId="af8ce710-8110-414b-88b7-0d7c64d55425" providerId="ADAL" clId="{73B7F3F6-93FD-4722-BDDC-8E9E5722087D}" dt="2026-08-23T07:59:56.149" v="38" actId="14100"/>
          <ac:spMkLst>
            <pc:docMk/>
            <pc:sldMk cId="0" sldId="270"/>
            <ac:spMk id="5" creationId="{00000000-0000-0000-0000-000000000000}"/>
          </ac:spMkLst>
        </pc:spChg>
        <pc:spChg chg="mod">
          <ac:chgData name="Ahmed Ashraf Youssef" userId="af8ce710-8110-414b-88b7-0d7c64d55425" providerId="ADAL" clId="{73B7F3F6-93FD-4722-BDDC-8E9E5722087D}" dt="2026-08-23T07:59:58.466" v="39" actId="14100"/>
          <ac:spMkLst>
            <pc:docMk/>
            <pc:sldMk cId="0" sldId="270"/>
            <ac:spMk id="11" creationId="{00000000-0000-0000-0000-000000000000}"/>
          </ac:spMkLst>
        </pc:spChg>
        <pc:spChg chg="mod">
          <ac:chgData name="Ahmed Ashraf Youssef" userId="af8ce710-8110-414b-88b7-0d7c64d55425" providerId="ADAL" clId="{73B7F3F6-93FD-4722-BDDC-8E9E5722087D}" dt="2026-08-23T08:00:00.782" v="40" actId="14100"/>
          <ac:spMkLst>
            <pc:docMk/>
            <pc:sldMk cId="0" sldId="270"/>
            <ac:spMk id="17" creationId="{00000000-0000-0000-0000-000000000000}"/>
          </ac:spMkLst>
        </pc:spChg>
      </pc:sldChg>
      <pc:sldChg chg="modSp mod">
        <pc:chgData name="Ahmed Ashraf Youssef" userId="af8ce710-8110-414b-88b7-0d7c64d55425" providerId="ADAL" clId="{73B7F3F6-93FD-4722-BDDC-8E9E5722087D}" dt="2026-08-23T08:00:16.445" v="61" actId="1035"/>
        <pc:sldMkLst>
          <pc:docMk/>
          <pc:sldMk cId="0" sldId="271"/>
        </pc:sldMkLst>
        <pc:spChg chg="mod">
          <ac:chgData name="Ahmed Ashraf Youssef" userId="af8ce710-8110-414b-88b7-0d7c64d55425" providerId="ADAL" clId="{73B7F3F6-93FD-4722-BDDC-8E9E5722087D}" dt="2026-08-23T08:00:16.445" v="61" actId="1035"/>
          <ac:spMkLst>
            <pc:docMk/>
            <pc:sldMk cId="0" sldId="271"/>
            <ac:spMk id="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6"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8"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0"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1"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2"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3"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8"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9" creationId="{00000000-0000-0000-0000-000000000000}"/>
          </ac:spMkLst>
        </pc:spChg>
      </pc:sldChg>
      <pc:sldChg chg="modSp mod">
        <pc:chgData name="Ahmed Ashraf Youssef" userId="af8ce710-8110-414b-88b7-0d7c64d55425" providerId="ADAL" clId="{73B7F3F6-93FD-4722-BDDC-8E9E5722087D}" dt="2026-08-23T08:01:10.720" v="89" actId="1036"/>
        <pc:sldMkLst>
          <pc:docMk/>
          <pc:sldMk cId="0" sldId="276"/>
        </pc:sldMkLst>
        <pc:spChg chg="mod">
          <ac:chgData name="Ahmed Ashraf Youssef" userId="af8ce710-8110-414b-88b7-0d7c64d55425" providerId="ADAL" clId="{73B7F3F6-93FD-4722-BDDC-8E9E5722087D}" dt="2026-08-23T08:00:57.307" v="75" actId="1035"/>
          <ac:spMkLst>
            <pc:docMk/>
            <pc:sldMk cId="0" sldId="276"/>
            <ac:spMk id="5"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0"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2"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4"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8"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0"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3"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7" creationId="{00000000-0000-0000-0000-000000000000}"/>
          </ac:spMkLst>
        </pc:spChg>
      </pc:sldChg>
    </pc:docChg>
  </pc:docChgLst>
  <pc:docChgLst>
    <pc:chgData name="Ahmed Ashraf Youssef" userId="af8ce710-8110-414b-88b7-0d7c64d55425" providerId="ADAL" clId="{2C03BF3A-31ED-49F0-8A1B-109B78231F6E}"/>
    <pc:docChg chg="modSld">
      <pc:chgData name="Ahmed Ashraf Youssef" userId="af8ce710-8110-414b-88b7-0d7c64d55425" providerId="ADAL" clId="{2C03BF3A-31ED-49F0-8A1B-109B78231F6E}" dt="2026-09-10T07:26:25.517" v="0" actId="1076"/>
      <pc:docMkLst>
        <pc:docMk/>
      </pc:docMkLst>
      <pc:sldChg chg="modSp mod">
        <pc:chgData name="Ahmed Ashraf Youssef" userId="af8ce710-8110-414b-88b7-0d7c64d55425" providerId="ADAL" clId="{2C03BF3A-31ED-49F0-8A1B-109B78231F6E}" dt="2026-09-10T07:26:25.517" v="0" actId="1076"/>
        <pc:sldMkLst>
          <pc:docMk/>
          <pc:sldMk cId="0" sldId="260"/>
        </pc:sldMkLst>
        <pc:picChg chg="mod">
          <ac:chgData name="Ahmed Ashraf Youssef" userId="af8ce710-8110-414b-88b7-0d7c64d55425" providerId="ADAL" clId="{2C03BF3A-31ED-49F0-8A1B-109B78231F6E}" dt="2026-09-10T07:26:25.517" v="0" actId="1076"/>
          <ac:picMkLst>
            <pc:docMk/>
            <pc:sldMk cId="0" sldId="260"/>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17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joining. Today we are briefing the Projects Stakeholder Management Procedure, MAH-ENC-CNS-PM-PRO-002, issued under the Stakeholder Management Policy POL-002, together with its RACI matrix, the Stakeholder Engagement Plan template and the process map. By the end of this session everyone should know who our stakeholders are, how we prioritize them, who owns the engagement, and how and when to escalate.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purpose and policy principles; stakeholder categories and the Power-Interest analysis; roles and responsibilities including the RACI; the process, engagement planning and meetings; the six-level escalation matrix and KPIs; and finally governance priority, exceptions and closeout.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procedure exists and the few rules that apply on every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gives us one structured framework to identify, analyse, engage and communicate with internal and external stakeholders in design, procurement, construction, testing and handover. It follows the five principles of the policy: identify early and register; analyse power and interest; communicate through a structured engagement plan; monitor and report; and capture lessons learned at close-out.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principles are non-negotiable. Everyone is in the register with an owner and a priority. No verbal-only commitments. No commitment beyond your delegated authority. Governance comes first: satisfying a stakeholder never overrides policy, contract or law. Authority engagement goes through the GRO. Nothing is closed without evidence and sign-off. And policy deviations are exceptions only, justified and approved at executive level.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our stakeholders are and how we analyse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stakeholder is any internal or external party that affects, or is affected by, project activities. The Stakeholder Register is the controlled list of all of them, with their influence and interest and the actions agreed. The Stakeholder Engagement Plan defines how often and how we communicate with each one. The Power-Interest Matrix is the model that decides the communication priority.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stakeholders are our management, departments, project teams and site staff. External stakeholders are the Client, PMC and consultants, authorities and utility owners, subcontractors, vendors, service providers and the community. Stakeholder management works at three levels: project, program under the Projects Director, and sector under the VP E&amp;C with the PMO and Risk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stakeholder is placed on the Power-Interest Matrix. High power and high interest: manage closely, with regular meetings and direct coordination. High power, low interest: keep satisfied with targeted updates. Low power, high interest: keep informed through routine communication. Low power, low interest: monitor with minimal engagement. The classification also considers internal or external, and the impact on cost, schedule, quality, safety and compliance. The matrix is reviewed periodically and whenever scope or stakeholders change.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owns what, from the sector level down to subcontractors and the Client.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Manager leads the plan, the register and the engagement plan, runs the analysis, chairs the coordination meetings and issues minutes within 48 hours, tracks KPIs and escalates critical issues. The Project Manager integrates stakeholder management into the Project Execution Plan, approves the plan and allocates resources, and decides on escalated issues. The Interface Manager coordinates interface points and keeps the interface register aligned with stakeholder actions.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or Engineering Manager reviews IFC drawings for stakeholder requirements and gives timely technical responses. The Planning Engineer puts engagement milestones into the schedule and reports delays and dependencies. The Contract and Claim Manager identifies stakeholders linked to claims and variations, keeps that communication formal and traceable, and assesses the contractual and financial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more parties complete the picture: department heads, QA/QC, procurement, the commercial manager, the Government Relations Officer, subcontractors and vendors, and on the external side the Consultant or PMC, who reviews and approves the plan, and the Client, who endorses the approach and gives timely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Manager sits at the centre: Client, PMC, authorities through the GRO, subcontractors and vendors, the Interface Manager, community and third parties, and our own project team. Each link needs an owner, a channel and a frequency, as defined in the engagement plan.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RACI matrix from template TMP-002. At sector level the VP E&amp;C is accountable for the policy, the KPIs and performance monitoring, with the Projects Director and Stakeholder Manager responsible. At business-unit and project level, the Project Manager and the Stakeholder Manager are both accountable and responsible for plans, meetings, registers, identification, classification, tracking, closure and lessons learned, and the Projects Director takes major escalations. On site, subcontractors and the technical engineer are also accountable and responsible for resolving issues.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process every stakeholder issue follows, how we plan engagement, and the meetings that drive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at project level: identify and register; categorize and analyse; communicate and coordinate through meetings, RFIs and authority follow-ups; resolve through technical, planning, commercial, QA/QC and HSE coordination; verify and validate; and close and report. The Project Manager approves each closure against evidence. If it is not approved, the issue goes back to coordination. These are the records every project keeps.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process runs at three levels. At project level it is the ten-step map we just saw. At program level the Lead Interface Manager consolidates stakeholders affecting several projects, the Projects Director validates the classification, and KPIs are reported monthly. At sector level the Lead Stakeholder Manager flags strategic or reputational risks, the Risk Manager assesses them, the VP approves mitigation, and the PMO monitors it until the risk is acceptable.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stakeholder we plan the method, frequency, responsible person and information to share; we choose the channel; we record every communication in the action tracker; and we review the plan at each stage change. The timing rules come from the procedure: 48 hours notice for internal meetings, 72 hours for external invitations through official channels, minutes within 48 hours, and the register updated after every meeting.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hold a kick-off once, weekly or bi-weekly coordination meetings, a monthly review with management, the Client and the PMC, and special meetings for urgent issues or authority approvals. Every issue in the register moves from Open to Under Review to Closed. Each meeting produces minutes, an updated register, the action tracker and the engagement dashboard.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meetings cover attendance, the previous minutes, register updates, new issues, design, schedule and permit dependencies, risks and actions. External meetings with the Client, PMC, authorities and subcontractors cover open issues, permits and NOCs through the GRO, access, utilities and upcoming submissions. Every issue is logged, owners acknowledge their actions, and overdue items go to the Project Manager and PMC.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escalation matrix with its response times, and how we measure engagement.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is the project level, one to three working days: routine issues, handled by the Project Manager or Interface Manager and recorded in the register. Level 2 is the project management review, three to five days, with internal coordination and a formal response. Level 3 is the contract and commercial review, five to seven days, when a solution conflicts with policy or contract, or has financial implications.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4 is the program level, seven to ten days, led by the Projects Director for multi-project, authority-level or high-risk issues. Level 5 is the sector or executive level, as required and urgent, for non-compliant requests, deadlocks with authorities or critical reputational risk. Level 6 is legal and corporate governance for legal exposure, regulatory non-compliance or contractual disputes.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procedure's example target is at least 85 percent of stakeholder issues resolved on time. The other targets are proposed: all meetings held as scheduled, minutes within 48 hours, at least 90 percent of feedback actions closed by target date, a satisfaction score of four out of five, and a monthly KPI dashboard and summary report to management.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governance priority, exceptions and closeout.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stays within MAH's governance framework. Routine coordination is decided by the Stakeholder Manager, technical workarounds by the Project Manager, contract and cost impact by the Commercial Manager, authority matters by the Program Director, and high-risk or reputational matters by sector management. The resolution flow is engage, assess compliance, respond, escalate if needed, decide and record. High impact means more than 30 days delay, a major budget impact, a specification or critical safety risk, or an authority or public reputation concern.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Exceptions need a formal request with the issue, the policy constraint, the risks and the mitigation, and written executive approval before any deviation. Approved deviations are limited in scope and time and never set a precedent. Awareness sessions are held at key stages, and lessons learned are captured for every exception and at close-out. Stakeholder satisfaction never overrides governance compliance.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full procedure. The floor is open for questions on any role, meeting, escalation level or record. If something is missing for your project, raise it now so we can include it in the project Stakeholder Management Plan.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794760"/>
            <a:ext cx="8686800" cy="1417320"/>
          </a:xfrm>
          <a:prstGeom prst="rect">
            <a:avLst/>
          </a:prstGeom>
          <a:noFill/>
          <a:ln/>
        </p:spPr>
        <p:txBody>
          <a:bodyPr wrap="square" rtlCol="0" anchor="ctr"/>
          <a:lstStyle/>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STAKEHOLDER</a:t>
            </a:r>
            <a:endParaRPr lang="en-US" sz="4000" dirty="0"/>
          </a:p>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MANAGEMENT</a:t>
            </a:r>
            <a:endParaRPr lang="en-US" sz="4000" dirty="0"/>
          </a:p>
        </p:txBody>
      </p:sp>
      <p:sp>
        <p:nvSpPr>
          <p:cNvPr id="4" name="Shape 1"/>
          <p:cNvSpPr/>
          <p:nvPr/>
        </p:nvSpPr>
        <p:spPr>
          <a:xfrm>
            <a:off x="868680" y="5230368"/>
            <a:ext cx="1005840" cy="41148"/>
          </a:xfrm>
          <a:prstGeom prst="rect">
            <a:avLst/>
          </a:prstGeom>
          <a:solidFill>
            <a:srgbClr val="43A99A"/>
          </a:solidFill>
          <a:ln/>
        </p:spPr>
        <p:txBody>
          <a:bodyPr/>
          <a:lstStyle/>
          <a:p>
            <a:endParaRPr lang="en-US"/>
          </a:p>
        </p:txBody>
      </p:sp>
      <p:sp>
        <p:nvSpPr>
          <p:cNvPr id="5" name="Text 2"/>
          <p:cNvSpPr/>
          <p:nvPr/>
        </p:nvSpPr>
        <p:spPr>
          <a:xfrm>
            <a:off x="822960" y="5376672"/>
            <a:ext cx="8686800" cy="457200"/>
          </a:xfrm>
          <a:prstGeom prst="rect">
            <a:avLst/>
          </a:prstGeom>
          <a:noFill/>
          <a:ln/>
        </p:spPr>
        <p:txBody>
          <a:bodyPr wrap="square" rtlCol="0" anchor="ctr"/>
          <a:lstStyle/>
          <a:p>
            <a:pPr marL="0" indent="0">
              <a:buNone/>
            </a:pPr>
            <a:r>
              <a:rPr lang="en-US" sz="1700" dirty="0">
                <a:solidFill>
                  <a:srgbClr val="8FCFC3"/>
                </a:solidFill>
                <a:latin typeface="Calibri" pitchFamily="34" charset="0"/>
                <a:ea typeface="Calibri" pitchFamily="34" charset="-122"/>
                <a:cs typeface="Calibri" pitchFamily="34" charset="-120"/>
              </a:rPr>
              <a:t>Procedures, Roles &amp; Engagement  —  Team Briefing</a:t>
            </a:r>
            <a:endParaRPr lang="en-US" sz="1700" dirty="0"/>
          </a:p>
        </p:txBody>
      </p:sp>
      <p:sp>
        <p:nvSpPr>
          <p:cNvPr id="6" name="Text 3"/>
          <p:cNvSpPr/>
          <p:nvPr/>
        </p:nvSpPr>
        <p:spPr>
          <a:xfrm>
            <a:off x="822960" y="6355080"/>
            <a:ext cx="5486400" cy="320040"/>
          </a:xfrm>
          <a:prstGeom prst="rect">
            <a:avLst/>
          </a:prstGeom>
          <a:noFill/>
          <a:ln/>
        </p:spPr>
        <p:txBody>
          <a:bodyPr wrap="square" rtlCol="0" anchor="ctr"/>
          <a:lstStyle/>
          <a:p>
            <a:pPr marL="0" indent="0">
              <a:buNone/>
            </a:pPr>
            <a:r>
              <a:rPr lang="en-US" sz="1100" dirty="0">
                <a:solidFill>
                  <a:srgbClr val="8FB9B7"/>
                </a:solidFill>
                <a:latin typeface="Calibri" pitchFamily="34" charset="0"/>
                <a:ea typeface="Calibri" pitchFamily="34" charset="-122"/>
                <a:cs typeface="Calibri" pitchFamily="34" charset="-120"/>
              </a:rPr>
              <a:t>Policy MAH-ENC-CNS-PM-POL-002  ·  Procedure MAH-ENC-CNS-PM-PRO-002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bg_teal.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1451826"/>
            <a:ext cx="54864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p:nvPr/>
        </p:nvSpPr>
        <p:spPr>
          <a:xfrm>
            <a:off x="868680" y="2274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01</a:t>
            </a:r>
            <a:endParaRPr lang="en-US" sz="2000" dirty="0"/>
          </a:p>
        </p:txBody>
      </p:sp>
      <p:sp>
        <p:nvSpPr>
          <p:cNvPr id="5" name="Text 2"/>
          <p:cNvSpPr/>
          <p:nvPr/>
        </p:nvSpPr>
        <p:spPr>
          <a:xfrm>
            <a:off x="1600200" y="2274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Purpose &amp; Policy Principles</a:t>
            </a:r>
            <a:endParaRPr lang="en-US" sz="1800" dirty="0"/>
          </a:p>
        </p:txBody>
      </p:sp>
      <p:sp>
        <p:nvSpPr>
          <p:cNvPr id="6" name="Text 3"/>
          <p:cNvSpPr/>
          <p:nvPr/>
        </p:nvSpPr>
        <p:spPr>
          <a:xfrm>
            <a:off x="868680" y="29605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02</a:t>
            </a:r>
            <a:endParaRPr lang="en-US" sz="2000" dirty="0"/>
          </a:p>
        </p:txBody>
      </p:sp>
      <p:sp>
        <p:nvSpPr>
          <p:cNvPr id="7" name="Text 4"/>
          <p:cNvSpPr/>
          <p:nvPr/>
        </p:nvSpPr>
        <p:spPr>
          <a:xfrm>
            <a:off x="1600200" y="29605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Stakeholders, Categories &amp; Analysis</a:t>
            </a:r>
            <a:endParaRPr lang="en-US" sz="1800" dirty="0"/>
          </a:p>
        </p:txBody>
      </p:sp>
      <p:sp>
        <p:nvSpPr>
          <p:cNvPr id="8" name="Text 5"/>
          <p:cNvSpPr/>
          <p:nvPr/>
        </p:nvSpPr>
        <p:spPr>
          <a:xfrm>
            <a:off x="868680" y="36463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03</a:t>
            </a:r>
            <a:endParaRPr lang="en-US" sz="2000" dirty="0"/>
          </a:p>
        </p:txBody>
      </p:sp>
      <p:sp>
        <p:nvSpPr>
          <p:cNvPr id="9" name="Text 6"/>
          <p:cNvSpPr/>
          <p:nvPr/>
        </p:nvSpPr>
        <p:spPr>
          <a:xfrm>
            <a:off x="1600200" y="36463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Roles &amp; Responsibilities</a:t>
            </a:r>
            <a:endParaRPr lang="en-US" sz="1800" dirty="0"/>
          </a:p>
        </p:txBody>
      </p:sp>
      <p:sp>
        <p:nvSpPr>
          <p:cNvPr id="10" name="Text 7"/>
          <p:cNvSpPr/>
          <p:nvPr/>
        </p:nvSpPr>
        <p:spPr>
          <a:xfrm>
            <a:off x="868680" y="43321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04</a:t>
            </a:r>
            <a:endParaRPr lang="en-US" sz="2000" dirty="0"/>
          </a:p>
        </p:txBody>
      </p:sp>
      <p:sp>
        <p:nvSpPr>
          <p:cNvPr id="11" name="Text 8"/>
          <p:cNvSpPr/>
          <p:nvPr/>
        </p:nvSpPr>
        <p:spPr>
          <a:xfrm>
            <a:off x="1600200" y="43321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Process, Engagement &amp; Meetings</a:t>
            </a:r>
            <a:endParaRPr lang="en-US" sz="1800" dirty="0"/>
          </a:p>
        </p:txBody>
      </p:sp>
      <p:sp>
        <p:nvSpPr>
          <p:cNvPr id="12" name="Text 9"/>
          <p:cNvSpPr/>
          <p:nvPr/>
        </p:nvSpPr>
        <p:spPr>
          <a:xfrm>
            <a:off x="868680" y="50179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05</a:t>
            </a:r>
            <a:endParaRPr lang="en-US" sz="2000" dirty="0"/>
          </a:p>
        </p:txBody>
      </p:sp>
      <p:sp>
        <p:nvSpPr>
          <p:cNvPr id="13" name="Text 10"/>
          <p:cNvSpPr/>
          <p:nvPr/>
        </p:nvSpPr>
        <p:spPr>
          <a:xfrm>
            <a:off x="1600200" y="50179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Escalation Matrix &amp; KPIs</a:t>
            </a:r>
            <a:endParaRPr lang="en-US" sz="1800" dirty="0"/>
          </a:p>
        </p:txBody>
      </p:sp>
      <p:sp>
        <p:nvSpPr>
          <p:cNvPr id="14" name="Text 11"/>
          <p:cNvSpPr/>
          <p:nvPr/>
        </p:nvSpPr>
        <p:spPr>
          <a:xfrm>
            <a:off x="868680" y="5703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06</a:t>
            </a:r>
            <a:endParaRPr lang="en-US" sz="2000" dirty="0"/>
          </a:p>
        </p:txBody>
      </p:sp>
      <p:sp>
        <p:nvSpPr>
          <p:cNvPr id="15" name="Text 12"/>
          <p:cNvSpPr/>
          <p:nvPr/>
        </p:nvSpPr>
        <p:spPr>
          <a:xfrm>
            <a:off x="1600200" y="5703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Governance, Exceptions &amp; Closeout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01</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Purpose &amp; Policy Principles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Why this procedure exists and the rules that are never negotiable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PURPOSE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Purpose &amp; Objectives</a:t>
            </a:r>
            <a:endParaRPr lang="en-US" sz="3000" dirty="0"/>
          </a:p>
        </p:txBody>
      </p:sp>
      <p:sp>
        <p:nvSpPr>
          <p:cNvPr id="5" name="Text 2"/>
          <p:cNvSpPr/>
          <p:nvPr/>
        </p:nvSpPr>
        <p:spPr>
          <a:xfrm>
            <a:off x="502920" y="1417320"/>
            <a:ext cx="10789920" cy="685800"/>
          </a:xfrm>
          <a:prstGeom prst="rect">
            <a:avLst/>
          </a:prstGeom>
          <a:noFill/>
          <a:ln/>
        </p:spPr>
        <p:txBody>
          <a:bodyPr wrap="square" rtlCol="0" anchor="ctr"/>
          <a:lstStyle/>
          <a:p>
            <a:pPr marL="0" indent="0">
              <a:buNone/>
            </a:pPr>
            <a:r>
              <a:rPr lang="en-US" sz="1350" i="1" dirty="0">
                <a:solidFill>
                  <a:srgbClr val="5A626E"/>
                </a:solidFill>
                <a:latin typeface="Calibri" pitchFamily="34" charset="0"/>
                <a:ea typeface="Calibri" pitchFamily="34" charset="-122"/>
                <a:cs typeface="Calibri" pitchFamily="34" charset="-120"/>
              </a:rPr>
              <a:t>This procedure sets a structured framework to identify, analyse, engage and communicate with internal and external stakeholders in every project phase — so expectations, concerns and inputs are recorded and addressed systematically.</a:t>
            </a:r>
            <a:endParaRPr lang="en-US" sz="1350" dirty="0"/>
          </a:p>
        </p:txBody>
      </p:sp>
      <p:sp>
        <p:nvSpPr>
          <p:cNvPr id="6" name="Shape 3"/>
          <p:cNvSpPr/>
          <p:nvPr/>
        </p:nvSpPr>
        <p:spPr>
          <a:xfrm>
            <a:off x="502920" y="2331720"/>
            <a:ext cx="457200" cy="457200"/>
          </a:xfrm>
          <a:prstGeom prst="ellipse">
            <a:avLst/>
          </a:prstGeom>
          <a:solidFill>
            <a:srgbClr val="43A99A"/>
          </a:solidFill>
          <a:ln/>
        </p:spPr>
        <p:txBody>
          <a:bodyPr/>
          <a:lstStyle/>
          <a:p>
            <a:endParaRPr lang="en-US"/>
          </a:p>
        </p:txBody>
      </p:sp>
      <p:sp>
        <p:nvSpPr>
          <p:cNvPr id="7" name="Text 4"/>
          <p:cNvSpPr/>
          <p:nvPr/>
        </p:nvSpPr>
        <p:spPr>
          <a:xfrm>
            <a:off x="502920" y="23317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188720" y="2304288"/>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Identify early</a:t>
            </a:r>
            <a:endParaRPr lang="en-US" sz="1400" dirty="0"/>
          </a:p>
        </p:txBody>
      </p:sp>
      <p:sp>
        <p:nvSpPr>
          <p:cNvPr id="9" name="Text 6"/>
          <p:cNvSpPr/>
          <p:nvPr/>
        </p:nvSpPr>
        <p:spPr>
          <a:xfrm>
            <a:off x="3977640" y="2304288"/>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Identify all internal and external stakeholders at project start and record them in the Stakeholder Register.</a:t>
            </a:r>
            <a:endParaRPr lang="en-US" sz="1250" dirty="0"/>
          </a:p>
        </p:txBody>
      </p:sp>
      <p:sp>
        <p:nvSpPr>
          <p:cNvPr id="10" name="Shape 7"/>
          <p:cNvSpPr/>
          <p:nvPr/>
        </p:nvSpPr>
        <p:spPr>
          <a:xfrm>
            <a:off x="502920" y="3081528"/>
            <a:ext cx="457200" cy="457200"/>
          </a:xfrm>
          <a:prstGeom prst="ellipse">
            <a:avLst/>
          </a:prstGeom>
          <a:solidFill>
            <a:srgbClr val="43A99A"/>
          </a:solidFill>
          <a:ln/>
        </p:spPr>
        <p:txBody>
          <a:bodyPr/>
          <a:lstStyle/>
          <a:p>
            <a:endParaRPr lang="en-US"/>
          </a:p>
        </p:txBody>
      </p:sp>
      <p:sp>
        <p:nvSpPr>
          <p:cNvPr id="11" name="Text 8"/>
          <p:cNvSpPr/>
          <p:nvPr/>
        </p:nvSpPr>
        <p:spPr>
          <a:xfrm>
            <a:off x="502920" y="308152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1188720" y="3054096"/>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Analyse &amp; categorize</a:t>
            </a:r>
            <a:endParaRPr lang="en-US" sz="1400" dirty="0"/>
          </a:p>
        </p:txBody>
      </p:sp>
      <p:sp>
        <p:nvSpPr>
          <p:cNvPr id="13" name="Text 10"/>
          <p:cNvSpPr/>
          <p:nvPr/>
        </p:nvSpPr>
        <p:spPr>
          <a:xfrm>
            <a:off x="3977640" y="3054096"/>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Assess power and interest with the Power–Interest Matrix to set each stakeholder's engagement priority.</a:t>
            </a:r>
            <a:endParaRPr lang="en-US" sz="1250" dirty="0"/>
          </a:p>
        </p:txBody>
      </p:sp>
      <p:sp>
        <p:nvSpPr>
          <p:cNvPr id="14" name="Shape 11"/>
          <p:cNvSpPr/>
          <p:nvPr/>
        </p:nvSpPr>
        <p:spPr>
          <a:xfrm>
            <a:off x="502920" y="3831336"/>
            <a:ext cx="457200" cy="457200"/>
          </a:xfrm>
          <a:prstGeom prst="ellipse">
            <a:avLst/>
          </a:prstGeom>
          <a:solidFill>
            <a:srgbClr val="43A99A"/>
          </a:solidFill>
          <a:ln/>
        </p:spPr>
        <p:txBody>
          <a:bodyPr/>
          <a:lstStyle/>
          <a:p>
            <a:endParaRPr lang="en-US"/>
          </a:p>
        </p:txBody>
      </p:sp>
      <p:sp>
        <p:nvSpPr>
          <p:cNvPr id="15" name="Text 12"/>
          <p:cNvSpPr/>
          <p:nvPr/>
        </p:nvSpPr>
        <p:spPr>
          <a:xfrm>
            <a:off x="502920" y="383133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1188720" y="3803904"/>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Communicate &amp; engage</a:t>
            </a:r>
            <a:endParaRPr lang="en-US" sz="1400" dirty="0"/>
          </a:p>
        </p:txBody>
      </p:sp>
      <p:sp>
        <p:nvSpPr>
          <p:cNvPr id="17" name="Text 14"/>
          <p:cNvSpPr/>
          <p:nvPr/>
        </p:nvSpPr>
        <p:spPr>
          <a:xfrm>
            <a:off x="3977640" y="3803904"/>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Run the Engagement Plan: coordination meetings, authority follow-ups, workshops and progress updates.</a:t>
            </a:r>
            <a:endParaRPr lang="en-US" sz="1250" dirty="0"/>
          </a:p>
        </p:txBody>
      </p:sp>
      <p:sp>
        <p:nvSpPr>
          <p:cNvPr id="18" name="Shape 15"/>
          <p:cNvSpPr/>
          <p:nvPr/>
        </p:nvSpPr>
        <p:spPr>
          <a:xfrm>
            <a:off x="502920" y="4581144"/>
            <a:ext cx="457200" cy="457200"/>
          </a:xfrm>
          <a:prstGeom prst="ellipse">
            <a:avLst/>
          </a:prstGeom>
          <a:solidFill>
            <a:srgbClr val="43A99A"/>
          </a:solidFill>
          <a:ln/>
        </p:spPr>
        <p:txBody>
          <a:bodyPr/>
          <a:lstStyle/>
          <a:p>
            <a:endParaRPr lang="en-US"/>
          </a:p>
        </p:txBody>
      </p:sp>
      <p:sp>
        <p:nvSpPr>
          <p:cNvPr id="19" name="Text 16"/>
          <p:cNvSpPr/>
          <p:nvPr/>
        </p:nvSpPr>
        <p:spPr>
          <a:xfrm>
            <a:off x="502920" y="458114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188720" y="4553712"/>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Monitor &amp; report</a:t>
            </a:r>
            <a:endParaRPr lang="en-US" sz="1400" dirty="0"/>
          </a:p>
        </p:txBody>
      </p:sp>
      <p:sp>
        <p:nvSpPr>
          <p:cNvPr id="21" name="Text 18"/>
          <p:cNvSpPr/>
          <p:nvPr/>
        </p:nvSpPr>
        <p:spPr>
          <a:xfrm>
            <a:off x="3977640" y="4553712"/>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Track approvals, influence and engagement status; report monthly through KPIs and dashboards.</a:t>
            </a:r>
            <a:endParaRPr lang="en-US" sz="1250" dirty="0"/>
          </a:p>
        </p:txBody>
      </p:sp>
      <p:sp>
        <p:nvSpPr>
          <p:cNvPr id="22" name="Shape 19"/>
          <p:cNvSpPr/>
          <p:nvPr/>
        </p:nvSpPr>
        <p:spPr>
          <a:xfrm>
            <a:off x="502920" y="5330952"/>
            <a:ext cx="457200" cy="457200"/>
          </a:xfrm>
          <a:prstGeom prst="ellipse">
            <a:avLst/>
          </a:prstGeom>
          <a:solidFill>
            <a:srgbClr val="43A99A"/>
          </a:solidFill>
          <a:ln/>
        </p:spPr>
        <p:txBody>
          <a:bodyPr/>
          <a:lstStyle/>
          <a:p>
            <a:endParaRPr lang="en-US"/>
          </a:p>
        </p:txBody>
      </p:sp>
      <p:sp>
        <p:nvSpPr>
          <p:cNvPr id="23" name="Text 20"/>
          <p:cNvSpPr/>
          <p:nvPr/>
        </p:nvSpPr>
        <p:spPr>
          <a:xfrm>
            <a:off x="502920" y="53309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p:nvPr/>
        </p:nvSpPr>
        <p:spPr>
          <a:xfrm>
            <a:off x="1188720" y="5303520"/>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Learn &amp; improve</a:t>
            </a:r>
            <a:endParaRPr lang="en-US" sz="1400" dirty="0"/>
          </a:p>
        </p:txBody>
      </p:sp>
      <p:sp>
        <p:nvSpPr>
          <p:cNvPr id="25" name="Text 22"/>
          <p:cNvSpPr/>
          <p:nvPr/>
        </p:nvSpPr>
        <p:spPr>
          <a:xfrm>
            <a:off x="3977640" y="5303520"/>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Capture lessons learned at close-out and feed them into future MAH projects.</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73152"/>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NON-NEGOTIABLES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Governing Principles</a:t>
            </a:r>
            <a:endParaRPr lang="en-US" sz="3000" dirty="0"/>
          </a:p>
        </p:txBody>
      </p:sp>
      <p:sp>
        <p:nvSpPr>
          <p:cNvPr id="5" name="Shape 2"/>
          <p:cNvSpPr/>
          <p:nvPr/>
        </p:nvSpPr>
        <p:spPr>
          <a:xfrm>
            <a:off x="502920" y="1508760"/>
            <a:ext cx="5257800" cy="1170432"/>
          </a:xfrm>
          <a:prstGeom prst="roundRect">
            <a:avLst>
              <a:gd name="adj" fmla="val 6250"/>
            </a:avLst>
          </a:prstGeom>
          <a:solidFill>
            <a:srgbClr val="D9ECE7"/>
          </a:solidFill>
          <a:ln/>
        </p:spPr>
        <p:txBody>
          <a:bodyPr/>
          <a:lstStyle/>
          <a:p>
            <a:endParaRPr lang="en-US"/>
          </a:p>
        </p:txBody>
      </p:sp>
      <p:sp>
        <p:nvSpPr>
          <p:cNvPr id="6" name="Shape 3"/>
          <p:cNvSpPr/>
          <p:nvPr/>
        </p:nvSpPr>
        <p:spPr>
          <a:xfrm>
            <a:off x="704088" y="2029968"/>
            <a:ext cx="128016" cy="128016"/>
          </a:xfrm>
          <a:prstGeom prst="ellipse">
            <a:avLst/>
          </a:prstGeom>
          <a:solidFill>
            <a:srgbClr val="43A99A"/>
          </a:solidFill>
          <a:ln/>
        </p:spPr>
        <p:txBody>
          <a:bodyPr/>
          <a:lstStyle/>
          <a:p>
            <a:endParaRPr lang="en-US"/>
          </a:p>
        </p:txBody>
      </p:sp>
      <p:sp>
        <p:nvSpPr>
          <p:cNvPr id="7" name="Text 4"/>
          <p:cNvSpPr/>
          <p:nvPr/>
        </p:nvSpPr>
        <p:spPr>
          <a:xfrm>
            <a:off x="96012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Every stakeholder is in the Stakeholder Register with an owner, a category and an engagement priority.</a:t>
            </a:r>
            <a:endParaRPr lang="en-US" sz="1250" dirty="0"/>
          </a:p>
        </p:txBody>
      </p:sp>
      <p:sp>
        <p:nvSpPr>
          <p:cNvPr id="8" name="Shape 5"/>
          <p:cNvSpPr/>
          <p:nvPr/>
        </p:nvSpPr>
        <p:spPr>
          <a:xfrm>
            <a:off x="6080760" y="1508760"/>
            <a:ext cx="5257800" cy="1170432"/>
          </a:xfrm>
          <a:prstGeom prst="roundRect">
            <a:avLst>
              <a:gd name="adj" fmla="val 6250"/>
            </a:avLst>
          </a:prstGeom>
          <a:solidFill>
            <a:srgbClr val="D9ECE7"/>
          </a:solidFill>
          <a:ln/>
        </p:spPr>
        <p:txBody>
          <a:bodyPr/>
          <a:lstStyle/>
          <a:p>
            <a:endParaRPr lang="en-US"/>
          </a:p>
        </p:txBody>
      </p:sp>
      <p:sp>
        <p:nvSpPr>
          <p:cNvPr id="9" name="Shape 6"/>
          <p:cNvSpPr/>
          <p:nvPr/>
        </p:nvSpPr>
        <p:spPr>
          <a:xfrm>
            <a:off x="6281928" y="2029968"/>
            <a:ext cx="128016" cy="128016"/>
          </a:xfrm>
          <a:prstGeom prst="ellipse">
            <a:avLst/>
          </a:prstGeom>
          <a:solidFill>
            <a:srgbClr val="43A99A"/>
          </a:solidFill>
          <a:ln/>
        </p:spPr>
        <p:txBody>
          <a:bodyPr/>
          <a:lstStyle/>
          <a:p>
            <a:endParaRPr lang="en-US"/>
          </a:p>
        </p:txBody>
      </p:sp>
      <p:sp>
        <p:nvSpPr>
          <p:cNvPr id="10" name="Text 7"/>
          <p:cNvSpPr/>
          <p:nvPr/>
        </p:nvSpPr>
        <p:spPr>
          <a:xfrm>
            <a:off x="653796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verbal-only commitments: every agreement is recorded in MoM, letter, transmittal or Aconex.</a:t>
            </a:r>
            <a:endParaRPr lang="en-US" sz="1250" dirty="0"/>
          </a:p>
        </p:txBody>
      </p:sp>
      <p:sp>
        <p:nvSpPr>
          <p:cNvPr id="11" name="Shape 8"/>
          <p:cNvSpPr/>
          <p:nvPr/>
        </p:nvSpPr>
        <p:spPr>
          <a:xfrm>
            <a:off x="502920" y="2834640"/>
            <a:ext cx="5257800" cy="1170432"/>
          </a:xfrm>
          <a:prstGeom prst="roundRect">
            <a:avLst>
              <a:gd name="adj" fmla="val 6250"/>
            </a:avLst>
          </a:prstGeom>
          <a:solidFill>
            <a:srgbClr val="D9ECE7"/>
          </a:solidFill>
          <a:ln/>
        </p:spPr>
        <p:txBody>
          <a:bodyPr/>
          <a:lstStyle/>
          <a:p>
            <a:endParaRPr lang="en-US"/>
          </a:p>
        </p:txBody>
      </p:sp>
      <p:sp>
        <p:nvSpPr>
          <p:cNvPr id="12" name="Shape 9"/>
          <p:cNvSpPr/>
          <p:nvPr/>
        </p:nvSpPr>
        <p:spPr>
          <a:xfrm>
            <a:off x="704088" y="3355848"/>
            <a:ext cx="128016" cy="128016"/>
          </a:xfrm>
          <a:prstGeom prst="ellipse">
            <a:avLst/>
          </a:prstGeom>
          <a:solidFill>
            <a:srgbClr val="43A99A"/>
          </a:solidFill>
          <a:ln/>
        </p:spPr>
        <p:txBody>
          <a:bodyPr/>
          <a:lstStyle/>
          <a:p>
            <a:endParaRPr lang="en-US"/>
          </a:p>
        </p:txBody>
      </p:sp>
      <p:sp>
        <p:nvSpPr>
          <p:cNvPr id="13" name="Text 10"/>
          <p:cNvSpPr/>
          <p:nvPr/>
        </p:nvSpPr>
        <p:spPr>
          <a:xfrm>
            <a:off x="96012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commitment beyond delegated authority — escalate and obtain approval before confirming.</a:t>
            </a:r>
            <a:endParaRPr lang="en-US" sz="1250" dirty="0"/>
          </a:p>
        </p:txBody>
      </p:sp>
      <p:sp>
        <p:nvSpPr>
          <p:cNvPr id="14" name="Shape 11"/>
          <p:cNvSpPr/>
          <p:nvPr/>
        </p:nvSpPr>
        <p:spPr>
          <a:xfrm>
            <a:off x="6080760" y="2834640"/>
            <a:ext cx="5257800" cy="1170432"/>
          </a:xfrm>
          <a:prstGeom prst="roundRect">
            <a:avLst>
              <a:gd name="adj" fmla="val 6250"/>
            </a:avLst>
          </a:prstGeom>
          <a:solidFill>
            <a:srgbClr val="D9ECE7"/>
          </a:solidFill>
          <a:ln/>
        </p:spPr>
        <p:txBody>
          <a:bodyPr/>
          <a:lstStyle/>
          <a:p>
            <a:endParaRPr lang="en-US"/>
          </a:p>
        </p:txBody>
      </p:sp>
      <p:sp>
        <p:nvSpPr>
          <p:cNvPr id="15" name="Shape 12"/>
          <p:cNvSpPr/>
          <p:nvPr/>
        </p:nvSpPr>
        <p:spPr>
          <a:xfrm>
            <a:off x="6281928" y="3355848"/>
            <a:ext cx="128016" cy="128016"/>
          </a:xfrm>
          <a:prstGeom prst="ellipse">
            <a:avLst/>
          </a:prstGeom>
          <a:solidFill>
            <a:srgbClr val="43A99A"/>
          </a:solidFill>
          <a:ln/>
        </p:spPr>
        <p:txBody>
          <a:bodyPr/>
          <a:lstStyle/>
          <a:p>
            <a:endParaRPr lang="en-US"/>
          </a:p>
        </p:txBody>
      </p:sp>
      <p:sp>
        <p:nvSpPr>
          <p:cNvPr id="16" name="Text 13"/>
          <p:cNvSpPr/>
          <p:nvPr/>
        </p:nvSpPr>
        <p:spPr>
          <a:xfrm>
            <a:off x="653796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Governance first: stakeholder satisfaction never overrides policy, contract or statutory compliance.</a:t>
            </a:r>
            <a:endParaRPr lang="en-US" sz="1250" dirty="0"/>
          </a:p>
        </p:txBody>
      </p:sp>
      <p:sp>
        <p:nvSpPr>
          <p:cNvPr id="17" name="Shape 14"/>
          <p:cNvSpPr/>
          <p:nvPr/>
        </p:nvSpPr>
        <p:spPr>
          <a:xfrm>
            <a:off x="502920" y="4160520"/>
            <a:ext cx="5257800" cy="1170432"/>
          </a:xfrm>
          <a:prstGeom prst="roundRect">
            <a:avLst>
              <a:gd name="adj" fmla="val 6250"/>
            </a:avLst>
          </a:prstGeom>
          <a:solidFill>
            <a:srgbClr val="D9ECE7"/>
          </a:solidFill>
          <a:ln/>
        </p:spPr>
        <p:txBody>
          <a:bodyPr/>
          <a:lstStyle/>
          <a:p>
            <a:endParaRPr lang="en-US"/>
          </a:p>
        </p:txBody>
      </p:sp>
      <p:sp>
        <p:nvSpPr>
          <p:cNvPr id="18" name="Shape 15"/>
          <p:cNvSpPr/>
          <p:nvPr/>
        </p:nvSpPr>
        <p:spPr>
          <a:xfrm>
            <a:off x="704088" y="4681728"/>
            <a:ext cx="128016" cy="128016"/>
          </a:xfrm>
          <a:prstGeom prst="ellipse">
            <a:avLst/>
          </a:prstGeom>
          <a:solidFill>
            <a:srgbClr val="43A99A"/>
          </a:solidFill>
          <a:ln/>
        </p:spPr>
        <p:txBody>
          <a:bodyPr/>
          <a:lstStyle/>
          <a:p>
            <a:endParaRPr lang="en-US"/>
          </a:p>
        </p:txBody>
      </p:sp>
      <p:sp>
        <p:nvSpPr>
          <p:cNvPr id="19" name="Text 16"/>
          <p:cNvSpPr/>
          <p:nvPr/>
        </p:nvSpPr>
        <p:spPr>
          <a:xfrm>
            <a:off x="96012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Authority engagement goes through the GRO, with valid authorization letters.</a:t>
            </a:r>
            <a:endParaRPr lang="en-US" sz="1250" dirty="0"/>
          </a:p>
        </p:txBody>
      </p:sp>
      <p:sp>
        <p:nvSpPr>
          <p:cNvPr id="20" name="Shape 17"/>
          <p:cNvSpPr/>
          <p:nvPr/>
        </p:nvSpPr>
        <p:spPr>
          <a:xfrm>
            <a:off x="6080760" y="4160520"/>
            <a:ext cx="5257800" cy="1170432"/>
          </a:xfrm>
          <a:prstGeom prst="roundRect">
            <a:avLst>
              <a:gd name="adj" fmla="val 6250"/>
            </a:avLst>
          </a:prstGeom>
          <a:solidFill>
            <a:srgbClr val="D9ECE7"/>
          </a:solidFill>
          <a:ln/>
        </p:spPr>
        <p:txBody>
          <a:bodyPr/>
          <a:lstStyle/>
          <a:p>
            <a:endParaRPr lang="en-US"/>
          </a:p>
        </p:txBody>
      </p:sp>
      <p:sp>
        <p:nvSpPr>
          <p:cNvPr id="21" name="Shape 18"/>
          <p:cNvSpPr/>
          <p:nvPr/>
        </p:nvSpPr>
        <p:spPr>
          <a:xfrm>
            <a:off x="6281928" y="4681728"/>
            <a:ext cx="128016" cy="128016"/>
          </a:xfrm>
          <a:prstGeom prst="ellipse">
            <a:avLst/>
          </a:prstGeom>
          <a:solidFill>
            <a:srgbClr val="43A99A"/>
          </a:solidFill>
          <a:ln/>
        </p:spPr>
        <p:txBody>
          <a:bodyPr/>
          <a:lstStyle/>
          <a:p>
            <a:endParaRPr lang="en-US"/>
          </a:p>
        </p:txBody>
      </p:sp>
      <p:sp>
        <p:nvSpPr>
          <p:cNvPr id="22" name="Text 19"/>
          <p:cNvSpPr/>
          <p:nvPr/>
        </p:nvSpPr>
        <p:spPr>
          <a:xfrm>
            <a:off x="653796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stakeholder issue is closed without evidence and sign-off by all concerned parties.</a:t>
            </a:r>
            <a:endParaRPr lang="en-US" sz="1250" dirty="0"/>
          </a:p>
        </p:txBody>
      </p:sp>
      <p:sp>
        <p:nvSpPr>
          <p:cNvPr id="23" name="Shape 20"/>
          <p:cNvSpPr/>
          <p:nvPr/>
        </p:nvSpPr>
        <p:spPr>
          <a:xfrm>
            <a:off x="502920" y="5486400"/>
            <a:ext cx="5257800" cy="1170432"/>
          </a:xfrm>
          <a:prstGeom prst="roundRect">
            <a:avLst>
              <a:gd name="adj" fmla="val 6250"/>
            </a:avLst>
          </a:prstGeom>
          <a:solidFill>
            <a:srgbClr val="D9ECE7"/>
          </a:solidFill>
          <a:ln/>
        </p:spPr>
        <p:txBody>
          <a:bodyPr/>
          <a:lstStyle/>
          <a:p>
            <a:endParaRPr lang="en-US"/>
          </a:p>
        </p:txBody>
      </p:sp>
      <p:sp>
        <p:nvSpPr>
          <p:cNvPr id="24" name="Shape 21"/>
          <p:cNvSpPr/>
          <p:nvPr/>
        </p:nvSpPr>
        <p:spPr>
          <a:xfrm>
            <a:off x="704088" y="6007608"/>
            <a:ext cx="128016" cy="128016"/>
          </a:xfrm>
          <a:prstGeom prst="ellipse">
            <a:avLst/>
          </a:prstGeom>
          <a:solidFill>
            <a:srgbClr val="43A99A"/>
          </a:solidFill>
          <a:ln/>
        </p:spPr>
        <p:txBody>
          <a:bodyPr/>
          <a:lstStyle/>
          <a:p>
            <a:endParaRPr lang="en-US"/>
          </a:p>
        </p:txBody>
      </p:sp>
      <p:sp>
        <p:nvSpPr>
          <p:cNvPr id="25" name="Text 22"/>
          <p:cNvSpPr/>
          <p:nvPr/>
        </p:nvSpPr>
        <p:spPr>
          <a:xfrm>
            <a:off x="960120" y="557784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Policy deviations are exceptions only — justified, executive-approved, time-bound and recorded.</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02</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Stakeholders, Categories &amp; Analysis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Who our stakeholders are and how we prioritize them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DEFINITIONS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 Key Definitions</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Stakeholder</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Any internal or external party that has an impact on, or may be affected by, project activities — from MAH departments and project teams to the Client, consultants, authorities, subcontractors, community and service providers.</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Stakeholder Register (SR) &amp; Engagement Plan (SEP)</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SR is the controlled list of all stakeholders with influence / interest levels, communication plan and actions. The SEP sets communication frequency, expectations and engagement strategy; the SEP Owner updates and coordinates actions.</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Power–Interest Matrix</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categorization model that sets communication priority: Manage Closely, Keep Satisfied, Keep Informed or Monitor. Also used: SMP – Stakeholder Management Plan · SM – Stakeholder Manager · NOC – No Objection Certificate.</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CATEGORIES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Internal, External &amp; Management Levels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Internal Stakeholders</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MAH management, functional departments, project teams and site staff.</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Design, planning, QA/QC, HSE, procurement, commercial and contracts.</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External Stakeholders</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Client / Employer, PMC / consultants, authorities and utility owners.</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Subcontractors, vendors, service providers and community representatives.</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Three Management Levels</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Project: Stakeholder Manager, Project Manager, Interface Manager.</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Program: Projects Director · Sector: VP E&amp;C, PMO and Risk Manager.</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ANALYSIS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Power–Interest Matrix &amp; Engagement Strategy</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9</a:t>
            </a:r>
            <a:endParaRPr lang="en-US" sz="1100" dirty="0"/>
          </a:p>
        </p:txBody>
      </p:sp>
      <p:sp>
        <p:nvSpPr>
          <p:cNvPr id="101" name="Matrix 101"/>
          <p:cNvSpPr/>
          <p:nvPr/>
        </p:nvSpPr>
        <p:spPr>
          <a:xfrm>
            <a:off x="1250000" y="1560000"/>
            <a:ext cx="2600000" cy="2080000"/>
          </a:xfrm>
          <a:prstGeom prst="roundRect">
            <a:avLst>
              <a:gd name="adj" fmla="val 4000"/>
            </a:avLst>
          </a:prstGeom>
          <a:solidFill>
            <a:srgbClr val="8FCFC3"/>
          </a:solidFill>
          <a:ln>
            <a:noFill/>
          </a:ln>
        </p:spPr>
        <p:txBody>
          <a:bodyPr wrap="square" lIns="150000" tIns="75000" rIns="150000" bIns="75000" anchor="t"/>
          <a:lstStyle/>
          <a:p>
            <a:pPr algn="l">
              <a:spcAft>
                <a:spcPts val="100"/>
              </a:spcAft>
              <a:buNone/>
            </a:pPr>
            <a:r>
              <a:rPr lang="en-US" sz="1700" b="1" i="0" dirty="0">
                <a:solidFill>
                  <a:srgbClr val="004549"/>
                </a:solidFill>
                <a:latin typeface="Calibri"/>
                <a:cs typeface="Calibri"/>
              </a:rPr>
              <a:t>KEEP SATISFIED</a:t>
            </a:r>
          </a:p>
          <a:p>
            <a:pPr algn="l">
              <a:spcAft>
                <a:spcPts val="500"/>
              </a:spcAft>
              <a:buNone/>
            </a:pPr>
            <a:r>
              <a:rPr lang="en-US" sz="1100" b="0" i="1" dirty="0">
                <a:solidFill>
                  <a:srgbClr val="004549"/>
                </a:solidFill>
                <a:latin typeface="Calibri"/>
                <a:cs typeface="Calibri"/>
              </a:rPr>
              <a:t>High power · Low interest</a:t>
            </a:r>
          </a:p>
          <a:p>
            <a:pPr algn="l">
              <a:spcAft>
                <a:spcPts val="500"/>
              </a:spcAft>
              <a:buNone/>
            </a:pPr>
            <a:r>
              <a:rPr lang="en-US" sz="1200" b="1" i="0" dirty="0">
                <a:solidFill>
                  <a:srgbClr val="004549"/>
                </a:solidFill>
                <a:latin typeface="Calibri"/>
                <a:cs typeface="Calibri"/>
              </a:rPr>
              <a:t>Targeted updates on decisions that need them</a:t>
            </a:r>
          </a:p>
          <a:p>
            <a:pPr algn="l">
              <a:buNone/>
            </a:pPr>
            <a:r>
              <a:rPr lang="en-US" sz="1050" b="0" i="0" dirty="0">
                <a:solidFill>
                  <a:srgbClr val="004549"/>
                </a:solidFill>
                <a:latin typeface="Calibri"/>
                <a:cs typeface="Calibri"/>
              </a:rPr>
              <a:t>Executive management · approving authorities · utility owners</a:t>
            </a:r>
          </a:p>
        </p:txBody>
      </p:sp>
      <p:sp>
        <p:nvSpPr>
          <p:cNvPr id="102" name="Matrix 102"/>
          <p:cNvSpPr/>
          <p:nvPr/>
        </p:nvSpPr>
        <p:spPr>
          <a:xfrm>
            <a:off x="3940000" y="1560000"/>
            <a:ext cx="2600000" cy="2080000"/>
          </a:xfrm>
          <a:prstGeom prst="roundRect">
            <a:avLst>
              <a:gd name="adj" fmla="val 4000"/>
            </a:avLst>
          </a:prstGeom>
          <a:solidFill>
            <a:srgbClr val="004549"/>
          </a:solidFill>
          <a:ln>
            <a:noFill/>
          </a:ln>
        </p:spPr>
        <p:txBody>
          <a:bodyPr wrap="square" lIns="150000" tIns="75000" rIns="150000" bIns="75000" anchor="t"/>
          <a:lstStyle/>
          <a:p>
            <a:pPr algn="l">
              <a:spcAft>
                <a:spcPts val="100"/>
              </a:spcAft>
              <a:buNone/>
            </a:pPr>
            <a:r>
              <a:rPr lang="en-US" sz="1700" b="1" i="0" dirty="0">
                <a:solidFill>
                  <a:srgbClr val="8FCFC3"/>
                </a:solidFill>
                <a:latin typeface="Calibri"/>
                <a:cs typeface="Calibri"/>
              </a:rPr>
              <a:t>MANAGE CLOSELY</a:t>
            </a:r>
          </a:p>
          <a:p>
            <a:pPr algn="l">
              <a:spcAft>
                <a:spcPts val="500"/>
              </a:spcAft>
              <a:buNone/>
            </a:pPr>
            <a:r>
              <a:rPr lang="en-US" sz="1100" b="0" i="1" dirty="0">
                <a:solidFill>
                  <a:srgbClr val="FFFFFF"/>
                </a:solidFill>
                <a:latin typeface="Calibri"/>
                <a:cs typeface="Calibri"/>
              </a:rPr>
              <a:t>High power · High interest</a:t>
            </a:r>
          </a:p>
          <a:p>
            <a:pPr algn="l">
              <a:spcAft>
                <a:spcPts val="500"/>
              </a:spcAft>
              <a:buNone/>
            </a:pPr>
            <a:r>
              <a:rPr lang="en-US" sz="1200" b="1" i="0" dirty="0">
                <a:solidFill>
                  <a:srgbClr val="FFFFFF"/>
                </a:solidFill>
                <a:latin typeface="Calibri"/>
                <a:cs typeface="Calibri"/>
              </a:rPr>
              <a:t>Regular meetings and direct coordination</a:t>
            </a:r>
          </a:p>
          <a:p>
            <a:pPr algn="l">
              <a:buNone/>
            </a:pPr>
            <a:r>
              <a:rPr lang="en-US" sz="1050" b="0" i="0" dirty="0">
                <a:solidFill>
                  <a:srgbClr val="FFFFFF"/>
                </a:solidFill>
                <a:latin typeface="Calibri"/>
                <a:cs typeface="Calibri"/>
              </a:rPr>
              <a:t>Client / Employer · PMC / Consultant · permitting authorities</a:t>
            </a:r>
          </a:p>
        </p:txBody>
      </p:sp>
      <p:sp>
        <p:nvSpPr>
          <p:cNvPr id="103" name="Matrix 103"/>
          <p:cNvSpPr/>
          <p:nvPr/>
        </p:nvSpPr>
        <p:spPr>
          <a:xfrm>
            <a:off x="1250000" y="3730000"/>
            <a:ext cx="2600000" cy="2080000"/>
          </a:xfrm>
          <a:prstGeom prst="roundRect">
            <a:avLst>
              <a:gd name="adj" fmla="val 4000"/>
            </a:avLst>
          </a:prstGeom>
          <a:solidFill>
            <a:srgbClr val="F4F9F8"/>
          </a:solidFill>
          <a:ln w="12700">
            <a:solidFill>
              <a:srgbClr val="D9ECE7"/>
            </a:solidFill>
          </a:ln>
        </p:spPr>
        <p:txBody>
          <a:bodyPr wrap="square" lIns="150000" tIns="75000" rIns="150000" bIns="75000" anchor="t"/>
          <a:lstStyle/>
          <a:p>
            <a:pPr algn="l">
              <a:spcAft>
                <a:spcPts val="100"/>
              </a:spcAft>
              <a:buNone/>
            </a:pPr>
            <a:r>
              <a:rPr lang="en-US" sz="1700" b="1" i="0" dirty="0">
                <a:solidFill>
                  <a:srgbClr val="004549"/>
                </a:solidFill>
                <a:latin typeface="Calibri"/>
                <a:cs typeface="Calibri"/>
              </a:rPr>
              <a:t>MONITOR</a:t>
            </a:r>
          </a:p>
          <a:p>
            <a:pPr algn="l">
              <a:spcAft>
                <a:spcPts val="500"/>
              </a:spcAft>
              <a:buNone/>
            </a:pPr>
            <a:r>
              <a:rPr lang="en-US" sz="1100" b="0" i="1" dirty="0">
                <a:solidFill>
                  <a:srgbClr val="5A626E"/>
                </a:solidFill>
                <a:latin typeface="Calibri"/>
                <a:cs typeface="Calibri"/>
              </a:rPr>
              <a:t>Low power · Low interest</a:t>
            </a:r>
          </a:p>
          <a:p>
            <a:pPr algn="l">
              <a:spcAft>
                <a:spcPts val="500"/>
              </a:spcAft>
              <a:buNone/>
            </a:pPr>
            <a:r>
              <a:rPr lang="en-US" sz="1200" b="1" i="0" dirty="0">
                <a:solidFill>
                  <a:srgbClr val="5A626E"/>
                </a:solidFill>
                <a:latin typeface="Calibri"/>
                <a:cs typeface="Calibri"/>
              </a:rPr>
              <a:t>Minimal engagement — watch for changes</a:t>
            </a:r>
          </a:p>
          <a:p>
            <a:pPr algn="l">
              <a:buNone/>
            </a:pPr>
            <a:r>
              <a:rPr lang="en-US" sz="1050" b="0" i="0" dirty="0">
                <a:solidFill>
                  <a:srgbClr val="5A626E"/>
                </a:solidFill>
                <a:latin typeface="Calibri"/>
                <a:cs typeface="Calibri"/>
              </a:rPr>
              <a:t>Non-critical suppliers · service providers · general public</a:t>
            </a:r>
          </a:p>
        </p:txBody>
      </p:sp>
      <p:sp>
        <p:nvSpPr>
          <p:cNvPr id="104" name="Matrix 104"/>
          <p:cNvSpPr/>
          <p:nvPr/>
        </p:nvSpPr>
        <p:spPr>
          <a:xfrm>
            <a:off x="3940000" y="3730000"/>
            <a:ext cx="2600000" cy="2080000"/>
          </a:xfrm>
          <a:prstGeom prst="roundRect">
            <a:avLst>
              <a:gd name="adj" fmla="val 4000"/>
            </a:avLst>
          </a:prstGeom>
          <a:solidFill>
            <a:srgbClr val="43A99A"/>
          </a:solidFill>
          <a:ln>
            <a:noFill/>
          </a:ln>
        </p:spPr>
        <p:txBody>
          <a:bodyPr wrap="square" lIns="150000" tIns="75000" rIns="150000" bIns="75000" anchor="t"/>
          <a:lstStyle/>
          <a:p>
            <a:pPr algn="l">
              <a:spcAft>
                <a:spcPts val="100"/>
              </a:spcAft>
              <a:buNone/>
            </a:pPr>
            <a:r>
              <a:rPr lang="en-US" sz="1700" b="1" i="0" dirty="0">
                <a:solidFill>
                  <a:srgbClr val="FFFFFF"/>
                </a:solidFill>
                <a:latin typeface="Calibri"/>
                <a:cs typeface="Calibri"/>
              </a:rPr>
              <a:t>KEEP INFORMED</a:t>
            </a:r>
          </a:p>
          <a:p>
            <a:pPr algn="l">
              <a:spcAft>
                <a:spcPts val="500"/>
              </a:spcAft>
              <a:buNone/>
            </a:pPr>
            <a:r>
              <a:rPr lang="en-US" sz="1100" b="0" i="1" dirty="0">
                <a:solidFill>
                  <a:srgbClr val="FFFFFF"/>
                </a:solidFill>
                <a:latin typeface="Calibri"/>
                <a:cs typeface="Calibri"/>
              </a:rPr>
              <a:t>Low power · High interest</a:t>
            </a:r>
          </a:p>
          <a:p>
            <a:pPr algn="l">
              <a:spcAft>
                <a:spcPts val="500"/>
              </a:spcAft>
              <a:buNone/>
            </a:pPr>
            <a:r>
              <a:rPr lang="en-US" sz="1200" b="1" i="0" dirty="0">
                <a:solidFill>
                  <a:srgbClr val="FFFFFF"/>
                </a:solidFill>
                <a:latin typeface="Calibri"/>
                <a:cs typeface="Calibri"/>
              </a:rPr>
              <a:t>Routine communication and progress updates</a:t>
            </a:r>
          </a:p>
          <a:p>
            <a:pPr algn="l">
              <a:buNone/>
            </a:pPr>
            <a:r>
              <a:rPr lang="en-US" sz="1050" b="0" i="0" dirty="0">
                <a:solidFill>
                  <a:srgbClr val="FFFFFF"/>
                </a:solidFill>
                <a:latin typeface="Calibri"/>
                <a:cs typeface="Calibri"/>
              </a:rPr>
              <a:t>Subcontractors · internal departments · adjacent contractors · community</a:t>
            </a:r>
          </a:p>
        </p:txBody>
      </p:sp>
      <p:sp>
        <p:nvSpPr>
          <p:cNvPr id="105" name="Matrix 105"/>
          <p:cNvSpPr/>
          <p:nvPr/>
        </p:nvSpPr>
        <p:spPr>
          <a:xfrm>
            <a:off x="920000" y="1560000"/>
            <a:ext cx="190000" cy="4250000"/>
          </a:xfrm>
          <a:prstGeom prst="upArrow">
            <a:avLst/>
          </a:prstGeom>
          <a:solidFill>
            <a:srgbClr val="004549"/>
          </a:solidFill>
          <a:ln>
            <a:noFill/>
          </a:ln>
        </p:spPr>
        <p:txBody>
          <a:bodyPr wrap="square" lIns="91440" tIns="45720" rIns="91440" bIns="45720" anchor="ct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03</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Roles &amp; Responsibilities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Who owns what — from the E&amp;C Sector down to subcontractors and the Client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Project &amp; Interface Management</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004549"/>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Stakeholder Manager</a:t>
            </a:r>
            <a:endParaRPr lang="en-US" sz="1550" dirty="0"/>
          </a:p>
        </p:txBody>
      </p:sp>
      <p:sp>
        <p:nvSpPr>
          <p:cNvPr id="8" name="Shape 5"/>
          <p:cNvSpPr/>
          <p:nvPr/>
        </p:nvSpPr>
        <p:spPr>
          <a:xfrm>
            <a:off x="758952" y="2523744"/>
            <a:ext cx="82296" cy="82296"/>
          </a:xfrm>
          <a:prstGeom prst="ellipse">
            <a:avLst/>
          </a:prstGeom>
          <a:solidFill>
            <a:srgbClr val="43A99A"/>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Leads the SMP, Stakeholder Register and Engagement Plan.</a:t>
            </a:r>
            <a:endParaRPr lang="en-US" sz="1200" dirty="0"/>
          </a:p>
        </p:txBody>
      </p:sp>
      <p:sp>
        <p:nvSpPr>
          <p:cNvPr id="10" name="Shape 7"/>
          <p:cNvSpPr/>
          <p:nvPr/>
        </p:nvSpPr>
        <p:spPr>
          <a:xfrm>
            <a:off x="758952" y="3575304"/>
            <a:ext cx="82296" cy="82296"/>
          </a:xfrm>
          <a:prstGeom prst="ellipse">
            <a:avLst/>
          </a:prstGeom>
          <a:solidFill>
            <a:srgbClr val="43A99A"/>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Analyses power / interest; chairs meetings; issues MoM in 48 hours.</a:t>
            </a:r>
            <a:endParaRPr lang="en-US" sz="1200" dirty="0"/>
          </a:p>
        </p:txBody>
      </p:sp>
      <p:sp>
        <p:nvSpPr>
          <p:cNvPr id="12" name="Shape 9"/>
          <p:cNvSpPr/>
          <p:nvPr/>
        </p:nvSpPr>
        <p:spPr>
          <a:xfrm>
            <a:off x="758952" y="4626864"/>
            <a:ext cx="82296" cy="82296"/>
          </a:xfrm>
          <a:prstGeom prst="ellipse">
            <a:avLst/>
          </a:prstGeom>
          <a:solidFill>
            <a:srgbClr val="43A99A"/>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Tracks KPIs and satisfaction; escalates critical issues.</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004549"/>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Project Manager</a:t>
            </a:r>
            <a:endParaRPr lang="en-US" sz="1550" dirty="0"/>
          </a:p>
        </p:txBody>
      </p:sp>
      <p:sp>
        <p:nvSpPr>
          <p:cNvPr id="17" name="Shape 14"/>
          <p:cNvSpPr/>
          <p:nvPr/>
        </p:nvSpPr>
        <p:spPr>
          <a:xfrm>
            <a:off x="4553712" y="2523744"/>
            <a:ext cx="82296" cy="82296"/>
          </a:xfrm>
          <a:prstGeom prst="ellipse">
            <a:avLst/>
          </a:prstGeom>
          <a:solidFill>
            <a:srgbClr val="43A99A"/>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Integrates stakeholder management into the PEP; allocates resources.</a:t>
            </a:r>
            <a:endParaRPr lang="en-US" sz="1200" dirty="0"/>
          </a:p>
        </p:txBody>
      </p:sp>
      <p:sp>
        <p:nvSpPr>
          <p:cNvPr id="19" name="Shape 16"/>
          <p:cNvSpPr/>
          <p:nvPr/>
        </p:nvSpPr>
        <p:spPr>
          <a:xfrm>
            <a:off x="4553712" y="3575304"/>
            <a:ext cx="82296" cy="82296"/>
          </a:xfrm>
          <a:prstGeom prst="ellipse">
            <a:avLst/>
          </a:prstGeom>
          <a:solidFill>
            <a:srgbClr val="43A99A"/>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Approves the SMP and strategies affecting scope, cost or schedule.</a:t>
            </a:r>
            <a:endParaRPr lang="en-US" sz="1200" dirty="0"/>
          </a:p>
        </p:txBody>
      </p:sp>
      <p:sp>
        <p:nvSpPr>
          <p:cNvPr id="21" name="Shape 18"/>
          <p:cNvSpPr/>
          <p:nvPr/>
        </p:nvSpPr>
        <p:spPr>
          <a:xfrm>
            <a:off x="4553712" y="4626864"/>
            <a:ext cx="82296" cy="82296"/>
          </a:xfrm>
          <a:prstGeom prst="ellipse">
            <a:avLst/>
          </a:prstGeom>
          <a:solidFill>
            <a:srgbClr val="43A99A"/>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Attends high-level meetings; decides on escalated issues.</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004549"/>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Interface Manager</a:t>
            </a:r>
            <a:endParaRPr lang="en-US" sz="1550" dirty="0"/>
          </a:p>
        </p:txBody>
      </p:sp>
      <p:sp>
        <p:nvSpPr>
          <p:cNvPr id="26" name="Shape 23"/>
          <p:cNvSpPr/>
          <p:nvPr/>
        </p:nvSpPr>
        <p:spPr>
          <a:xfrm>
            <a:off x="8348472" y="2523744"/>
            <a:ext cx="82296" cy="82296"/>
          </a:xfrm>
          <a:prstGeom prst="ellipse">
            <a:avLst/>
          </a:prstGeom>
          <a:solidFill>
            <a:srgbClr val="43A99A"/>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Coordinates interface points with departments, subcontractors, authorities.</a:t>
            </a:r>
            <a:endParaRPr lang="en-US" sz="1200" dirty="0"/>
          </a:p>
        </p:txBody>
      </p:sp>
      <p:sp>
        <p:nvSpPr>
          <p:cNvPr id="28" name="Shape 25"/>
          <p:cNvSpPr/>
          <p:nvPr/>
        </p:nvSpPr>
        <p:spPr>
          <a:xfrm>
            <a:off x="8348472" y="3575304"/>
            <a:ext cx="82296" cy="82296"/>
          </a:xfrm>
          <a:prstGeom prst="ellipse">
            <a:avLst/>
          </a:prstGeom>
          <a:solidFill>
            <a:srgbClr val="43A99A"/>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Aligns the Interface Register with stakeholder engagement actions.</a:t>
            </a:r>
            <a:endParaRPr lang="en-US" sz="1200" dirty="0"/>
          </a:p>
        </p:txBody>
      </p:sp>
      <p:sp>
        <p:nvSpPr>
          <p:cNvPr id="30" name="Shape 27"/>
          <p:cNvSpPr/>
          <p:nvPr/>
        </p:nvSpPr>
        <p:spPr>
          <a:xfrm>
            <a:off x="8348472" y="4626864"/>
            <a:ext cx="82296" cy="82296"/>
          </a:xfrm>
          <a:prstGeom prst="ellipse">
            <a:avLst/>
          </a:prstGeom>
          <a:solidFill>
            <a:srgbClr val="43A99A"/>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Supports communication flow; escalates unresolved conflicts.</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Engineering, Planning &amp; Contracts</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43A99A"/>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Technical / Engineering Mgr</a:t>
            </a:r>
            <a:endParaRPr lang="en-US" sz="1550" dirty="0"/>
          </a:p>
        </p:txBody>
      </p:sp>
      <p:sp>
        <p:nvSpPr>
          <p:cNvPr id="8" name="Shape 5"/>
          <p:cNvSpPr/>
          <p:nvPr/>
        </p:nvSpPr>
        <p:spPr>
          <a:xfrm>
            <a:off x="758952" y="2523744"/>
            <a:ext cx="82296" cy="82296"/>
          </a:xfrm>
          <a:prstGeom prst="ellipse">
            <a:avLst/>
          </a:prstGeom>
          <a:solidFill>
            <a:srgbClr val="004549"/>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Reviews IFC drawings for stakeholder requirements and impacts.</a:t>
            </a:r>
            <a:endParaRPr lang="en-US" sz="1200" dirty="0"/>
          </a:p>
        </p:txBody>
      </p:sp>
      <p:sp>
        <p:nvSpPr>
          <p:cNvPr id="10" name="Shape 7"/>
          <p:cNvSpPr/>
          <p:nvPr/>
        </p:nvSpPr>
        <p:spPr>
          <a:xfrm>
            <a:off x="758952" y="3575304"/>
            <a:ext cx="82296" cy="82296"/>
          </a:xfrm>
          <a:prstGeom prst="ellipse">
            <a:avLst/>
          </a:prstGeom>
          <a:solidFill>
            <a:srgbClr val="004549"/>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Gives timely technical responses to stakeholder comments.</a:t>
            </a:r>
            <a:endParaRPr lang="en-US" sz="1200" dirty="0"/>
          </a:p>
        </p:txBody>
      </p:sp>
      <p:sp>
        <p:nvSpPr>
          <p:cNvPr id="12" name="Shape 9"/>
          <p:cNvSpPr/>
          <p:nvPr/>
        </p:nvSpPr>
        <p:spPr>
          <a:xfrm>
            <a:off x="758952" y="4626864"/>
            <a:ext cx="82296" cy="82296"/>
          </a:xfrm>
          <a:prstGeom prst="ellipse">
            <a:avLst/>
          </a:prstGeom>
          <a:solidFill>
            <a:srgbClr val="004549"/>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Presents design updates; closes technical actions in meetings.</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43A99A"/>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Planning Engineer</a:t>
            </a:r>
            <a:endParaRPr lang="en-US" sz="1550" dirty="0"/>
          </a:p>
        </p:txBody>
      </p:sp>
      <p:sp>
        <p:nvSpPr>
          <p:cNvPr id="17" name="Shape 14"/>
          <p:cNvSpPr/>
          <p:nvPr/>
        </p:nvSpPr>
        <p:spPr>
          <a:xfrm>
            <a:off x="4553712" y="2523744"/>
            <a:ext cx="82296" cy="82296"/>
          </a:xfrm>
          <a:prstGeom prst="ellipse">
            <a:avLst/>
          </a:prstGeom>
          <a:solidFill>
            <a:srgbClr val="004549"/>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Puts engagement milestones and commitments into the schedule.</a:t>
            </a:r>
            <a:endParaRPr lang="en-US" sz="1200" dirty="0"/>
          </a:p>
        </p:txBody>
      </p:sp>
      <p:sp>
        <p:nvSpPr>
          <p:cNvPr id="19" name="Shape 16"/>
          <p:cNvSpPr/>
          <p:nvPr/>
        </p:nvSpPr>
        <p:spPr>
          <a:xfrm>
            <a:off x="4553712" y="3575304"/>
            <a:ext cx="82296" cy="82296"/>
          </a:xfrm>
          <a:prstGeom prst="ellipse">
            <a:avLst/>
          </a:prstGeom>
          <a:solidFill>
            <a:srgbClr val="004549"/>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Monitors stakeholder activities; reports delays and dependencies.</a:t>
            </a:r>
            <a:endParaRPr lang="en-US" sz="1200" dirty="0"/>
          </a:p>
        </p:txBody>
      </p:sp>
      <p:sp>
        <p:nvSpPr>
          <p:cNvPr id="21" name="Shape 18"/>
          <p:cNvSpPr/>
          <p:nvPr/>
        </p:nvSpPr>
        <p:spPr>
          <a:xfrm>
            <a:off x="4553712" y="4626864"/>
            <a:ext cx="82296" cy="82296"/>
          </a:xfrm>
          <a:prstGeom prst="ellipse">
            <a:avLst/>
          </a:prstGeom>
          <a:solidFill>
            <a:srgbClr val="004549"/>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Updates dashboards of achieved and pending engagement targets.</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43A99A"/>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Contract &amp; Claim Manager</a:t>
            </a:r>
            <a:endParaRPr lang="en-US" sz="1550" dirty="0"/>
          </a:p>
        </p:txBody>
      </p:sp>
      <p:sp>
        <p:nvSpPr>
          <p:cNvPr id="26" name="Shape 23"/>
          <p:cNvSpPr/>
          <p:nvPr/>
        </p:nvSpPr>
        <p:spPr>
          <a:xfrm>
            <a:off x="8348472" y="2523744"/>
            <a:ext cx="82296" cy="82296"/>
          </a:xfrm>
          <a:prstGeom prst="ellipse">
            <a:avLst/>
          </a:prstGeom>
          <a:solidFill>
            <a:srgbClr val="004549"/>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Identifies stakeholders linked to obligations, claims and variations.</a:t>
            </a:r>
            <a:endParaRPr lang="en-US" sz="1200" dirty="0"/>
          </a:p>
        </p:txBody>
      </p:sp>
      <p:sp>
        <p:nvSpPr>
          <p:cNvPr id="28" name="Shape 25"/>
          <p:cNvSpPr/>
          <p:nvPr/>
        </p:nvSpPr>
        <p:spPr>
          <a:xfrm>
            <a:off x="8348472" y="3575304"/>
            <a:ext cx="82296" cy="82296"/>
          </a:xfrm>
          <a:prstGeom prst="ellipse">
            <a:avLst/>
          </a:prstGeom>
          <a:solidFill>
            <a:srgbClr val="004549"/>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Keeps all claim-related communication formal and traceable.</a:t>
            </a:r>
            <a:endParaRPr lang="en-US" sz="1200" dirty="0"/>
          </a:p>
        </p:txBody>
      </p:sp>
      <p:sp>
        <p:nvSpPr>
          <p:cNvPr id="30" name="Shape 27"/>
          <p:cNvSpPr/>
          <p:nvPr/>
        </p:nvSpPr>
        <p:spPr>
          <a:xfrm>
            <a:off x="8348472" y="4626864"/>
            <a:ext cx="82296" cy="82296"/>
          </a:xfrm>
          <a:prstGeom prst="ellipse">
            <a:avLst/>
          </a:prstGeom>
          <a:solidFill>
            <a:srgbClr val="004549"/>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Assesses the contractual and financial impact of decisions.</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Support Functions, Partners &amp; Client</a:t>
            </a:r>
            <a:endParaRPr lang="en-US" sz="3000" dirty="0"/>
          </a:p>
        </p:txBody>
      </p:sp>
      <p:sp>
        <p:nvSpPr>
          <p:cNvPr id="5" name="Shape 2"/>
          <p:cNvSpPr/>
          <p:nvPr/>
        </p:nvSpPr>
        <p:spPr>
          <a:xfrm>
            <a:off x="502920" y="1508760"/>
            <a:ext cx="2624328" cy="1965960"/>
          </a:xfrm>
          <a:prstGeom prst="roundRect">
            <a:avLst>
              <a:gd name="adj" fmla="val 3256"/>
            </a:avLst>
          </a:prstGeom>
          <a:solidFill>
            <a:srgbClr val="D9ECE7"/>
          </a:solidFill>
          <a:ln/>
        </p:spPr>
        <p:txBody>
          <a:bodyPr/>
          <a:lstStyle/>
          <a:p>
            <a:endParaRPr lang="en-US"/>
          </a:p>
        </p:txBody>
      </p:sp>
      <p:sp>
        <p:nvSpPr>
          <p:cNvPr id="6" name="Shape 3"/>
          <p:cNvSpPr/>
          <p:nvPr/>
        </p:nvSpPr>
        <p:spPr>
          <a:xfrm>
            <a:off x="704088" y="1709928"/>
            <a:ext cx="384048" cy="384048"/>
          </a:xfrm>
          <a:prstGeom prst="ellipse">
            <a:avLst/>
          </a:prstGeom>
          <a:solidFill>
            <a:srgbClr val="43A99A"/>
          </a:solidFill>
          <a:ln/>
        </p:spPr>
        <p:txBody>
          <a:bodyPr/>
          <a:lstStyle/>
          <a:p>
            <a:endParaRPr lang="en-US"/>
          </a:p>
        </p:txBody>
      </p:sp>
      <p:sp>
        <p:nvSpPr>
          <p:cNvPr id="7" name="Text 4"/>
          <p:cNvSpPr/>
          <p:nvPr/>
        </p:nvSpPr>
        <p:spPr>
          <a:xfrm>
            <a:off x="704088"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667512"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Department Heads</a:t>
            </a:r>
            <a:endParaRPr lang="en-US" sz="1250" dirty="0"/>
          </a:p>
        </p:txBody>
      </p:sp>
      <p:sp>
        <p:nvSpPr>
          <p:cNvPr id="9" name="Text 6"/>
          <p:cNvSpPr/>
          <p:nvPr/>
        </p:nvSpPr>
        <p:spPr>
          <a:xfrm>
            <a:off x="667512"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Identify discipline stakeholders, raise emerging issues and close assigned actions.</a:t>
            </a:r>
            <a:endParaRPr lang="en-US" sz="1000" dirty="0"/>
          </a:p>
        </p:txBody>
      </p:sp>
      <p:sp>
        <p:nvSpPr>
          <p:cNvPr id="10" name="Shape 7"/>
          <p:cNvSpPr/>
          <p:nvPr/>
        </p:nvSpPr>
        <p:spPr>
          <a:xfrm>
            <a:off x="3255264" y="1508760"/>
            <a:ext cx="2624328" cy="1965960"/>
          </a:xfrm>
          <a:prstGeom prst="roundRect">
            <a:avLst>
              <a:gd name="adj" fmla="val 3256"/>
            </a:avLst>
          </a:prstGeom>
          <a:solidFill>
            <a:srgbClr val="D9ECE7"/>
          </a:solidFill>
          <a:ln/>
        </p:spPr>
        <p:txBody>
          <a:bodyPr/>
          <a:lstStyle/>
          <a:p>
            <a:endParaRPr lang="en-US"/>
          </a:p>
        </p:txBody>
      </p:sp>
      <p:sp>
        <p:nvSpPr>
          <p:cNvPr id="11" name="Shape 8"/>
          <p:cNvSpPr/>
          <p:nvPr/>
        </p:nvSpPr>
        <p:spPr>
          <a:xfrm>
            <a:off x="3456432" y="1709928"/>
            <a:ext cx="384048" cy="384048"/>
          </a:xfrm>
          <a:prstGeom prst="ellipse">
            <a:avLst/>
          </a:prstGeom>
          <a:solidFill>
            <a:srgbClr val="43A99A"/>
          </a:solidFill>
          <a:ln/>
        </p:spPr>
        <p:txBody>
          <a:bodyPr/>
          <a:lstStyle/>
          <a:p>
            <a:endParaRPr lang="en-US"/>
          </a:p>
        </p:txBody>
      </p:sp>
      <p:sp>
        <p:nvSpPr>
          <p:cNvPr id="12" name="Text 9"/>
          <p:cNvSpPr/>
          <p:nvPr/>
        </p:nvSpPr>
        <p:spPr>
          <a:xfrm>
            <a:off x="3456432"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3419856"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QA/QC Manager</a:t>
            </a:r>
            <a:endParaRPr lang="en-US" sz="1250" dirty="0"/>
          </a:p>
        </p:txBody>
      </p:sp>
      <p:sp>
        <p:nvSpPr>
          <p:cNvPr id="14" name="Text 11"/>
          <p:cNvSpPr/>
          <p:nvPr/>
        </p:nvSpPr>
        <p:spPr>
          <a:xfrm>
            <a:off x="3419856"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Addresses stakeholder quality concerns through NCRs and corrective actions.</a:t>
            </a:r>
            <a:endParaRPr lang="en-US" sz="1000" dirty="0"/>
          </a:p>
        </p:txBody>
      </p:sp>
      <p:sp>
        <p:nvSpPr>
          <p:cNvPr id="15" name="Shape 12"/>
          <p:cNvSpPr/>
          <p:nvPr/>
        </p:nvSpPr>
        <p:spPr>
          <a:xfrm>
            <a:off x="6007608" y="1508760"/>
            <a:ext cx="2624328" cy="1965960"/>
          </a:xfrm>
          <a:prstGeom prst="roundRect">
            <a:avLst>
              <a:gd name="adj" fmla="val 3256"/>
            </a:avLst>
          </a:prstGeom>
          <a:solidFill>
            <a:srgbClr val="D9ECE7"/>
          </a:solidFill>
          <a:ln/>
        </p:spPr>
        <p:txBody>
          <a:bodyPr/>
          <a:lstStyle/>
          <a:p>
            <a:endParaRPr lang="en-US"/>
          </a:p>
        </p:txBody>
      </p:sp>
      <p:sp>
        <p:nvSpPr>
          <p:cNvPr id="16" name="Shape 13"/>
          <p:cNvSpPr/>
          <p:nvPr/>
        </p:nvSpPr>
        <p:spPr>
          <a:xfrm>
            <a:off x="6208776" y="1709928"/>
            <a:ext cx="384048" cy="384048"/>
          </a:xfrm>
          <a:prstGeom prst="ellipse">
            <a:avLst/>
          </a:prstGeom>
          <a:solidFill>
            <a:srgbClr val="43A99A"/>
          </a:solidFill>
          <a:ln/>
        </p:spPr>
        <p:txBody>
          <a:bodyPr/>
          <a:lstStyle/>
          <a:p>
            <a:endParaRPr lang="en-US"/>
          </a:p>
        </p:txBody>
      </p:sp>
      <p:sp>
        <p:nvSpPr>
          <p:cNvPr id="17" name="Text 14"/>
          <p:cNvSpPr/>
          <p:nvPr/>
        </p:nvSpPr>
        <p:spPr>
          <a:xfrm>
            <a:off x="6208776"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6172200"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Procurement</a:t>
            </a:r>
            <a:endParaRPr lang="en-US" sz="1250" dirty="0"/>
          </a:p>
        </p:txBody>
      </p:sp>
      <p:sp>
        <p:nvSpPr>
          <p:cNvPr id="19" name="Text 16"/>
          <p:cNvSpPr/>
          <p:nvPr/>
        </p:nvSpPr>
        <p:spPr>
          <a:xfrm>
            <a:off x="6172200"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Aligns vendors and subcontractors on delivery, compliance and schedule.</a:t>
            </a:r>
            <a:endParaRPr lang="en-US" sz="1000" dirty="0"/>
          </a:p>
        </p:txBody>
      </p:sp>
      <p:sp>
        <p:nvSpPr>
          <p:cNvPr id="20" name="Shape 17"/>
          <p:cNvSpPr/>
          <p:nvPr/>
        </p:nvSpPr>
        <p:spPr>
          <a:xfrm>
            <a:off x="8759952" y="1508760"/>
            <a:ext cx="2624328" cy="1965960"/>
          </a:xfrm>
          <a:prstGeom prst="roundRect">
            <a:avLst>
              <a:gd name="adj" fmla="val 3256"/>
            </a:avLst>
          </a:prstGeom>
          <a:solidFill>
            <a:srgbClr val="D9ECE7"/>
          </a:solidFill>
          <a:ln/>
        </p:spPr>
        <p:txBody>
          <a:bodyPr/>
          <a:lstStyle/>
          <a:p>
            <a:endParaRPr lang="en-US"/>
          </a:p>
        </p:txBody>
      </p:sp>
      <p:sp>
        <p:nvSpPr>
          <p:cNvPr id="21" name="Shape 18"/>
          <p:cNvSpPr/>
          <p:nvPr/>
        </p:nvSpPr>
        <p:spPr>
          <a:xfrm>
            <a:off x="8961120" y="1709928"/>
            <a:ext cx="384048" cy="384048"/>
          </a:xfrm>
          <a:prstGeom prst="ellipse">
            <a:avLst/>
          </a:prstGeom>
          <a:solidFill>
            <a:srgbClr val="43A99A"/>
          </a:solidFill>
          <a:ln/>
        </p:spPr>
        <p:txBody>
          <a:bodyPr/>
          <a:lstStyle/>
          <a:p>
            <a:endParaRPr lang="en-US"/>
          </a:p>
        </p:txBody>
      </p:sp>
      <p:sp>
        <p:nvSpPr>
          <p:cNvPr id="22" name="Text 19"/>
          <p:cNvSpPr/>
          <p:nvPr/>
        </p:nvSpPr>
        <p:spPr>
          <a:xfrm>
            <a:off x="8961120"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8924544"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Commercial Manager</a:t>
            </a:r>
            <a:endParaRPr lang="en-US" sz="1250" dirty="0"/>
          </a:p>
        </p:txBody>
      </p:sp>
      <p:sp>
        <p:nvSpPr>
          <p:cNvPr id="24" name="Text 21"/>
          <p:cNvSpPr/>
          <p:nvPr/>
        </p:nvSpPr>
        <p:spPr>
          <a:xfrm>
            <a:off x="8924544"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Keeps commercial communication formal; assesses financial impact.</a:t>
            </a:r>
            <a:endParaRPr lang="en-US" sz="1000" dirty="0"/>
          </a:p>
        </p:txBody>
      </p:sp>
      <p:sp>
        <p:nvSpPr>
          <p:cNvPr id="25" name="Shape 22"/>
          <p:cNvSpPr/>
          <p:nvPr/>
        </p:nvSpPr>
        <p:spPr>
          <a:xfrm>
            <a:off x="502920" y="3675888"/>
            <a:ext cx="2624328" cy="1965960"/>
          </a:xfrm>
          <a:prstGeom prst="roundRect">
            <a:avLst>
              <a:gd name="adj" fmla="val 3256"/>
            </a:avLst>
          </a:prstGeom>
          <a:solidFill>
            <a:srgbClr val="D9ECE7"/>
          </a:solidFill>
          <a:ln/>
        </p:spPr>
        <p:txBody>
          <a:bodyPr/>
          <a:lstStyle/>
          <a:p>
            <a:endParaRPr lang="en-US"/>
          </a:p>
        </p:txBody>
      </p:sp>
      <p:sp>
        <p:nvSpPr>
          <p:cNvPr id="26" name="Shape 23"/>
          <p:cNvSpPr/>
          <p:nvPr/>
        </p:nvSpPr>
        <p:spPr>
          <a:xfrm>
            <a:off x="704088" y="3877056"/>
            <a:ext cx="384048" cy="384048"/>
          </a:xfrm>
          <a:prstGeom prst="ellipse">
            <a:avLst/>
          </a:prstGeom>
          <a:solidFill>
            <a:srgbClr val="43A99A"/>
          </a:solidFill>
          <a:ln/>
        </p:spPr>
        <p:txBody>
          <a:bodyPr/>
          <a:lstStyle/>
          <a:p>
            <a:endParaRPr lang="en-US"/>
          </a:p>
        </p:txBody>
      </p:sp>
      <p:sp>
        <p:nvSpPr>
          <p:cNvPr id="27" name="Text 24"/>
          <p:cNvSpPr/>
          <p:nvPr/>
        </p:nvSpPr>
        <p:spPr>
          <a:xfrm>
            <a:off x="704088"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667512"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Government Relations (GRO)</a:t>
            </a:r>
            <a:endParaRPr lang="en-US" sz="1250" dirty="0"/>
          </a:p>
        </p:txBody>
      </p:sp>
      <p:sp>
        <p:nvSpPr>
          <p:cNvPr id="29" name="Text 26"/>
          <p:cNvSpPr/>
          <p:nvPr/>
        </p:nvSpPr>
        <p:spPr>
          <a:xfrm>
            <a:off x="667512"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Coordinates authority attendance and access; follows up permits and NOCs.</a:t>
            </a:r>
            <a:endParaRPr lang="en-US" sz="1000" dirty="0"/>
          </a:p>
        </p:txBody>
      </p:sp>
      <p:sp>
        <p:nvSpPr>
          <p:cNvPr id="30" name="Shape 27"/>
          <p:cNvSpPr/>
          <p:nvPr/>
        </p:nvSpPr>
        <p:spPr>
          <a:xfrm>
            <a:off x="3255264" y="3675888"/>
            <a:ext cx="2624328" cy="1965960"/>
          </a:xfrm>
          <a:prstGeom prst="roundRect">
            <a:avLst>
              <a:gd name="adj" fmla="val 3256"/>
            </a:avLst>
          </a:prstGeom>
          <a:solidFill>
            <a:srgbClr val="D9ECE7"/>
          </a:solidFill>
          <a:ln/>
        </p:spPr>
        <p:txBody>
          <a:bodyPr/>
          <a:lstStyle/>
          <a:p>
            <a:endParaRPr lang="en-US"/>
          </a:p>
        </p:txBody>
      </p:sp>
      <p:sp>
        <p:nvSpPr>
          <p:cNvPr id="31" name="Shape 28"/>
          <p:cNvSpPr/>
          <p:nvPr/>
        </p:nvSpPr>
        <p:spPr>
          <a:xfrm>
            <a:off x="3456432" y="3877056"/>
            <a:ext cx="384048" cy="384048"/>
          </a:xfrm>
          <a:prstGeom prst="ellipse">
            <a:avLst/>
          </a:prstGeom>
          <a:solidFill>
            <a:srgbClr val="43A99A"/>
          </a:solidFill>
          <a:ln/>
        </p:spPr>
        <p:txBody>
          <a:bodyPr/>
          <a:lstStyle/>
          <a:p>
            <a:endParaRPr lang="en-US"/>
          </a:p>
        </p:txBody>
      </p:sp>
      <p:sp>
        <p:nvSpPr>
          <p:cNvPr id="32" name="Text 29"/>
          <p:cNvSpPr/>
          <p:nvPr/>
        </p:nvSpPr>
        <p:spPr>
          <a:xfrm>
            <a:off x="3456432"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3419856"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Subcontractors / Vendors</a:t>
            </a:r>
            <a:endParaRPr lang="en-US" sz="1250" dirty="0"/>
          </a:p>
        </p:txBody>
      </p:sp>
      <p:sp>
        <p:nvSpPr>
          <p:cNvPr id="34" name="Text 31"/>
          <p:cNvSpPr/>
          <p:nvPr/>
        </p:nvSpPr>
        <p:spPr>
          <a:xfrm>
            <a:off x="3419856"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Report stakeholders in their scope, attend meetings, meet obligations.</a:t>
            </a:r>
            <a:endParaRPr lang="en-US" sz="1000" dirty="0"/>
          </a:p>
        </p:txBody>
      </p:sp>
      <p:sp>
        <p:nvSpPr>
          <p:cNvPr id="35" name="Shape 32"/>
          <p:cNvSpPr/>
          <p:nvPr/>
        </p:nvSpPr>
        <p:spPr>
          <a:xfrm>
            <a:off x="6007608" y="3675888"/>
            <a:ext cx="2624328" cy="1965960"/>
          </a:xfrm>
          <a:prstGeom prst="roundRect">
            <a:avLst>
              <a:gd name="adj" fmla="val 3256"/>
            </a:avLst>
          </a:prstGeom>
          <a:solidFill>
            <a:srgbClr val="D9ECE7"/>
          </a:solidFill>
          <a:ln/>
        </p:spPr>
        <p:txBody>
          <a:bodyPr/>
          <a:lstStyle/>
          <a:p>
            <a:endParaRPr lang="en-US"/>
          </a:p>
        </p:txBody>
      </p:sp>
      <p:sp>
        <p:nvSpPr>
          <p:cNvPr id="36" name="Shape 33"/>
          <p:cNvSpPr/>
          <p:nvPr/>
        </p:nvSpPr>
        <p:spPr>
          <a:xfrm>
            <a:off x="6208776" y="3877056"/>
            <a:ext cx="384048" cy="384048"/>
          </a:xfrm>
          <a:prstGeom prst="ellipse">
            <a:avLst/>
          </a:prstGeom>
          <a:solidFill>
            <a:srgbClr val="43A99A"/>
          </a:solidFill>
          <a:ln/>
        </p:spPr>
        <p:txBody>
          <a:bodyPr/>
          <a:lstStyle/>
          <a:p>
            <a:endParaRPr lang="en-US"/>
          </a:p>
        </p:txBody>
      </p:sp>
      <p:sp>
        <p:nvSpPr>
          <p:cNvPr id="37" name="Text 34"/>
          <p:cNvSpPr/>
          <p:nvPr/>
        </p:nvSpPr>
        <p:spPr>
          <a:xfrm>
            <a:off x="6208776"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6172200"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Consultant / PMC</a:t>
            </a:r>
            <a:endParaRPr lang="en-US" sz="1250" dirty="0"/>
          </a:p>
        </p:txBody>
      </p:sp>
      <p:sp>
        <p:nvSpPr>
          <p:cNvPr id="39" name="Text 36"/>
          <p:cNvSpPr/>
          <p:nvPr/>
        </p:nvSpPr>
        <p:spPr>
          <a:xfrm>
            <a:off x="6172200"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Reviews and approves the SMP; responds on time to contractor letters.</a:t>
            </a:r>
            <a:endParaRPr lang="en-US" sz="1000" dirty="0"/>
          </a:p>
        </p:txBody>
      </p:sp>
      <p:sp>
        <p:nvSpPr>
          <p:cNvPr id="40" name="Shape 37"/>
          <p:cNvSpPr/>
          <p:nvPr/>
        </p:nvSpPr>
        <p:spPr>
          <a:xfrm>
            <a:off x="8759952" y="3675888"/>
            <a:ext cx="2624328" cy="1965960"/>
          </a:xfrm>
          <a:prstGeom prst="roundRect">
            <a:avLst>
              <a:gd name="adj" fmla="val 3256"/>
            </a:avLst>
          </a:prstGeom>
          <a:solidFill>
            <a:srgbClr val="D9ECE7"/>
          </a:solidFill>
          <a:ln/>
        </p:spPr>
        <p:txBody>
          <a:bodyPr/>
          <a:lstStyle/>
          <a:p>
            <a:endParaRPr lang="en-US"/>
          </a:p>
        </p:txBody>
      </p:sp>
      <p:sp>
        <p:nvSpPr>
          <p:cNvPr id="41" name="Shape 38"/>
          <p:cNvSpPr/>
          <p:nvPr/>
        </p:nvSpPr>
        <p:spPr>
          <a:xfrm>
            <a:off x="8961120" y="3877056"/>
            <a:ext cx="384048" cy="384048"/>
          </a:xfrm>
          <a:prstGeom prst="ellipse">
            <a:avLst/>
          </a:prstGeom>
          <a:solidFill>
            <a:srgbClr val="43A99A"/>
          </a:solidFill>
          <a:ln/>
        </p:spPr>
        <p:txBody>
          <a:bodyPr/>
          <a:lstStyle/>
          <a:p>
            <a:endParaRPr lang="en-US"/>
          </a:p>
        </p:txBody>
      </p:sp>
      <p:sp>
        <p:nvSpPr>
          <p:cNvPr id="42" name="Text 39"/>
          <p:cNvSpPr/>
          <p:nvPr/>
        </p:nvSpPr>
        <p:spPr>
          <a:xfrm>
            <a:off x="8961120"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0"/>
          <p:cNvSpPr/>
          <p:nvPr/>
        </p:nvSpPr>
        <p:spPr>
          <a:xfrm>
            <a:off x="8924544"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Client / Employer</a:t>
            </a:r>
            <a:endParaRPr lang="en-US" sz="1250" dirty="0"/>
          </a:p>
        </p:txBody>
      </p:sp>
      <p:sp>
        <p:nvSpPr>
          <p:cNvPr id="44" name="Text 41"/>
          <p:cNvSpPr/>
          <p:nvPr/>
        </p:nvSpPr>
        <p:spPr>
          <a:xfrm>
            <a:off x="8924544"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Endorses the approach, approves key strategies, gives timely decisions.</a:t>
            </a:r>
            <a:endParaRPr lang="en-US" sz="1000" dirty="0"/>
          </a:p>
        </p:txBody>
      </p:sp>
      <p:sp>
        <p:nvSpPr>
          <p:cNvPr id="46" name="Text 42"/>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83766" y="35290"/>
            <a:ext cx="12191695" cy="6858000"/>
          </a:xfrm>
          <a:prstGeom prst="rect">
            <a:avLst/>
          </a:prstGeom>
        </p:spPr>
      </p:pic>
      <p:sp>
        <p:nvSpPr>
          <p:cNvPr id="16" name="Shape 13"/>
          <p:cNvSpPr/>
          <p:nvPr/>
        </p:nvSpPr>
        <p:spPr>
          <a:xfrm>
            <a:off x="6478285" y="4600382"/>
            <a:ext cx="559408" cy="1068693"/>
          </a:xfrm>
          <a:prstGeom prst="line">
            <a:avLst/>
          </a:prstGeom>
          <a:noFill/>
          <a:ln w="19050">
            <a:solidFill>
              <a:srgbClr val="8FCFC3"/>
            </a:solidFill>
            <a:prstDash val="solid"/>
          </a:ln>
        </p:spPr>
        <p:txBody>
          <a:bodyPr/>
          <a:lstStyle/>
          <a:p>
            <a:endParaRPr lang="en-US"/>
          </a:p>
        </p:txBody>
      </p:sp>
      <p:sp>
        <p:nvSpPr>
          <p:cNvPr id="19" name="Shape 16"/>
          <p:cNvSpPr/>
          <p:nvPr/>
        </p:nvSpPr>
        <p:spPr>
          <a:xfrm flipH="1">
            <a:off x="5093651" y="4600383"/>
            <a:ext cx="559408" cy="940882"/>
          </a:xfrm>
          <a:prstGeom prst="line">
            <a:avLst/>
          </a:prstGeom>
          <a:noFill/>
          <a:ln w="19050">
            <a:solidFill>
              <a:srgbClr val="8FCFC3"/>
            </a:solidFill>
            <a:prstDash val="solid"/>
          </a:ln>
        </p:spPr>
        <p:txBody>
          <a:bodyPr/>
          <a:lstStyle/>
          <a:p>
            <a:endParaRPr lang="en-US"/>
          </a:p>
        </p:txBody>
      </p:sp>
      <p:sp>
        <p:nvSpPr>
          <p:cNvPr id="30" name="Shape 10">
            <a:extLst>
              <a:ext uri="{FF2B5EF4-FFF2-40B4-BE49-F238E27FC236}">
                <a16:creationId xmlns:a16="http://schemas.microsoft.com/office/drawing/2014/main" id="{FEF0FE44-49E5-A825-BAA1-C3AC51E743BA}"/>
              </a:ext>
            </a:extLst>
          </p:cNvPr>
          <p:cNvSpPr/>
          <p:nvPr/>
        </p:nvSpPr>
        <p:spPr>
          <a:xfrm flipV="1">
            <a:off x="6686924" y="2559199"/>
            <a:ext cx="1116108" cy="588314"/>
          </a:xfrm>
          <a:prstGeom prst="line">
            <a:avLst/>
          </a:prstGeom>
          <a:noFill/>
          <a:ln w="19050">
            <a:solidFill>
              <a:srgbClr val="8FCFC3"/>
            </a:solidFill>
            <a:prstDash val="solid"/>
          </a:ln>
        </p:spPr>
        <p:txBody>
          <a:bodyPr/>
          <a:lstStyle/>
          <a:p>
            <a:endParaRPr lang="en-US"/>
          </a:p>
        </p:txBody>
      </p:sp>
      <p:sp>
        <p:nvSpPr>
          <p:cNvPr id="32" name="Shape 19">
            <a:extLst>
              <a:ext uri="{FF2B5EF4-FFF2-40B4-BE49-F238E27FC236}">
                <a16:creationId xmlns:a16="http://schemas.microsoft.com/office/drawing/2014/main" id="{5522B3C0-6F65-2D23-048A-E572AA0AEF96}"/>
              </a:ext>
            </a:extLst>
          </p:cNvPr>
          <p:cNvSpPr/>
          <p:nvPr/>
        </p:nvSpPr>
        <p:spPr>
          <a:xfrm flipH="1" flipV="1">
            <a:off x="4328310" y="2641188"/>
            <a:ext cx="993857" cy="576215"/>
          </a:xfrm>
          <a:prstGeom prst="line">
            <a:avLst/>
          </a:prstGeom>
          <a:noFill/>
          <a:ln w="19050">
            <a:solidFill>
              <a:srgbClr val="8FCFC3"/>
            </a:solidFill>
            <a:prstDash val="solid"/>
          </a:ln>
        </p:spPr>
        <p:txBody>
          <a:bodyPr/>
          <a:lstStyle/>
          <a:p>
            <a:endParaRPr lang="en-US"/>
          </a:p>
        </p:txBody>
      </p:sp>
      <p:sp>
        <p:nvSpPr>
          <p:cNvPr id="34" name="Shape 19">
            <a:extLst>
              <a:ext uri="{FF2B5EF4-FFF2-40B4-BE49-F238E27FC236}">
                <a16:creationId xmlns:a16="http://schemas.microsoft.com/office/drawing/2014/main" id="{3C800D64-A129-D9F1-E526-66435C7C1FEC}"/>
              </a:ext>
            </a:extLst>
          </p:cNvPr>
          <p:cNvSpPr/>
          <p:nvPr/>
        </p:nvSpPr>
        <p:spPr>
          <a:xfrm flipV="1">
            <a:off x="6065672" y="1803196"/>
            <a:ext cx="15088" cy="1134029"/>
          </a:xfrm>
          <a:prstGeom prst="line">
            <a:avLst/>
          </a:prstGeom>
          <a:noFill/>
          <a:ln w="19050">
            <a:solidFill>
              <a:srgbClr val="8FCFC3"/>
            </a:solidFill>
            <a:prstDash val="solid"/>
          </a:ln>
        </p:spPr>
        <p:txBody>
          <a:bodyPr/>
          <a:lstStyle/>
          <a:p>
            <a:endParaRPr lang="en-US"/>
          </a:p>
        </p:txBody>
      </p:sp>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RELATIONS WITH OTHER PARTIES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Relations</a:t>
            </a:r>
            <a:endParaRPr lang="en-US" sz="3000" dirty="0"/>
          </a:p>
        </p:txBody>
      </p:sp>
      <p:sp>
        <p:nvSpPr>
          <p:cNvPr id="5" name="Shape 2"/>
          <p:cNvSpPr/>
          <p:nvPr/>
        </p:nvSpPr>
        <p:spPr>
          <a:xfrm>
            <a:off x="5148072" y="2862072"/>
            <a:ext cx="1865376" cy="1865376"/>
          </a:xfrm>
          <a:prstGeom prst="ellipse">
            <a:avLst/>
          </a:prstGeom>
          <a:solidFill>
            <a:srgbClr val="004549"/>
          </a:solidFill>
          <a:ln/>
        </p:spPr>
        <p:txBody>
          <a:bodyPr/>
          <a:lstStyle/>
          <a:p>
            <a:endParaRPr lang="en-US" dirty="0"/>
          </a:p>
        </p:txBody>
      </p:sp>
      <p:sp>
        <p:nvSpPr>
          <p:cNvPr id="6" name="Text 3"/>
          <p:cNvSpPr/>
          <p:nvPr/>
        </p:nvSpPr>
        <p:spPr>
          <a:xfrm>
            <a:off x="5148072" y="2862072"/>
            <a:ext cx="1865376" cy="1865376"/>
          </a:xfrm>
          <a:prstGeom prst="rect">
            <a:avLst/>
          </a:prstGeom>
          <a:noFill/>
          <a:ln/>
        </p:spPr>
        <p:txBody>
          <a:bodyPr wrap="square" rtlCol="0" anchor="ctr"/>
          <a:lstStyle/>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STAKEHOLDER</a:t>
            </a:r>
            <a:endParaRPr lang="en-US" sz="1500" dirty="0"/>
          </a:p>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MANAGER</a:t>
            </a:r>
            <a:endParaRPr lang="en-US" sz="1500" dirty="0"/>
          </a:p>
        </p:txBody>
      </p:sp>
      <p:sp>
        <p:nvSpPr>
          <p:cNvPr id="7" name="Shape 4"/>
          <p:cNvSpPr/>
          <p:nvPr/>
        </p:nvSpPr>
        <p:spPr>
          <a:xfrm>
            <a:off x="6080760" y="2919862"/>
            <a:ext cx="0" cy="0"/>
          </a:xfrm>
          <a:prstGeom prst="line">
            <a:avLst/>
          </a:prstGeom>
          <a:noFill/>
          <a:ln w="19050">
            <a:solidFill>
              <a:srgbClr val="8FCFC3"/>
            </a:solidFill>
            <a:prstDash val="solid"/>
          </a:ln>
        </p:spPr>
        <p:txBody>
          <a:bodyPr/>
          <a:lstStyle/>
          <a:p>
            <a:endParaRPr lang="en-US"/>
          </a:p>
        </p:txBody>
      </p:sp>
      <p:sp>
        <p:nvSpPr>
          <p:cNvPr id="8" name="Shape 5"/>
          <p:cNvSpPr/>
          <p:nvPr/>
        </p:nvSpPr>
        <p:spPr>
          <a:xfrm>
            <a:off x="5422392" y="486461"/>
            <a:ext cx="1316736" cy="1316736"/>
          </a:xfrm>
          <a:prstGeom prst="ellipse">
            <a:avLst/>
          </a:prstGeom>
          <a:solidFill>
            <a:srgbClr val="D9ECE7"/>
          </a:solidFill>
          <a:ln w="15875">
            <a:solidFill>
              <a:srgbClr val="43A99A"/>
            </a:solidFill>
            <a:prstDash val="solid"/>
          </a:ln>
        </p:spPr>
        <p:txBody>
          <a:bodyPr/>
          <a:lstStyle/>
          <a:p>
            <a:endParaRPr lang="en-US"/>
          </a:p>
        </p:txBody>
      </p:sp>
      <p:sp>
        <p:nvSpPr>
          <p:cNvPr id="9" name="Text 6"/>
          <p:cNvSpPr/>
          <p:nvPr/>
        </p:nvSpPr>
        <p:spPr>
          <a:xfrm>
            <a:off x="5422392" y="486461"/>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Client / Employer</a:t>
            </a:r>
            <a:endParaRPr lang="en-US" sz="1050" dirty="0"/>
          </a:p>
        </p:txBody>
      </p:sp>
      <p:sp>
        <p:nvSpPr>
          <p:cNvPr id="11" name="Shape 8"/>
          <p:cNvSpPr/>
          <p:nvPr/>
        </p:nvSpPr>
        <p:spPr>
          <a:xfrm>
            <a:off x="7674348"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2" name="Text 9"/>
          <p:cNvSpPr/>
          <p:nvPr/>
        </p:nvSpPr>
        <p:spPr>
          <a:xfrm>
            <a:off x="7674348"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PMC /</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Consultant</a:t>
            </a:r>
            <a:endParaRPr lang="en-US" sz="1050" dirty="0"/>
          </a:p>
        </p:txBody>
      </p:sp>
      <p:sp>
        <p:nvSpPr>
          <p:cNvPr id="13" name="Shape 10"/>
          <p:cNvSpPr/>
          <p:nvPr/>
        </p:nvSpPr>
        <p:spPr>
          <a:xfrm>
            <a:off x="7007893" y="3989443"/>
            <a:ext cx="1256978" cy="263945"/>
          </a:xfrm>
          <a:prstGeom prst="line">
            <a:avLst/>
          </a:prstGeom>
          <a:noFill/>
          <a:ln w="19050">
            <a:solidFill>
              <a:srgbClr val="8FCFC3"/>
            </a:solidFill>
            <a:prstDash val="solid"/>
          </a:ln>
        </p:spPr>
        <p:txBody>
          <a:bodyPr/>
          <a:lstStyle/>
          <a:p>
            <a:endParaRPr lang="en-US"/>
          </a:p>
        </p:txBody>
      </p:sp>
      <p:sp>
        <p:nvSpPr>
          <p:cNvPr id="14" name="Shape 11"/>
          <p:cNvSpPr/>
          <p:nvPr/>
        </p:nvSpPr>
        <p:spPr>
          <a:xfrm>
            <a:off x="8230535"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5" name="Text 12"/>
          <p:cNvSpPr/>
          <p:nvPr/>
        </p:nvSpPr>
        <p:spPr>
          <a:xfrm>
            <a:off x="8230535"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Authorities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(via GRO)</a:t>
            </a:r>
            <a:endParaRPr lang="en-US" sz="1050" dirty="0"/>
          </a:p>
        </p:txBody>
      </p:sp>
      <p:sp>
        <p:nvSpPr>
          <p:cNvPr id="17" name="Shape 14"/>
          <p:cNvSpPr/>
          <p:nvPr/>
        </p:nvSpPr>
        <p:spPr>
          <a:xfrm>
            <a:off x="6672133"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8" name="Text 15"/>
          <p:cNvSpPr/>
          <p:nvPr/>
        </p:nvSpPr>
        <p:spPr>
          <a:xfrm>
            <a:off x="6672133"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Subcontractors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&amp; Vendors</a:t>
            </a:r>
            <a:endParaRPr lang="en-US" sz="1050" dirty="0"/>
          </a:p>
        </p:txBody>
      </p:sp>
      <p:sp>
        <p:nvSpPr>
          <p:cNvPr id="20" name="Shape 17"/>
          <p:cNvSpPr/>
          <p:nvPr/>
        </p:nvSpPr>
        <p:spPr>
          <a:xfrm>
            <a:off x="4172651"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1" name="Text 18"/>
          <p:cNvSpPr/>
          <p:nvPr/>
        </p:nvSpPr>
        <p:spPr>
          <a:xfrm>
            <a:off x="4172651"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Interface Manager</a:t>
            </a:r>
            <a:endParaRPr lang="en-US" sz="1050" dirty="0"/>
          </a:p>
        </p:txBody>
      </p:sp>
      <p:sp>
        <p:nvSpPr>
          <p:cNvPr id="22" name="Shape 19"/>
          <p:cNvSpPr/>
          <p:nvPr/>
        </p:nvSpPr>
        <p:spPr>
          <a:xfrm flipH="1">
            <a:off x="3930985" y="3989443"/>
            <a:ext cx="1222642" cy="263945"/>
          </a:xfrm>
          <a:prstGeom prst="line">
            <a:avLst/>
          </a:prstGeom>
          <a:noFill/>
          <a:ln w="19050">
            <a:solidFill>
              <a:srgbClr val="8FCFC3"/>
            </a:solidFill>
            <a:prstDash val="solid"/>
          </a:ln>
        </p:spPr>
        <p:txBody>
          <a:bodyPr/>
          <a:lstStyle/>
          <a:p>
            <a:endParaRPr lang="en-US"/>
          </a:p>
        </p:txBody>
      </p:sp>
      <p:sp>
        <p:nvSpPr>
          <p:cNvPr id="23" name="Shape 20"/>
          <p:cNvSpPr/>
          <p:nvPr/>
        </p:nvSpPr>
        <p:spPr>
          <a:xfrm>
            <a:off x="2614249"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4" name="Text 21"/>
          <p:cNvSpPr/>
          <p:nvPr/>
        </p:nvSpPr>
        <p:spPr>
          <a:xfrm>
            <a:off x="2614249"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Community &amp;</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Third Parties</a:t>
            </a:r>
            <a:endParaRPr lang="en-US" sz="1050" dirty="0"/>
          </a:p>
        </p:txBody>
      </p:sp>
      <p:sp>
        <p:nvSpPr>
          <p:cNvPr id="25" name="Shape 22"/>
          <p:cNvSpPr/>
          <p:nvPr/>
        </p:nvSpPr>
        <p:spPr>
          <a:xfrm>
            <a:off x="5337257" y="3249270"/>
            <a:ext cx="0" cy="0"/>
          </a:xfrm>
          <a:prstGeom prst="line">
            <a:avLst/>
          </a:prstGeom>
          <a:noFill/>
          <a:ln w="19050">
            <a:solidFill>
              <a:srgbClr val="8FCFC3"/>
            </a:solidFill>
            <a:prstDash val="solid"/>
          </a:ln>
        </p:spPr>
        <p:txBody>
          <a:bodyPr/>
          <a:lstStyle/>
          <a:p>
            <a:endParaRPr lang="en-US"/>
          </a:p>
        </p:txBody>
      </p:sp>
      <p:sp>
        <p:nvSpPr>
          <p:cNvPr id="26" name="Shape 23"/>
          <p:cNvSpPr/>
          <p:nvPr/>
        </p:nvSpPr>
        <p:spPr>
          <a:xfrm>
            <a:off x="3170436"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7" name="Text 24"/>
          <p:cNvSpPr/>
          <p:nvPr/>
        </p:nvSpPr>
        <p:spPr>
          <a:xfrm>
            <a:off x="3170436"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Project Team</a:t>
            </a:r>
            <a:endParaRPr lang="en-US" sz="1050" dirty="0"/>
          </a:p>
        </p:txBody>
      </p:sp>
      <p:sp>
        <p:nvSpPr>
          <p:cNvPr id="29" name="Text 2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RACI</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Management RACI Matrix</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15</a:t>
            </a:r>
            <a:endParaRPr lang="en-US" sz="1100" dirty="0"/>
          </a:p>
        </p:txBody>
      </p:sp>
      <p:graphicFrame>
        <p:nvGraphicFramePr>
          <p:cNvPr id="40" name="RACI Table"/>
          <p:cNvGraphicFramePr>
            <a:graphicFrameLocks noGrp="1"/>
          </p:cNvGraphicFramePr>
          <p:nvPr/>
        </p:nvGraphicFramePr>
        <p:xfrm>
          <a:off x="457200" y="1330000"/>
          <a:ext cx="11277600" cy="4308000"/>
        </p:xfrm>
        <a:graphic>
          <a:graphicData uri="http://schemas.openxmlformats.org/drawingml/2006/table">
            <a:tbl>
              <a:tblPr firstRow="1"/>
              <a:tblGrid>
                <a:gridCol w="3250000">
                  <a:extLst>
                    <a:ext uri="{9D8B030D-6E8A-4147-A177-3AD203B41FA5}">
                      <a16:colId xmlns:a16="http://schemas.microsoft.com/office/drawing/2014/main" val="20000"/>
                    </a:ext>
                  </a:extLst>
                </a:gridCol>
                <a:gridCol w="573400">
                  <a:extLst>
                    <a:ext uri="{9D8B030D-6E8A-4147-A177-3AD203B41FA5}">
                      <a16:colId xmlns:a16="http://schemas.microsoft.com/office/drawing/2014/main" val="20001"/>
                    </a:ext>
                  </a:extLst>
                </a:gridCol>
                <a:gridCol w="573400">
                  <a:extLst>
                    <a:ext uri="{9D8B030D-6E8A-4147-A177-3AD203B41FA5}">
                      <a16:colId xmlns:a16="http://schemas.microsoft.com/office/drawing/2014/main" val="20002"/>
                    </a:ext>
                  </a:extLst>
                </a:gridCol>
                <a:gridCol w="573400">
                  <a:extLst>
                    <a:ext uri="{9D8B030D-6E8A-4147-A177-3AD203B41FA5}">
                      <a16:colId xmlns:a16="http://schemas.microsoft.com/office/drawing/2014/main" val="20003"/>
                    </a:ext>
                  </a:extLst>
                </a:gridCol>
                <a:gridCol w="573400">
                  <a:extLst>
                    <a:ext uri="{9D8B030D-6E8A-4147-A177-3AD203B41FA5}">
                      <a16:colId xmlns:a16="http://schemas.microsoft.com/office/drawing/2014/main" val="20004"/>
                    </a:ext>
                  </a:extLst>
                </a:gridCol>
                <a:gridCol w="573400">
                  <a:extLst>
                    <a:ext uri="{9D8B030D-6E8A-4147-A177-3AD203B41FA5}">
                      <a16:colId xmlns:a16="http://schemas.microsoft.com/office/drawing/2014/main" val="20005"/>
                    </a:ext>
                  </a:extLst>
                </a:gridCol>
                <a:gridCol w="573400">
                  <a:extLst>
                    <a:ext uri="{9D8B030D-6E8A-4147-A177-3AD203B41FA5}">
                      <a16:colId xmlns:a16="http://schemas.microsoft.com/office/drawing/2014/main" val="20006"/>
                    </a:ext>
                  </a:extLst>
                </a:gridCol>
                <a:gridCol w="573400">
                  <a:extLst>
                    <a:ext uri="{9D8B030D-6E8A-4147-A177-3AD203B41FA5}">
                      <a16:colId xmlns:a16="http://schemas.microsoft.com/office/drawing/2014/main" val="20007"/>
                    </a:ext>
                  </a:extLst>
                </a:gridCol>
                <a:gridCol w="573400">
                  <a:extLst>
                    <a:ext uri="{9D8B030D-6E8A-4147-A177-3AD203B41FA5}">
                      <a16:colId xmlns:a16="http://schemas.microsoft.com/office/drawing/2014/main" val="20008"/>
                    </a:ext>
                  </a:extLst>
                </a:gridCol>
                <a:gridCol w="573400">
                  <a:extLst>
                    <a:ext uri="{9D8B030D-6E8A-4147-A177-3AD203B41FA5}">
                      <a16:colId xmlns:a16="http://schemas.microsoft.com/office/drawing/2014/main" val="20009"/>
                    </a:ext>
                  </a:extLst>
                </a:gridCol>
                <a:gridCol w="573400">
                  <a:extLst>
                    <a:ext uri="{9D8B030D-6E8A-4147-A177-3AD203B41FA5}">
                      <a16:colId xmlns:a16="http://schemas.microsoft.com/office/drawing/2014/main" val="20010"/>
                    </a:ext>
                  </a:extLst>
                </a:gridCol>
                <a:gridCol w="573400">
                  <a:extLst>
                    <a:ext uri="{9D8B030D-6E8A-4147-A177-3AD203B41FA5}">
                      <a16:colId xmlns:a16="http://schemas.microsoft.com/office/drawing/2014/main" val="20011"/>
                    </a:ext>
                  </a:extLst>
                </a:gridCol>
                <a:gridCol w="573400">
                  <a:extLst>
                    <a:ext uri="{9D8B030D-6E8A-4147-A177-3AD203B41FA5}">
                      <a16:colId xmlns:a16="http://schemas.microsoft.com/office/drawing/2014/main" val="20012"/>
                    </a:ext>
                  </a:extLst>
                </a:gridCol>
                <a:gridCol w="573400">
                  <a:extLst>
                    <a:ext uri="{9D8B030D-6E8A-4147-A177-3AD203B41FA5}">
                      <a16:colId xmlns:a16="http://schemas.microsoft.com/office/drawing/2014/main" val="20013"/>
                    </a:ext>
                  </a:extLst>
                </a:gridCol>
                <a:gridCol w="573400">
                  <a:extLst>
                    <a:ext uri="{9D8B030D-6E8A-4147-A177-3AD203B41FA5}">
                      <a16:colId xmlns:a16="http://schemas.microsoft.com/office/drawing/2014/main" val="20014"/>
                    </a:ext>
                  </a:extLst>
                </a:gridCol>
              </a:tblGrid>
              <a:tr h="500000">
                <a:tc>
                  <a:txBody>
                    <a:bodyPr/>
                    <a:lstStyle/>
                    <a:p>
                      <a:pPr algn="l"/>
                      <a:r>
                        <a:rPr lang="en-US" sz="900" b="1" dirty="0">
                          <a:solidFill>
                            <a:srgbClr val="FFFFFF"/>
                          </a:solidFill>
                          <a:latin typeface="Calibri"/>
                          <a:cs typeface="Calibri"/>
                        </a:rPr>
                        <a:t>Activity / Process</a:t>
                      </a:r>
                      <a:endParaRPr lang="en-US" sz="9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Stake-holder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Project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Interface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Projects Director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E.C. VP</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Discipline Leads</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Technical Engineer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Sub-contractor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Document Controller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QA/QC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Safety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Commercial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Contract Engineer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Risk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extLst>
                  <a:ext uri="{0D108BD9-81ED-4DB2-BD59-A6C34878D82A}">
                    <a16:rowId xmlns:a16="http://schemas.microsoft.com/office/drawing/2014/main" val="10000"/>
                  </a:ext>
                </a:extLst>
              </a:tr>
              <a:tr h="238000">
                <a:tc gridSpan="15">
                  <a:txBody>
                    <a:bodyPr/>
                    <a:lstStyle/>
                    <a:p>
                      <a:pPr algn="l"/>
                      <a:r>
                        <a:rPr lang="en-US" sz="750" b="1" dirty="0">
                          <a:solidFill>
                            <a:srgbClr val="004549"/>
                          </a:solidFill>
                          <a:latin typeface="Calibri"/>
                          <a:cs typeface="Calibri"/>
                        </a:rPr>
                        <a:t>SECTOR LEVEL</a:t>
                      </a:r>
                      <a:endParaRPr lang="en-US" sz="75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01"/>
                  </a:ext>
                </a:extLst>
              </a:tr>
              <a:tr h="238000">
                <a:tc>
                  <a:txBody>
                    <a:bodyPr/>
                    <a:lstStyle/>
                    <a:p>
                      <a:pPr algn="l"/>
                      <a:r>
                        <a:rPr lang="en-US" sz="800" b="0" dirty="0">
                          <a:solidFill>
                            <a:srgbClr val="004549"/>
                          </a:solidFill>
                          <a:latin typeface="Calibri"/>
                          <a:cs typeface="Calibri"/>
                        </a:rPr>
                        <a:t>Establish stakeholder policy &amp; governance framework</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B0B8B8"/>
                          </a:solidFill>
                          <a:latin typeface="Calibri"/>
                          <a:cs typeface="Calibri"/>
                        </a:rPr>
                        <a: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2"/>
                  </a:ext>
                </a:extLst>
              </a:tr>
              <a:tr h="238000">
                <a:tc>
                  <a:txBody>
                    <a:bodyPr/>
                    <a:lstStyle/>
                    <a:p>
                      <a:pPr algn="l"/>
                      <a:r>
                        <a:rPr lang="en-US" sz="800" b="0" dirty="0">
                          <a:solidFill>
                            <a:srgbClr val="004549"/>
                          </a:solidFill>
                          <a:latin typeface="Calibri"/>
                          <a:cs typeface="Calibri"/>
                        </a:rPr>
                        <a:t>Approve sector stakeholder KPIs &amp; reporting structure</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B0B8B8"/>
                          </a:solidFill>
                          <a:latin typeface="Calibri"/>
                          <a:cs typeface="Calibri"/>
                        </a:rPr>
                        <a: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3"/>
                  </a:ext>
                </a:extLst>
              </a:tr>
              <a:tr h="238000">
                <a:tc>
                  <a:txBody>
                    <a:bodyPr/>
                    <a:lstStyle/>
                    <a:p>
                      <a:pPr algn="l"/>
                      <a:r>
                        <a:rPr lang="en-US" sz="800" b="0" dirty="0">
                          <a:solidFill>
                            <a:srgbClr val="004549"/>
                          </a:solidFill>
                          <a:latin typeface="Calibri"/>
                          <a:cs typeface="Calibri"/>
                        </a:rPr>
                        <a:t>Monitor engagement performance &amp; compliance</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4"/>
                  </a:ext>
                </a:extLst>
              </a:tr>
              <a:tr h="238000">
                <a:tc gridSpan="15">
                  <a:txBody>
                    <a:bodyPr/>
                    <a:lstStyle/>
                    <a:p>
                      <a:pPr algn="l"/>
                      <a:r>
                        <a:rPr lang="en-US" sz="750" b="1" dirty="0">
                          <a:solidFill>
                            <a:srgbClr val="004549"/>
                          </a:solidFill>
                          <a:latin typeface="Calibri"/>
                          <a:cs typeface="Calibri"/>
                        </a:rPr>
                        <a:t>BUSINESS UNIT LEVEL</a:t>
                      </a:r>
                      <a:endParaRPr lang="en-US" sz="75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05"/>
                  </a:ext>
                </a:extLst>
              </a:tr>
              <a:tr h="238000">
                <a:tc>
                  <a:txBody>
                    <a:bodyPr/>
                    <a:lstStyle/>
                    <a:p>
                      <a:pPr algn="l"/>
                      <a:r>
                        <a:rPr lang="en-US" sz="800" b="0" dirty="0">
                          <a:solidFill>
                            <a:srgbClr val="004549"/>
                          </a:solidFill>
                          <a:latin typeface="Calibri"/>
                          <a:cs typeface="Calibri"/>
                        </a:rPr>
                        <a:t>Develop &amp; implement Stakeholder Management Plans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6"/>
                  </a:ext>
                </a:extLst>
              </a:tr>
              <a:tr h="238000">
                <a:tc>
                  <a:txBody>
                    <a:bodyPr/>
                    <a:lstStyle/>
                    <a:p>
                      <a:pPr algn="l"/>
                      <a:r>
                        <a:rPr lang="en-US" sz="800" b="0" dirty="0">
                          <a:solidFill>
                            <a:srgbClr val="004549"/>
                          </a:solidFill>
                          <a:latin typeface="Calibri"/>
                          <a:cs typeface="Calibri"/>
                        </a:rPr>
                        <a:t>Conduct stakeholder coordination meetings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7"/>
                  </a:ext>
                </a:extLst>
              </a:tr>
              <a:tr h="238000">
                <a:tc>
                  <a:txBody>
                    <a:bodyPr/>
                    <a:lstStyle/>
                    <a:p>
                      <a:pPr algn="l"/>
                      <a:r>
                        <a:rPr lang="en-US" sz="800" b="0" dirty="0">
                          <a:solidFill>
                            <a:srgbClr val="004549"/>
                          </a:solidFill>
                          <a:latin typeface="Calibri"/>
                          <a:cs typeface="Calibri"/>
                        </a:rPr>
                        <a:t>Review &amp; approve registers and engagement plans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8"/>
                  </a:ext>
                </a:extLst>
              </a:tr>
              <a:tr h="238000">
                <a:tc>
                  <a:txBody>
                    <a:bodyPr/>
                    <a:lstStyle/>
                    <a:p>
                      <a:pPr algn="l"/>
                      <a:r>
                        <a:rPr lang="en-US" sz="800" b="0" dirty="0">
                          <a:solidFill>
                            <a:srgbClr val="004549"/>
                          </a:solidFill>
                          <a:latin typeface="Calibri"/>
                          <a:cs typeface="Calibri"/>
                        </a:rPr>
                        <a:t>Escalate major issues to executive management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9"/>
                  </a:ext>
                </a:extLst>
              </a:tr>
              <a:tr h="238000">
                <a:tc gridSpan="15">
                  <a:txBody>
                    <a:bodyPr/>
                    <a:lstStyle/>
                    <a:p>
                      <a:pPr algn="l"/>
                      <a:r>
                        <a:rPr lang="en-US" sz="750" b="1" dirty="0">
                          <a:solidFill>
                            <a:srgbClr val="004549"/>
                          </a:solidFill>
                          <a:latin typeface="Calibri"/>
                          <a:cs typeface="Calibri"/>
                        </a:rPr>
                        <a:t>PROJECT LEVEL</a:t>
                      </a:r>
                      <a:endParaRPr lang="en-US" sz="75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10"/>
                  </a:ext>
                </a:extLst>
              </a:tr>
              <a:tr h="238000">
                <a:tc>
                  <a:txBody>
                    <a:bodyPr/>
                    <a:lstStyle/>
                    <a:p>
                      <a:pPr algn="l"/>
                      <a:r>
                        <a:rPr lang="en-US" sz="800" b="0" dirty="0">
                          <a:solidFill>
                            <a:srgbClr val="004549"/>
                          </a:solidFill>
                          <a:latin typeface="Calibri"/>
                          <a:cs typeface="Calibri"/>
                        </a:rPr>
                        <a:t>Identify internal &amp; external stakeholders + owners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1"/>
                  </a:ext>
                </a:extLst>
              </a:tr>
              <a:tr h="238000">
                <a:tc>
                  <a:txBody>
                    <a:bodyPr/>
                    <a:lstStyle/>
                    <a:p>
                      <a:pPr algn="l"/>
                      <a:r>
                        <a:rPr lang="en-US" sz="800" b="0" dirty="0">
                          <a:solidFill>
                            <a:srgbClr val="004549"/>
                          </a:solidFill>
                          <a:latin typeface="Calibri"/>
                          <a:cs typeface="Calibri"/>
                        </a:rPr>
                        <a:t>Classify &amp; prioritize by influence and impact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2"/>
                  </a:ext>
                </a:extLst>
              </a:tr>
              <a:tr h="238000">
                <a:tc>
                  <a:txBody>
                    <a:bodyPr/>
                    <a:lstStyle/>
                    <a:p>
                      <a:pPr algn="l"/>
                      <a:r>
                        <a:rPr lang="en-US" sz="800" b="0" dirty="0">
                          <a:solidFill>
                            <a:srgbClr val="004549"/>
                          </a:solidFill>
                          <a:latin typeface="Calibri"/>
                          <a:cs typeface="Calibri"/>
                        </a:rPr>
                        <a:t>Coordinate with stakeholders to resolve issues on site</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3"/>
                  </a:ext>
                </a:extLst>
              </a:tr>
              <a:tr h="238000">
                <a:tc>
                  <a:txBody>
                    <a:bodyPr/>
                    <a:lstStyle/>
                    <a:p>
                      <a:pPr algn="l"/>
                      <a:r>
                        <a:rPr lang="en-US" sz="800" b="0" dirty="0">
                          <a:solidFill>
                            <a:srgbClr val="004549"/>
                          </a:solidFill>
                          <a:latin typeface="Calibri"/>
                          <a:cs typeface="Calibri"/>
                        </a:rPr>
                        <a:t>Update &amp; track issues in Issue Log / Register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4"/>
                  </a:ext>
                </a:extLst>
              </a:tr>
              <a:tr h="238000">
                <a:tc>
                  <a:txBody>
                    <a:bodyPr/>
                    <a:lstStyle/>
                    <a:p>
                      <a:pPr algn="l"/>
                      <a:r>
                        <a:rPr lang="en-US" sz="800" b="0" dirty="0">
                          <a:solidFill>
                            <a:srgbClr val="004549"/>
                          </a:solidFill>
                          <a:latin typeface="Calibri"/>
                          <a:cs typeface="Calibri"/>
                        </a:rPr>
                        <a:t>Verify closure with all parties' sign-off</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5"/>
                  </a:ext>
                </a:extLst>
              </a:tr>
              <a:tr h="238000">
                <a:tc>
                  <a:txBody>
                    <a:bodyPr/>
                    <a:lstStyle/>
                    <a:p>
                      <a:pPr algn="l"/>
                      <a:r>
                        <a:rPr lang="en-US" sz="800" b="0" dirty="0">
                          <a:solidFill>
                            <a:srgbClr val="004549"/>
                          </a:solidFill>
                          <a:latin typeface="Calibri"/>
                          <a:cs typeface="Calibri"/>
                        </a:rPr>
                        <a:t>Capture &amp; document lessons learned</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6"/>
                  </a:ext>
                </a:extLst>
              </a:tr>
            </a:tbl>
          </a:graphicData>
        </a:graphic>
      </p:graphicFrame>
      <p:sp>
        <p:nvSpPr>
          <p:cNvPr id="41" name="RACI Legend"/>
          <p:cNvSpPr txBox="1"/>
          <p:nvPr/>
        </p:nvSpPr>
        <p:spPr>
          <a:xfrm>
            <a:off x="1557200" y="5728000"/>
            <a:ext cx="10177600" cy="260000"/>
          </a:xfrm>
          <a:prstGeom prst="rect">
            <a:avLst/>
          </a:prstGeom>
          <a:noFill/>
        </p:spPr>
        <p:txBody>
          <a:bodyPr wrap="square" lIns="0" tIns="0" rIns="0" bIns="0" anchor="ctr"/>
          <a:lstStyle/>
          <a:p>
            <a:r>
              <a:rPr lang="en-US" sz="1000" i="1" dirty="0">
                <a:solidFill>
                  <a:srgbClr val="5A626E"/>
                </a:solidFill>
                <a:latin typeface="Calibri"/>
              </a:rPr>
              <a:t>R Responsible · A Accountable · C Consulted · I Informed · A/R Accountable &amp; Responsible  —  Source: MAH-ENC-CNS-PM-TMP-002 Stakeholder Management RACI Matrix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04</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Process, Engagement &amp; Meetings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How every stakeholder issue moves from identification to verified closure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PROCESS FLOW</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Management Process Flow (Project Level)</a:t>
            </a:r>
            <a:endParaRPr lang="en-US" sz="3000" dirty="0"/>
          </a:p>
        </p:txBody>
      </p:sp>
      <p:sp>
        <p:nvSpPr>
          <p:cNvPr id="5" name="Shape 2"/>
          <p:cNvSpPr/>
          <p:nvPr/>
        </p:nvSpPr>
        <p:spPr>
          <a:xfrm>
            <a:off x="502920" y="1691640"/>
            <a:ext cx="1709928" cy="1828800"/>
          </a:xfrm>
          <a:prstGeom prst="roundRect">
            <a:avLst>
              <a:gd name="adj" fmla="val 3743"/>
            </a:avLst>
          </a:prstGeom>
          <a:solidFill>
            <a:srgbClr val="D9ECE7"/>
          </a:solidFill>
          <a:ln/>
        </p:spPr>
        <p:txBody>
          <a:bodyPr/>
          <a:lstStyle/>
          <a:p>
            <a:endParaRPr lang="en-US"/>
          </a:p>
        </p:txBody>
      </p:sp>
      <p:sp>
        <p:nvSpPr>
          <p:cNvPr id="6" name="Text 3"/>
          <p:cNvSpPr/>
          <p:nvPr/>
        </p:nvSpPr>
        <p:spPr>
          <a:xfrm>
            <a:off x="502920"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1</a:t>
            </a:r>
            <a:endParaRPr lang="en-US" sz="1300" dirty="0"/>
          </a:p>
        </p:txBody>
      </p:sp>
      <p:sp>
        <p:nvSpPr>
          <p:cNvPr id="7" name="Text 4"/>
          <p:cNvSpPr/>
          <p:nvPr/>
        </p:nvSpPr>
        <p:spPr>
          <a:xfrm>
            <a:off x="576072"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Identify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Register</a:t>
            </a:r>
            <a:endParaRPr lang="en-US" sz="1100" dirty="0"/>
          </a:p>
        </p:txBody>
      </p:sp>
      <p:sp>
        <p:nvSpPr>
          <p:cNvPr id="8" name="Text 5"/>
          <p:cNvSpPr/>
          <p:nvPr/>
        </p:nvSpPr>
        <p:spPr>
          <a:xfrm>
            <a:off x="576072"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Stakeholder Manager</a:t>
            </a:r>
            <a:endParaRPr lang="en-US" sz="850" dirty="0"/>
          </a:p>
        </p:txBody>
      </p:sp>
      <p:sp>
        <p:nvSpPr>
          <p:cNvPr id="9" name="Text 6"/>
          <p:cNvSpPr/>
          <p:nvPr/>
        </p:nvSpPr>
        <p:spPr>
          <a:xfrm>
            <a:off x="2212848"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340864" y="1691640"/>
            <a:ext cx="1709928" cy="1828800"/>
          </a:xfrm>
          <a:prstGeom prst="roundRect">
            <a:avLst>
              <a:gd name="adj" fmla="val 3743"/>
            </a:avLst>
          </a:prstGeom>
          <a:solidFill>
            <a:srgbClr val="D9ECE7"/>
          </a:solidFill>
          <a:ln/>
        </p:spPr>
        <p:txBody>
          <a:bodyPr/>
          <a:lstStyle/>
          <a:p>
            <a:endParaRPr lang="en-US"/>
          </a:p>
        </p:txBody>
      </p:sp>
      <p:sp>
        <p:nvSpPr>
          <p:cNvPr id="11" name="Text 8"/>
          <p:cNvSpPr/>
          <p:nvPr/>
        </p:nvSpPr>
        <p:spPr>
          <a:xfrm>
            <a:off x="2340864"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2</a:t>
            </a:r>
            <a:endParaRPr lang="en-US" sz="1300" dirty="0"/>
          </a:p>
        </p:txBody>
      </p:sp>
      <p:sp>
        <p:nvSpPr>
          <p:cNvPr id="12" name="Text 9"/>
          <p:cNvSpPr/>
          <p:nvPr/>
        </p:nvSpPr>
        <p:spPr>
          <a:xfrm>
            <a:off x="2414016"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Categorize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Analyse</a:t>
            </a:r>
            <a:endParaRPr lang="en-US" sz="1100" dirty="0"/>
          </a:p>
        </p:txBody>
      </p:sp>
      <p:sp>
        <p:nvSpPr>
          <p:cNvPr id="13" name="Text 10"/>
          <p:cNvSpPr/>
          <p:nvPr/>
        </p:nvSpPr>
        <p:spPr>
          <a:xfrm>
            <a:off x="2414016"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SM / Project Manager</a:t>
            </a:r>
            <a:endParaRPr lang="en-US" sz="850" dirty="0"/>
          </a:p>
        </p:txBody>
      </p:sp>
      <p:sp>
        <p:nvSpPr>
          <p:cNvPr id="14" name="Text 11"/>
          <p:cNvSpPr/>
          <p:nvPr/>
        </p:nvSpPr>
        <p:spPr>
          <a:xfrm>
            <a:off x="4050792"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4178808" y="1691640"/>
            <a:ext cx="1709928" cy="1828800"/>
          </a:xfrm>
          <a:prstGeom prst="roundRect">
            <a:avLst>
              <a:gd name="adj" fmla="val 3743"/>
            </a:avLst>
          </a:prstGeom>
          <a:solidFill>
            <a:srgbClr val="D9ECE7"/>
          </a:solidFill>
          <a:ln/>
        </p:spPr>
        <p:txBody>
          <a:bodyPr/>
          <a:lstStyle/>
          <a:p>
            <a:endParaRPr lang="en-US"/>
          </a:p>
        </p:txBody>
      </p:sp>
      <p:sp>
        <p:nvSpPr>
          <p:cNvPr id="16" name="Text 13"/>
          <p:cNvSpPr/>
          <p:nvPr/>
        </p:nvSpPr>
        <p:spPr>
          <a:xfrm>
            <a:off x="4178808"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3</a:t>
            </a:r>
            <a:endParaRPr lang="en-US" sz="1300" dirty="0"/>
          </a:p>
        </p:txBody>
      </p:sp>
      <p:sp>
        <p:nvSpPr>
          <p:cNvPr id="17" name="Text 14"/>
          <p:cNvSpPr/>
          <p:nvPr/>
        </p:nvSpPr>
        <p:spPr>
          <a:xfrm>
            <a:off x="4251960"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Communicate</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&amp; Coordinate</a:t>
            </a:r>
            <a:endParaRPr lang="en-US" sz="1100" dirty="0"/>
          </a:p>
        </p:txBody>
      </p:sp>
      <p:sp>
        <p:nvSpPr>
          <p:cNvPr id="18" name="Text 15"/>
          <p:cNvSpPr/>
          <p:nvPr/>
        </p:nvSpPr>
        <p:spPr>
          <a:xfrm>
            <a:off x="4251960"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Interface Manager</a:t>
            </a:r>
            <a:endParaRPr lang="en-US" sz="850" dirty="0"/>
          </a:p>
        </p:txBody>
      </p:sp>
      <p:sp>
        <p:nvSpPr>
          <p:cNvPr id="19" name="Text 16"/>
          <p:cNvSpPr/>
          <p:nvPr/>
        </p:nvSpPr>
        <p:spPr>
          <a:xfrm>
            <a:off x="5888736"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6016752" y="1691640"/>
            <a:ext cx="1709928" cy="1828800"/>
          </a:xfrm>
          <a:prstGeom prst="roundRect">
            <a:avLst>
              <a:gd name="adj" fmla="val 3743"/>
            </a:avLst>
          </a:prstGeom>
          <a:solidFill>
            <a:srgbClr val="D9ECE7"/>
          </a:solidFill>
          <a:ln/>
        </p:spPr>
        <p:txBody>
          <a:bodyPr/>
          <a:lstStyle/>
          <a:p>
            <a:endParaRPr lang="en-US"/>
          </a:p>
        </p:txBody>
      </p:sp>
      <p:sp>
        <p:nvSpPr>
          <p:cNvPr id="21" name="Text 18"/>
          <p:cNvSpPr/>
          <p:nvPr/>
        </p:nvSpPr>
        <p:spPr>
          <a:xfrm>
            <a:off x="6016752"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4</a:t>
            </a:r>
            <a:endParaRPr lang="en-US" sz="1300" dirty="0"/>
          </a:p>
        </p:txBody>
      </p:sp>
      <p:sp>
        <p:nvSpPr>
          <p:cNvPr id="22" name="Text 19"/>
          <p:cNvSpPr/>
          <p:nvPr/>
        </p:nvSpPr>
        <p:spPr>
          <a:xfrm>
            <a:off x="6089904"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Resolve</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Issues</a:t>
            </a:r>
            <a:endParaRPr lang="en-US" sz="1100" dirty="0"/>
          </a:p>
        </p:txBody>
      </p:sp>
      <p:sp>
        <p:nvSpPr>
          <p:cNvPr id="23" name="Text 20"/>
          <p:cNvSpPr/>
          <p:nvPr/>
        </p:nvSpPr>
        <p:spPr>
          <a:xfrm>
            <a:off x="6089904"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Discipline Leads</a:t>
            </a:r>
            <a:endParaRPr lang="en-US" sz="850" dirty="0"/>
          </a:p>
        </p:txBody>
      </p:sp>
      <p:sp>
        <p:nvSpPr>
          <p:cNvPr id="24" name="Text 21"/>
          <p:cNvSpPr/>
          <p:nvPr/>
        </p:nvSpPr>
        <p:spPr>
          <a:xfrm>
            <a:off x="7726680"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5" name="Shape 22"/>
          <p:cNvSpPr/>
          <p:nvPr/>
        </p:nvSpPr>
        <p:spPr>
          <a:xfrm>
            <a:off x="7854696" y="1691640"/>
            <a:ext cx="1709928" cy="1828800"/>
          </a:xfrm>
          <a:prstGeom prst="roundRect">
            <a:avLst>
              <a:gd name="adj" fmla="val 3743"/>
            </a:avLst>
          </a:prstGeom>
          <a:solidFill>
            <a:srgbClr val="D9ECE7"/>
          </a:solidFill>
          <a:ln/>
        </p:spPr>
        <p:txBody>
          <a:bodyPr/>
          <a:lstStyle/>
          <a:p>
            <a:endParaRPr lang="en-US"/>
          </a:p>
        </p:txBody>
      </p:sp>
      <p:sp>
        <p:nvSpPr>
          <p:cNvPr id="26" name="Text 23"/>
          <p:cNvSpPr/>
          <p:nvPr/>
        </p:nvSpPr>
        <p:spPr>
          <a:xfrm>
            <a:off x="7854696"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5</a:t>
            </a:r>
            <a:endParaRPr lang="en-US" sz="1300" dirty="0"/>
          </a:p>
        </p:txBody>
      </p:sp>
      <p:sp>
        <p:nvSpPr>
          <p:cNvPr id="27" name="Text 24"/>
          <p:cNvSpPr/>
          <p:nvPr/>
        </p:nvSpPr>
        <p:spPr>
          <a:xfrm>
            <a:off x="7927848"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Verify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Validate</a:t>
            </a:r>
            <a:endParaRPr lang="en-US" sz="1100" dirty="0"/>
          </a:p>
        </p:txBody>
      </p:sp>
      <p:sp>
        <p:nvSpPr>
          <p:cNvPr id="28" name="Text 25"/>
          <p:cNvSpPr/>
          <p:nvPr/>
        </p:nvSpPr>
        <p:spPr>
          <a:xfrm>
            <a:off x="7927848"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Site Team / PM</a:t>
            </a:r>
            <a:endParaRPr lang="en-US" sz="850" dirty="0"/>
          </a:p>
        </p:txBody>
      </p:sp>
      <p:sp>
        <p:nvSpPr>
          <p:cNvPr id="29" name="Text 26"/>
          <p:cNvSpPr/>
          <p:nvPr/>
        </p:nvSpPr>
        <p:spPr>
          <a:xfrm>
            <a:off x="9564624"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30" name="Shape 27"/>
          <p:cNvSpPr/>
          <p:nvPr/>
        </p:nvSpPr>
        <p:spPr>
          <a:xfrm>
            <a:off x="9692640" y="1691640"/>
            <a:ext cx="1709928" cy="1828800"/>
          </a:xfrm>
          <a:prstGeom prst="roundRect">
            <a:avLst>
              <a:gd name="adj" fmla="val 3743"/>
            </a:avLst>
          </a:prstGeom>
          <a:solidFill>
            <a:srgbClr val="004549"/>
          </a:solidFill>
          <a:ln/>
        </p:spPr>
        <p:txBody>
          <a:bodyPr/>
          <a:lstStyle/>
          <a:p>
            <a:endParaRPr lang="en-US"/>
          </a:p>
        </p:txBody>
      </p:sp>
      <p:sp>
        <p:nvSpPr>
          <p:cNvPr id="31" name="Text 28"/>
          <p:cNvSpPr/>
          <p:nvPr/>
        </p:nvSpPr>
        <p:spPr>
          <a:xfrm>
            <a:off x="9692640" y="1819656"/>
            <a:ext cx="1709928" cy="320040"/>
          </a:xfrm>
          <a:prstGeom prst="rect">
            <a:avLst/>
          </a:prstGeom>
          <a:noFill/>
          <a:ln/>
        </p:spPr>
        <p:txBody>
          <a:bodyPr wrap="square" rtlCol="0" anchor="ctr"/>
          <a:lstStyle/>
          <a:p>
            <a:pPr marL="0" indent="0" algn="ctr">
              <a:buNone/>
            </a:pPr>
            <a:r>
              <a:rPr lang="en-US" sz="1300" b="1" dirty="0">
                <a:solidFill>
                  <a:srgbClr val="8FCFC3"/>
                </a:solidFill>
                <a:latin typeface="Calibri" pitchFamily="34" charset="0"/>
                <a:ea typeface="Calibri" pitchFamily="34" charset="-122"/>
                <a:cs typeface="Calibri" pitchFamily="34" charset="-120"/>
              </a:rPr>
              <a:t>Step 6</a:t>
            </a:r>
            <a:endParaRPr lang="en-US" sz="1300" dirty="0"/>
          </a:p>
        </p:txBody>
      </p:sp>
      <p:sp>
        <p:nvSpPr>
          <p:cNvPr id="32" name="Text 29"/>
          <p:cNvSpPr/>
          <p:nvPr/>
        </p:nvSpPr>
        <p:spPr>
          <a:xfrm>
            <a:off x="9765792" y="2194560"/>
            <a:ext cx="1563624" cy="822960"/>
          </a:xfrm>
          <a:prstGeom prst="rect">
            <a:avLst/>
          </a:prstGeom>
          <a:noFill/>
          <a:ln/>
        </p:spPr>
        <p:txBody>
          <a:bodyPr wrap="square" rtlCol="0" anchor="t"/>
          <a:lstStyle/>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Close &amp;</a:t>
            </a:r>
            <a:endParaRPr lang="en-US" sz="1100" dirty="0"/>
          </a:p>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Report</a:t>
            </a:r>
            <a:endParaRPr lang="en-US" sz="1100" dirty="0"/>
          </a:p>
        </p:txBody>
      </p:sp>
      <p:sp>
        <p:nvSpPr>
          <p:cNvPr id="33" name="Text 30"/>
          <p:cNvSpPr/>
          <p:nvPr/>
        </p:nvSpPr>
        <p:spPr>
          <a:xfrm>
            <a:off x="9765792" y="3063240"/>
            <a:ext cx="1563624" cy="411480"/>
          </a:xfrm>
          <a:prstGeom prst="rect">
            <a:avLst/>
          </a:prstGeom>
          <a:noFill/>
          <a:ln/>
        </p:spPr>
        <p:txBody>
          <a:bodyPr wrap="square" rtlCol="0" anchor="ctr"/>
          <a:lstStyle/>
          <a:p>
            <a:pPr marL="0" indent="0" algn="ctr">
              <a:buNone/>
            </a:pPr>
            <a:r>
              <a:rPr lang="en-US" sz="850" dirty="0">
                <a:solidFill>
                  <a:srgbClr val="BFE3DC"/>
                </a:solidFill>
                <a:latin typeface="Calibri" pitchFamily="34" charset="0"/>
                <a:ea typeface="Calibri" pitchFamily="34" charset="-122"/>
                <a:cs typeface="Calibri" pitchFamily="34" charset="-120"/>
              </a:rPr>
              <a:t>SM / PM</a:t>
            </a:r>
            <a:endParaRPr lang="en-US" sz="850" dirty="0"/>
          </a:p>
        </p:txBody>
      </p:sp>
      <p:sp>
        <p:nvSpPr>
          <p:cNvPr id="34" name="Text 31"/>
          <p:cNvSpPr/>
          <p:nvPr/>
        </p:nvSpPr>
        <p:spPr>
          <a:xfrm>
            <a:off x="502920" y="3977640"/>
            <a:ext cx="10607040" cy="548640"/>
          </a:xfrm>
          <a:prstGeom prst="rect">
            <a:avLst/>
          </a:prstGeom>
          <a:noFill/>
          <a:ln/>
        </p:spPr>
        <p:txBody>
          <a:bodyPr wrap="square" rtlCol="0" anchor="ctr"/>
          <a:lstStyle/>
          <a:p>
            <a:pPr marL="0" indent="0">
              <a:buNone/>
            </a:pPr>
            <a:r>
              <a:rPr lang="en-US" sz="1250" i="1" dirty="0">
                <a:solidFill>
                  <a:srgbClr val="5A626E"/>
                </a:solidFill>
                <a:latin typeface="Calibri" pitchFamily="34" charset="0"/>
                <a:ea typeface="Calibri" pitchFamily="34" charset="-122"/>
                <a:cs typeface="Calibri" pitchFamily="34" charset="-120"/>
              </a:rPr>
              <a:t>The Project Manager approves each closure against evidence — approvals, MoMs, drawings, NOCs. If not approved, the issue returns to coordination. All documents are uploaded to Aconex before closure; KPIs and response times are reported to management.</a:t>
            </a:r>
            <a:endParaRPr lang="en-US" sz="1250" dirty="0"/>
          </a:p>
        </p:txBody>
      </p:sp>
      <p:sp>
        <p:nvSpPr>
          <p:cNvPr id="35" name="Text 32"/>
          <p:cNvSpPr/>
          <p:nvPr/>
        </p:nvSpPr>
        <p:spPr>
          <a:xfrm>
            <a:off x="502920" y="47091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Required Stakeholder Management Records (MAH-ENC-CNS-PM series)</a:t>
            </a:r>
            <a:endParaRPr lang="en-US" sz="1400" dirty="0"/>
          </a:p>
        </p:txBody>
      </p:sp>
      <p:sp>
        <p:nvSpPr>
          <p:cNvPr id="36" name="Shape 33"/>
          <p:cNvSpPr/>
          <p:nvPr/>
        </p:nvSpPr>
        <p:spPr>
          <a:xfrm>
            <a:off x="502920" y="5221224"/>
            <a:ext cx="82296" cy="82296"/>
          </a:xfrm>
          <a:prstGeom prst="ellipse">
            <a:avLst/>
          </a:prstGeom>
          <a:solidFill>
            <a:srgbClr val="43A99A"/>
          </a:solidFill>
          <a:ln/>
        </p:spPr>
        <p:txBody>
          <a:bodyPr/>
          <a:lstStyle/>
          <a:p>
            <a:endParaRPr lang="en-US"/>
          </a:p>
        </p:txBody>
      </p:sp>
      <p:sp>
        <p:nvSpPr>
          <p:cNvPr id="37" name="Text 34"/>
          <p:cNvSpPr/>
          <p:nvPr/>
        </p:nvSpPr>
        <p:spPr>
          <a:xfrm>
            <a:off x="70408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Stakeholder Register (FRM-006)</a:t>
            </a:r>
            <a:endParaRPr lang="en-US" sz="1100" dirty="0"/>
          </a:p>
        </p:txBody>
      </p:sp>
      <p:sp>
        <p:nvSpPr>
          <p:cNvPr id="38" name="Shape 35"/>
          <p:cNvSpPr/>
          <p:nvPr/>
        </p:nvSpPr>
        <p:spPr>
          <a:xfrm>
            <a:off x="4114800" y="5221224"/>
            <a:ext cx="82296" cy="82296"/>
          </a:xfrm>
          <a:prstGeom prst="ellipse">
            <a:avLst/>
          </a:prstGeom>
          <a:solidFill>
            <a:srgbClr val="43A99A"/>
          </a:solidFill>
          <a:ln/>
        </p:spPr>
        <p:txBody>
          <a:bodyPr/>
          <a:lstStyle/>
          <a:p>
            <a:endParaRPr lang="en-US"/>
          </a:p>
        </p:txBody>
      </p:sp>
      <p:sp>
        <p:nvSpPr>
          <p:cNvPr id="39" name="Text 36"/>
          <p:cNvSpPr/>
          <p:nvPr/>
        </p:nvSpPr>
        <p:spPr>
          <a:xfrm>
            <a:off x="431596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Communication &amp; Action Tracker (FRM-007)</a:t>
            </a:r>
            <a:endParaRPr lang="en-US" sz="1100" dirty="0"/>
          </a:p>
        </p:txBody>
      </p:sp>
      <p:sp>
        <p:nvSpPr>
          <p:cNvPr id="40" name="Shape 37"/>
          <p:cNvSpPr/>
          <p:nvPr/>
        </p:nvSpPr>
        <p:spPr>
          <a:xfrm>
            <a:off x="7726680" y="5221224"/>
            <a:ext cx="82296" cy="82296"/>
          </a:xfrm>
          <a:prstGeom prst="ellipse">
            <a:avLst/>
          </a:prstGeom>
          <a:solidFill>
            <a:srgbClr val="43A99A"/>
          </a:solidFill>
          <a:ln/>
        </p:spPr>
        <p:txBody>
          <a:bodyPr/>
          <a:lstStyle/>
          <a:p>
            <a:endParaRPr lang="en-US"/>
          </a:p>
        </p:txBody>
      </p:sp>
      <p:sp>
        <p:nvSpPr>
          <p:cNvPr id="41" name="Text 38"/>
          <p:cNvSpPr/>
          <p:nvPr/>
        </p:nvSpPr>
        <p:spPr>
          <a:xfrm>
            <a:off x="792784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Stakeholder MoM (FRM-008)</a:t>
            </a:r>
            <a:endParaRPr lang="en-US" sz="1100" dirty="0"/>
          </a:p>
        </p:txBody>
      </p:sp>
      <p:sp>
        <p:nvSpPr>
          <p:cNvPr id="42" name="Shape 39"/>
          <p:cNvSpPr/>
          <p:nvPr/>
        </p:nvSpPr>
        <p:spPr>
          <a:xfrm>
            <a:off x="502920" y="5605272"/>
            <a:ext cx="82296" cy="82296"/>
          </a:xfrm>
          <a:prstGeom prst="ellipse">
            <a:avLst/>
          </a:prstGeom>
          <a:solidFill>
            <a:srgbClr val="43A99A"/>
          </a:solidFill>
          <a:ln/>
        </p:spPr>
        <p:txBody>
          <a:bodyPr/>
          <a:lstStyle/>
          <a:p>
            <a:endParaRPr lang="en-US"/>
          </a:p>
        </p:txBody>
      </p:sp>
      <p:sp>
        <p:nvSpPr>
          <p:cNvPr id="43" name="Text 40"/>
          <p:cNvSpPr/>
          <p:nvPr/>
        </p:nvSpPr>
        <p:spPr>
          <a:xfrm>
            <a:off x="70408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Monthly Summary Report (FRM-009)</a:t>
            </a:r>
            <a:endParaRPr lang="en-US" sz="1100" dirty="0"/>
          </a:p>
        </p:txBody>
      </p:sp>
      <p:sp>
        <p:nvSpPr>
          <p:cNvPr id="44" name="Shape 41"/>
          <p:cNvSpPr/>
          <p:nvPr/>
        </p:nvSpPr>
        <p:spPr>
          <a:xfrm>
            <a:off x="4114800" y="5605272"/>
            <a:ext cx="82296" cy="82296"/>
          </a:xfrm>
          <a:prstGeom prst="ellipse">
            <a:avLst/>
          </a:prstGeom>
          <a:solidFill>
            <a:srgbClr val="43A99A"/>
          </a:solidFill>
          <a:ln/>
        </p:spPr>
        <p:txBody>
          <a:bodyPr/>
          <a:lstStyle/>
          <a:p>
            <a:endParaRPr lang="en-US"/>
          </a:p>
        </p:txBody>
      </p:sp>
      <p:sp>
        <p:nvSpPr>
          <p:cNvPr id="45" name="Text 42"/>
          <p:cNvSpPr/>
          <p:nvPr/>
        </p:nvSpPr>
        <p:spPr>
          <a:xfrm>
            <a:off x="431596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Process Map (010) · Feedback Log (011)</a:t>
            </a:r>
            <a:endParaRPr lang="en-US" sz="1100" dirty="0"/>
          </a:p>
        </p:txBody>
      </p:sp>
      <p:sp>
        <p:nvSpPr>
          <p:cNvPr id="46" name="Shape 43"/>
          <p:cNvSpPr/>
          <p:nvPr/>
        </p:nvSpPr>
        <p:spPr>
          <a:xfrm>
            <a:off x="7726680" y="5605272"/>
            <a:ext cx="82296" cy="82296"/>
          </a:xfrm>
          <a:prstGeom prst="ellipse">
            <a:avLst/>
          </a:prstGeom>
          <a:solidFill>
            <a:srgbClr val="43A99A"/>
          </a:solidFill>
          <a:ln/>
        </p:spPr>
        <p:txBody>
          <a:bodyPr/>
          <a:lstStyle/>
          <a:p>
            <a:endParaRPr lang="en-US"/>
          </a:p>
        </p:txBody>
      </p:sp>
      <p:sp>
        <p:nvSpPr>
          <p:cNvPr id="47" name="Text 44"/>
          <p:cNvSpPr/>
          <p:nvPr/>
        </p:nvSpPr>
        <p:spPr>
          <a:xfrm>
            <a:off x="792784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Lessons Learned (012) · RACI · SEP</a:t>
            </a:r>
            <a:endParaRPr lang="en-US" sz="1100" dirty="0"/>
          </a:p>
        </p:txBody>
      </p:sp>
      <p:sp>
        <p:nvSpPr>
          <p:cNvPr id="49" name="Text 4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PROCESS MAP</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One Process at Three Management Levels</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Project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Identify and register stakeholders, assess them on the Power–Interest Matrix, coordinate through meetings, RFIs and authority follow-ups, resolve through discipline coordination, verify documents in Aconex and close with Project Manager approval.</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Program Level</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Lead Interface Manager consolidates stakeholders affecting several projects and classifies them by program impact; the Projects Director validates; conflicts on schedule, approvals or shared assets are resolved and KPIs reported monthly.</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Sector Level</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Lead Stakeholder Manager flags strategic, reputational or corporate risks; the Risk Manager assesses the impact on MAH's image and client relationship; the VP approves mitigation, the PMO monitors it and lessons are captured.</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ENGAGEMENT PLANNING</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Communication &amp; Engagement Planning</a:t>
            </a:r>
            <a:endParaRPr lang="en-US" sz="3000" dirty="0"/>
          </a:p>
        </p:txBody>
      </p:sp>
      <p:sp>
        <p:nvSpPr>
          <p:cNvPr id="5" name="Shape 2"/>
          <p:cNvSpPr/>
          <p:nvPr/>
        </p:nvSpPr>
        <p:spPr>
          <a:xfrm>
            <a:off x="502920"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1517904" y="1344168"/>
            <a:ext cx="512064" cy="512064"/>
          </a:xfrm>
          <a:prstGeom prst="ellipse">
            <a:avLst/>
          </a:prstGeom>
          <a:solidFill>
            <a:srgbClr val="004549"/>
          </a:solidFill>
          <a:ln/>
        </p:spPr>
        <p:txBody>
          <a:bodyPr/>
          <a:lstStyle/>
          <a:p>
            <a:endParaRPr lang="en-US"/>
          </a:p>
        </p:txBody>
      </p:sp>
      <p:sp>
        <p:nvSpPr>
          <p:cNvPr id="7" name="Text 4"/>
          <p:cNvSpPr/>
          <p:nvPr/>
        </p:nvSpPr>
        <p:spPr>
          <a:xfrm>
            <a:off x="1517904"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5"/>
          <p:cNvSpPr/>
          <p:nvPr/>
        </p:nvSpPr>
        <p:spPr>
          <a:xfrm>
            <a:off x="640080"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Plan per</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Stakeholder</a:t>
            </a:r>
            <a:endParaRPr lang="en-US" sz="1400" dirty="0"/>
          </a:p>
        </p:txBody>
      </p:sp>
      <p:sp>
        <p:nvSpPr>
          <p:cNvPr id="9" name="Text 6"/>
          <p:cNvSpPr/>
          <p:nvPr/>
        </p:nvSpPr>
        <p:spPr>
          <a:xfrm>
            <a:off x="685800"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Method, frequency, responsible person and information to share — aligned with the SR.</a:t>
            </a:r>
            <a:endParaRPr lang="en-US" sz="1050" dirty="0"/>
          </a:p>
        </p:txBody>
      </p:sp>
      <p:sp>
        <p:nvSpPr>
          <p:cNvPr id="10" name="Text 7"/>
          <p:cNvSpPr/>
          <p:nvPr/>
        </p:nvSpPr>
        <p:spPr>
          <a:xfrm>
            <a:off x="3044952"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300984"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2" name="Shape 9"/>
          <p:cNvSpPr/>
          <p:nvPr/>
        </p:nvSpPr>
        <p:spPr>
          <a:xfrm>
            <a:off x="4315968" y="1344168"/>
            <a:ext cx="512064" cy="512064"/>
          </a:xfrm>
          <a:prstGeom prst="ellipse">
            <a:avLst/>
          </a:prstGeom>
          <a:solidFill>
            <a:srgbClr val="004549"/>
          </a:solidFill>
          <a:ln/>
        </p:spPr>
        <p:txBody>
          <a:bodyPr/>
          <a:lstStyle/>
          <a:p>
            <a:endParaRPr lang="en-US"/>
          </a:p>
        </p:txBody>
      </p:sp>
      <p:sp>
        <p:nvSpPr>
          <p:cNvPr id="13" name="Text 10"/>
          <p:cNvSpPr/>
          <p:nvPr/>
        </p:nvSpPr>
        <p:spPr>
          <a:xfrm>
            <a:off x="4315968"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3438144"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Choose the</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Channel</a:t>
            </a:r>
            <a:endParaRPr lang="en-US" sz="1400" dirty="0"/>
          </a:p>
        </p:txBody>
      </p:sp>
      <p:sp>
        <p:nvSpPr>
          <p:cNvPr id="15" name="Text 12"/>
          <p:cNvSpPr/>
          <p:nvPr/>
        </p:nvSpPr>
        <p:spPr>
          <a:xfrm>
            <a:off x="3483864"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Emails, meetings, workshops, transmittals, letters and awareness sessions.</a:t>
            </a:r>
            <a:endParaRPr lang="en-US" sz="1050" dirty="0"/>
          </a:p>
        </p:txBody>
      </p:sp>
      <p:sp>
        <p:nvSpPr>
          <p:cNvPr id="16" name="Text 13"/>
          <p:cNvSpPr/>
          <p:nvPr/>
        </p:nvSpPr>
        <p:spPr>
          <a:xfrm>
            <a:off x="5843016"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6099048"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8" name="Shape 15"/>
          <p:cNvSpPr/>
          <p:nvPr/>
        </p:nvSpPr>
        <p:spPr>
          <a:xfrm>
            <a:off x="7114032" y="1344168"/>
            <a:ext cx="512064" cy="512064"/>
          </a:xfrm>
          <a:prstGeom prst="ellipse">
            <a:avLst/>
          </a:prstGeom>
          <a:solidFill>
            <a:srgbClr val="004549"/>
          </a:solidFill>
          <a:ln/>
        </p:spPr>
        <p:txBody>
          <a:bodyPr/>
          <a:lstStyle/>
          <a:p>
            <a:endParaRPr lang="en-US"/>
          </a:p>
        </p:txBody>
      </p:sp>
      <p:sp>
        <p:nvSpPr>
          <p:cNvPr id="19" name="Text 16"/>
          <p:cNvSpPr/>
          <p:nvPr/>
        </p:nvSpPr>
        <p:spPr>
          <a:xfrm>
            <a:off x="7114032"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6236208"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Record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Track</a:t>
            </a:r>
            <a:endParaRPr lang="en-US" sz="1400" dirty="0"/>
          </a:p>
        </p:txBody>
      </p:sp>
      <p:sp>
        <p:nvSpPr>
          <p:cNvPr id="21" name="Text 18"/>
          <p:cNvSpPr/>
          <p:nvPr/>
        </p:nvSpPr>
        <p:spPr>
          <a:xfrm>
            <a:off x="6281928"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Every communication and feedback in the Communication &amp; Action Tracker.</a:t>
            </a:r>
            <a:endParaRPr lang="en-US" sz="1050" dirty="0"/>
          </a:p>
        </p:txBody>
      </p:sp>
      <p:sp>
        <p:nvSpPr>
          <p:cNvPr id="22" name="Text 19"/>
          <p:cNvSpPr/>
          <p:nvPr/>
        </p:nvSpPr>
        <p:spPr>
          <a:xfrm>
            <a:off x="8641080"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8897112"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9912096" y="1344168"/>
            <a:ext cx="512064" cy="512064"/>
          </a:xfrm>
          <a:prstGeom prst="ellipse">
            <a:avLst/>
          </a:prstGeom>
          <a:solidFill>
            <a:srgbClr val="004549"/>
          </a:solidFill>
          <a:ln/>
        </p:spPr>
        <p:txBody>
          <a:bodyPr/>
          <a:lstStyle/>
          <a:p>
            <a:endParaRPr lang="en-US"/>
          </a:p>
        </p:txBody>
      </p:sp>
      <p:sp>
        <p:nvSpPr>
          <p:cNvPr id="25" name="Text 22"/>
          <p:cNvSpPr/>
          <p:nvPr/>
        </p:nvSpPr>
        <p:spPr>
          <a:xfrm>
            <a:off x="9912096"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3"/>
          <p:cNvSpPr/>
          <p:nvPr/>
        </p:nvSpPr>
        <p:spPr>
          <a:xfrm>
            <a:off x="9034272"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Review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Update</a:t>
            </a:r>
            <a:endParaRPr lang="en-US" sz="1400" dirty="0"/>
          </a:p>
        </p:txBody>
      </p:sp>
      <p:sp>
        <p:nvSpPr>
          <p:cNvPr id="27" name="Text 24"/>
          <p:cNvSpPr/>
          <p:nvPr/>
        </p:nvSpPr>
        <p:spPr>
          <a:xfrm>
            <a:off x="9079992"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At each stage change, or when stakeholder roles or needs change.</a:t>
            </a:r>
            <a:endParaRPr lang="en-US" sz="1050" dirty="0"/>
          </a:p>
        </p:txBody>
      </p:sp>
      <p:sp>
        <p:nvSpPr>
          <p:cNvPr id="28" name="Text 25"/>
          <p:cNvSpPr/>
          <p:nvPr/>
        </p:nvSpPr>
        <p:spPr>
          <a:xfrm>
            <a:off x="502920" y="42519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Communication Timing Rules (procedure requirement)</a:t>
            </a:r>
            <a:endParaRPr lang="en-US" sz="1400" dirty="0"/>
          </a:p>
        </p:txBody>
      </p:sp>
      <p:sp>
        <p:nvSpPr>
          <p:cNvPr id="29" name="Shape 26"/>
          <p:cNvSpPr/>
          <p:nvPr/>
        </p:nvSpPr>
        <p:spPr>
          <a:xfrm>
            <a:off x="502920" y="4709160"/>
            <a:ext cx="2542032" cy="1188720"/>
          </a:xfrm>
          <a:prstGeom prst="roundRect">
            <a:avLst>
              <a:gd name="adj" fmla="val 4615"/>
            </a:avLst>
          </a:prstGeom>
          <a:solidFill>
            <a:srgbClr val="D9ECE7"/>
          </a:solidFill>
          <a:ln/>
        </p:spPr>
        <p:txBody>
          <a:bodyPr/>
          <a:lstStyle/>
          <a:p>
            <a:endParaRPr lang="en-US"/>
          </a:p>
        </p:txBody>
      </p:sp>
      <p:sp>
        <p:nvSpPr>
          <p:cNvPr id="30" name="Text 27"/>
          <p:cNvSpPr/>
          <p:nvPr/>
        </p:nvSpPr>
        <p:spPr>
          <a:xfrm>
            <a:off x="64008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Internal meeting call</a:t>
            </a:r>
            <a:endParaRPr lang="en-US" sz="1050" dirty="0"/>
          </a:p>
        </p:txBody>
      </p:sp>
      <p:sp>
        <p:nvSpPr>
          <p:cNvPr id="31" name="Text 28"/>
          <p:cNvSpPr/>
          <p:nvPr/>
        </p:nvSpPr>
        <p:spPr>
          <a:xfrm>
            <a:off x="64008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48 hours notice</a:t>
            </a:r>
            <a:endParaRPr lang="en-US" sz="1150" dirty="0"/>
          </a:p>
        </p:txBody>
      </p:sp>
      <p:sp>
        <p:nvSpPr>
          <p:cNvPr id="32" name="Shape 29"/>
          <p:cNvSpPr/>
          <p:nvPr/>
        </p:nvSpPr>
        <p:spPr>
          <a:xfrm>
            <a:off x="3200400" y="4709160"/>
            <a:ext cx="2542032" cy="1188720"/>
          </a:xfrm>
          <a:prstGeom prst="roundRect">
            <a:avLst>
              <a:gd name="adj" fmla="val 4615"/>
            </a:avLst>
          </a:prstGeom>
          <a:solidFill>
            <a:srgbClr val="D9ECE7"/>
          </a:solidFill>
          <a:ln/>
        </p:spPr>
        <p:txBody>
          <a:bodyPr/>
          <a:lstStyle/>
          <a:p>
            <a:endParaRPr lang="en-US"/>
          </a:p>
        </p:txBody>
      </p:sp>
      <p:sp>
        <p:nvSpPr>
          <p:cNvPr id="33" name="Text 30"/>
          <p:cNvSpPr/>
          <p:nvPr/>
        </p:nvSpPr>
        <p:spPr>
          <a:xfrm>
            <a:off x="333756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External meeting invitation</a:t>
            </a:r>
            <a:endParaRPr lang="en-US" sz="1050" dirty="0"/>
          </a:p>
        </p:txBody>
      </p:sp>
      <p:sp>
        <p:nvSpPr>
          <p:cNvPr id="34" name="Text 31"/>
          <p:cNvSpPr/>
          <p:nvPr/>
        </p:nvSpPr>
        <p:spPr>
          <a:xfrm>
            <a:off x="333756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72 hours notice</a:t>
            </a:r>
            <a:endParaRPr lang="en-US" sz="1150" dirty="0"/>
          </a:p>
        </p:txBody>
      </p:sp>
      <p:sp>
        <p:nvSpPr>
          <p:cNvPr id="35" name="Shape 32"/>
          <p:cNvSpPr/>
          <p:nvPr/>
        </p:nvSpPr>
        <p:spPr>
          <a:xfrm>
            <a:off x="5897880" y="4709160"/>
            <a:ext cx="2542032" cy="1188720"/>
          </a:xfrm>
          <a:prstGeom prst="roundRect">
            <a:avLst>
              <a:gd name="adj" fmla="val 4615"/>
            </a:avLst>
          </a:prstGeom>
          <a:solidFill>
            <a:srgbClr val="D9ECE7"/>
          </a:solidFill>
          <a:ln/>
        </p:spPr>
        <p:txBody>
          <a:bodyPr/>
          <a:lstStyle/>
          <a:p>
            <a:endParaRPr lang="en-US"/>
          </a:p>
        </p:txBody>
      </p:sp>
      <p:sp>
        <p:nvSpPr>
          <p:cNvPr id="36" name="Text 33"/>
          <p:cNvSpPr/>
          <p:nvPr/>
        </p:nvSpPr>
        <p:spPr>
          <a:xfrm>
            <a:off x="603504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Minutes of Meeting (MoM)</a:t>
            </a:r>
            <a:endParaRPr lang="en-US" sz="1050" dirty="0"/>
          </a:p>
        </p:txBody>
      </p:sp>
      <p:sp>
        <p:nvSpPr>
          <p:cNvPr id="37" name="Text 34"/>
          <p:cNvSpPr/>
          <p:nvPr/>
        </p:nvSpPr>
        <p:spPr>
          <a:xfrm>
            <a:off x="603504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48 hours after meeting</a:t>
            </a:r>
            <a:endParaRPr lang="en-US" sz="1150" dirty="0"/>
          </a:p>
        </p:txBody>
      </p:sp>
      <p:sp>
        <p:nvSpPr>
          <p:cNvPr id="38" name="Shape 35"/>
          <p:cNvSpPr/>
          <p:nvPr/>
        </p:nvSpPr>
        <p:spPr>
          <a:xfrm>
            <a:off x="8595360" y="4709160"/>
            <a:ext cx="2542032" cy="1188720"/>
          </a:xfrm>
          <a:prstGeom prst="roundRect">
            <a:avLst>
              <a:gd name="adj" fmla="val 4615"/>
            </a:avLst>
          </a:prstGeom>
          <a:solidFill>
            <a:srgbClr val="D9ECE7"/>
          </a:solidFill>
          <a:ln/>
        </p:spPr>
        <p:txBody>
          <a:bodyPr/>
          <a:lstStyle/>
          <a:p>
            <a:endParaRPr lang="en-US"/>
          </a:p>
        </p:txBody>
      </p:sp>
      <p:sp>
        <p:nvSpPr>
          <p:cNvPr id="39" name="Text 36"/>
          <p:cNvSpPr/>
          <p:nvPr/>
        </p:nvSpPr>
        <p:spPr>
          <a:xfrm>
            <a:off x="873252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Stakeholder Register update</a:t>
            </a:r>
            <a:endParaRPr lang="en-US" sz="1050" dirty="0"/>
          </a:p>
        </p:txBody>
      </p:sp>
      <p:sp>
        <p:nvSpPr>
          <p:cNvPr id="40" name="Text 37"/>
          <p:cNvSpPr/>
          <p:nvPr/>
        </p:nvSpPr>
        <p:spPr>
          <a:xfrm>
            <a:off x="873252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After every meeting</a:t>
            </a:r>
            <a:endParaRPr lang="en-US" sz="1150" dirty="0"/>
          </a:p>
        </p:txBody>
      </p:sp>
      <p:sp>
        <p:nvSpPr>
          <p:cNvPr id="42" name="Text 3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MEETINGS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Meetings &amp; Stakeholder Register</a:t>
            </a:r>
            <a:endParaRPr lang="en-US" sz="3000" dirty="0"/>
          </a:p>
        </p:txBody>
      </p:sp>
      <p:sp>
        <p:nvSpPr>
          <p:cNvPr id="5" name="Text 2"/>
          <p:cNvSpPr/>
          <p:nvPr/>
        </p:nvSpPr>
        <p:spPr>
          <a:xfrm>
            <a:off x="5029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Meeting Cadence</a:t>
            </a:r>
            <a:endParaRPr lang="en-US" sz="1500" dirty="0"/>
          </a:p>
        </p:txBody>
      </p:sp>
      <p:sp>
        <p:nvSpPr>
          <p:cNvPr id="6" name="Shape 3"/>
          <p:cNvSpPr/>
          <p:nvPr/>
        </p:nvSpPr>
        <p:spPr>
          <a:xfrm>
            <a:off x="502920" y="1920240"/>
            <a:ext cx="1417320" cy="566928"/>
          </a:xfrm>
          <a:prstGeom prst="roundRect">
            <a:avLst>
              <a:gd name="adj" fmla="val 48387"/>
            </a:avLst>
          </a:prstGeom>
          <a:solidFill>
            <a:srgbClr val="43A99A"/>
          </a:solidFill>
          <a:ln/>
        </p:spPr>
        <p:txBody>
          <a:bodyPr/>
          <a:lstStyle/>
          <a:p>
            <a:endParaRPr lang="en-US"/>
          </a:p>
        </p:txBody>
      </p:sp>
      <p:sp>
        <p:nvSpPr>
          <p:cNvPr id="7" name="Text 4"/>
          <p:cNvSpPr/>
          <p:nvPr/>
        </p:nvSpPr>
        <p:spPr>
          <a:xfrm>
            <a:off x="502920" y="1920240"/>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Kick-off</a:t>
            </a:r>
            <a:endParaRPr lang="en-US" sz="1150" dirty="0"/>
          </a:p>
        </p:txBody>
      </p:sp>
      <p:sp>
        <p:nvSpPr>
          <p:cNvPr id="8" name="Text 5"/>
          <p:cNvSpPr/>
          <p:nvPr/>
        </p:nvSpPr>
        <p:spPr>
          <a:xfrm>
            <a:off x="2103120" y="1947672"/>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Once — introduce the framework, key stakeholders, roles and reporting</a:t>
            </a:r>
            <a:endParaRPr lang="en-US" sz="1080" dirty="0"/>
          </a:p>
        </p:txBody>
      </p:sp>
      <p:sp>
        <p:nvSpPr>
          <p:cNvPr id="9" name="Shape 6"/>
          <p:cNvSpPr/>
          <p:nvPr/>
        </p:nvSpPr>
        <p:spPr>
          <a:xfrm>
            <a:off x="502920" y="2633472"/>
            <a:ext cx="1417320" cy="566928"/>
          </a:xfrm>
          <a:prstGeom prst="roundRect">
            <a:avLst>
              <a:gd name="adj" fmla="val 48387"/>
            </a:avLst>
          </a:prstGeom>
          <a:solidFill>
            <a:srgbClr val="43A99A"/>
          </a:solidFill>
          <a:ln/>
        </p:spPr>
        <p:txBody>
          <a:bodyPr/>
          <a:lstStyle/>
          <a:p>
            <a:endParaRPr lang="en-US"/>
          </a:p>
        </p:txBody>
      </p:sp>
      <p:sp>
        <p:nvSpPr>
          <p:cNvPr id="10" name="Text 7"/>
          <p:cNvSpPr/>
          <p:nvPr/>
        </p:nvSpPr>
        <p:spPr>
          <a:xfrm>
            <a:off x="502920" y="2633472"/>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Weekly</a:t>
            </a:r>
            <a:endParaRPr lang="en-US" sz="1150" dirty="0"/>
          </a:p>
        </p:txBody>
      </p:sp>
      <p:sp>
        <p:nvSpPr>
          <p:cNvPr id="11" name="Text 8"/>
          <p:cNvSpPr/>
          <p:nvPr/>
        </p:nvSpPr>
        <p:spPr>
          <a:xfrm>
            <a:off x="2103120" y="2660904"/>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Coordination: review issues, actions and new concerns (or bi-weekly)</a:t>
            </a:r>
            <a:endParaRPr lang="en-US" sz="1080" dirty="0"/>
          </a:p>
        </p:txBody>
      </p:sp>
      <p:sp>
        <p:nvSpPr>
          <p:cNvPr id="12" name="Shape 9"/>
          <p:cNvSpPr/>
          <p:nvPr/>
        </p:nvSpPr>
        <p:spPr>
          <a:xfrm>
            <a:off x="502920" y="3346704"/>
            <a:ext cx="1417320" cy="566928"/>
          </a:xfrm>
          <a:prstGeom prst="roundRect">
            <a:avLst>
              <a:gd name="adj" fmla="val 48387"/>
            </a:avLst>
          </a:prstGeom>
          <a:solidFill>
            <a:srgbClr val="43A99A"/>
          </a:solidFill>
          <a:ln/>
        </p:spPr>
        <p:txBody>
          <a:bodyPr/>
          <a:lstStyle/>
          <a:p>
            <a:endParaRPr lang="en-US"/>
          </a:p>
        </p:txBody>
      </p:sp>
      <p:sp>
        <p:nvSpPr>
          <p:cNvPr id="13" name="Text 10"/>
          <p:cNvSpPr/>
          <p:nvPr/>
        </p:nvSpPr>
        <p:spPr>
          <a:xfrm>
            <a:off x="502920" y="3346704"/>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Monthly</a:t>
            </a:r>
            <a:endParaRPr lang="en-US" sz="1150" dirty="0"/>
          </a:p>
        </p:txBody>
      </p:sp>
      <p:sp>
        <p:nvSpPr>
          <p:cNvPr id="14" name="Text 11"/>
          <p:cNvSpPr/>
          <p:nvPr/>
        </p:nvSpPr>
        <p:spPr>
          <a:xfrm>
            <a:off x="2103120" y="3374136"/>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Review: engagement performance, open issues and KPI trends with Client / PMC</a:t>
            </a:r>
            <a:endParaRPr lang="en-US" sz="1080" dirty="0"/>
          </a:p>
        </p:txBody>
      </p:sp>
      <p:sp>
        <p:nvSpPr>
          <p:cNvPr id="15" name="Shape 12"/>
          <p:cNvSpPr/>
          <p:nvPr/>
        </p:nvSpPr>
        <p:spPr>
          <a:xfrm>
            <a:off x="502920" y="4059936"/>
            <a:ext cx="1417320" cy="566928"/>
          </a:xfrm>
          <a:prstGeom prst="roundRect">
            <a:avLst>
              <a:gd name="adj" fmla="val 48387"/>
            </a:avLst>
          </a:prstGeom>
          <a:solidFill>
            <a:srgbClr val="43A99A"/>
          </a:solidFill>
          <a:ln/>
        </p:spPr>
        <p:txBody>
          <a:bodyPr/>
          <a:lstStyle/>
          <a:p>
            <a:endParaRPr lang="en-US"/>
          </a:p>
        </p:txBody>
      </p:sp>
      <p:sp>
        <p:nvSpPr>
          <p:cNvPr id="16" name="Text 13"/>
          <p:cNvSpPr/>
          <p:nvPr/>
        </p:nvSpPr>
        <p:spPr>
          <a:xfrm>
            <a:off x="502920" y="4059936"/>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 needed</a:t>
            </a:r>
            <a:endParaRPr lang="en-US" sz="1150" dirty="0"/>
          </a:p>
        </p:txBody>
      </p:sp>
      <p:sp>
        <p:nvSpPr>
          <p:cNvPr id="17" name="Text 14"/>
          <p:cNvSpPr/>
          <p:nvPr/>
        </p:nvSpPr>
        <p:spPr>
          <a:xfrm>
            <a:off x="2103120" y="4087368"/>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Special meeting for urgent issues, authority approvals or critical coordination</a:t>
            </a:r>
            <a:endParaRPr lang="en-US" sz="1080" dirty="0"/>
          </a:p>
        </p:txBody>
      </p:sp>
      <p:sp>
        <p:nvSpPr>
          <p:cNvPr id="18" name="Text 15"/>
          <p:cNvSpPr/>
          <p:nvPr/>
        </p:nvSpPr>
        <p:spPr>
          <a:xfrm>
            <a:off x="59893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Stakeholder Register — Status Flow</a:t>
            </a:r>
            <a:endParaRPr lang="en-US" sz="1500" dirty="0"/>
          </a:p>
        </p:txBody>
      </p:sp>
      <p:sp>
        <p:nvSpPr>
          <p:cNvPr id="19" name="Shape 16"/>
          <p:cNvSpPr/>
          <p:nvPr/>
        </p:nvSpPr>
        <p:spPr>
          <a:xfrm>
            <a:off x="5989320" y="2039112"/>
            <a:ext cx="292608" cy="292608"/>
          </a:xfrm>
          <a:prstGeom prst="ellipse">
            <a:avLst/>
          </a:prstGeom>
          <a:solidFill>
            <a:srgbClr val="2E9E5B"/>
          </a:solidFill>
          <a:ln/>
        </p:spPr>
        <p:txBody>
          <a:bodyPr/>
          <a:lstStyle/>
          <a:p>
            <a:endParaRPr lang="en-US"/>
          </a:p>
        </p:txBody>
      </p:sp>
      <p:sp>
        <p:nvSpPr>
          <p:cNvPr id="20" name="Text 17"/>
          <p:cNvSpPr/>
          <p:nvPr/>
        </p:nvSpPr>
        <p:spPr>
          <a:xfrm>
            <a:off x="6446520" y="1965960"/>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Closed</a:t>
            </a:r>
            <a:endParaRPr lang="en-US" sz="1250" dirty="0"/>
          </a:p>
        </p:txBody>
      </p:sp>
      <p:sp>
        <p:nvSpPr>
          <p:cNvPr id="21" name="Text 18"/>
          <p:cNvSpPr/>
          <p:nvPr/>
        </p:nvSpPr>
        <p:spPr>
          <a:xfrm>
            <a:off x="7452360" y="1965960"/>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Actions completed, evidence filed and all parties signed off.</a:t>
            </a:r>
            <a:endParaRPr lang="en-US" sz="1100" dirty="0"/>
          </a:p>
        </p:txBody>
      </p:sp>
      <p:sp>
        <p:nvSpPr>
          <p:cNvPr id="22" name="Shape 19"/>
          <p:cNvSpPr/>
          <p:nvPr/>
        </p:nvSpPr>
        <p:spPr>
          <a:xfrm>
            <a:off x="5989320" y="2660904"/>
            <a:ext cx="292608" cy="292608"/>
          </a:xfrm>
          <a:prstGeom prst="ellipse">
            <a:avLst/>
          </a:prstGeom>
          <a:solidFill>
            <a:srgbClr val="D69A1F"/>
          </a:solidFill>
          <a:ln/>
        </p:spPr>
        <p:txBody>
          <a:bodyPr/>
          <a:lstStyle/>
          <a:p>
            <a:endParaRPr lang="en-US"/>
          </a:p>
        </p:txBody>
      </p:sp>
      <p:sp>
        <p:nvSpPr>
          <p:cNvPr id="23" name="Text 20"/>
          <p:cNvSpPr/>
          <p:nvPr/>
        </p:nvSpPr>
        <p:spPr>
          <a:xfrm>
            <a:off x="6446520" y="2587752"/>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Review</a:t>
            </a:r>
            <a:endParaRPr lang="en-US" sz="1250" dirty="0"/>
          </a:p>
        </p:txBody>
      </p:sp>
      <p:sp>
        <p:nvSpPr>
          <p:cNvPr id="24" name="Text 21"/>
          <p:cNvSpPr/>
          <p:nvPr/>
        </p:nvSpPr>
        <p:spPr>
          <a:xfrm>
            <a:off x="7452360" y="2587752"/>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Under review: response agreed — awaiting verification.</a:t>
            </a:r>
            <a:endParaRPr lang="en-US" sz="1100" dirty="0"/>
          </a:p>
        </p:txBody>
      </p:sp>
      <p:sp>
        <p:nvSpPr>
          <p:cNvPr id="25" name="Shape 22"/>
          <p:cNvSpPr/>
          <p:nvPr/>
        </p:nvSpPr>
        <p:spPr>
          <a:xfrm>
            <a:off x="5989320" y="3282696"/>
            <a:ext cx="292608" cy="292608"/>
          </a:xfrm>
          <a:prstGeom prst="ellipse">
            <a:avLst/>
          </a:prstGeom>
          <a:solidFill>
            <a:srgbClr val="C0392B"/>
          </a:solidFill>
          <a:ln/>
        </p:spPr>
        <p:txBody>
          <a:bodyPr/>
          <a:lstStyle/>
          <a:p>
            <a:endParaRPr lang="en-US"/>
          </a:p>
        </p:txBody>
      </p:sp>
      <p:sp>
        <p:nvSpPr>
          <p:cNvPr id="26" name="Text 23"/>
          <p:cNvSpPr/>
          <p:nvPr/>
        </p:nvSpPr>
        <p:spPr>
          <a:xfrm>
            <a:off x="6446520" y="3209544"/>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Open</a:t>
            </a:r>
            <a:endParaRPr lang="en-US" sz="1250" dirty="0"/>
          </a:p>
        </p:txBody>
      </p:sp>
      <p:sp>
        <p:nvSpPr>
          <p:cNvPr id="27" name="Text 24"/>
          <p:cNvSpPr/>
          <p:nvPr/>
        </p:nvSpPr>
        <p:spPr>
          <a:xfrm>
            <a:off x="7452360" y="3209544"/>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Action pending with owner and target date; escalate if overdue.</a:t>
            </a:r>
            <a:endParaRPr lang="en-US" sz="1100" dirty="0"/>
          </a:p>
        </p:txBody>
      </p:sp>
      <p:sp>
        <p:nvSpPr>
          <p:cNvPr id="28" name="Text 25"/>
          <p:cNvSpPr/>
          <p:nvPr/>
        </p:nvSpPr>
        <p:spPr>
          <a:xfrm>
            <a:off x="457200" y="4937760"/>
            <a:ext cx="10607040" cy="502920"/>
          </a:xfrm>
          <a:prstGeom prst="rect">
            <a:avLst/>
          </a:prstGeom>
          <a:noFill/>
          <a:ln/>
        </p:spPr>
        <p:txBody>
          <a:bodyPr wrap="square" rtlCol="0" anchor="ctr"/>
          <a:lstStyle/>
          <a:p>
            <a:pPr marL="0" indent="0">
              <a:buNone/>
            </a:pPr>
            <a:r>
              <a:rPr lang="en-US" sz="1100" i="1" dirty="0">
                <a:solidFill>
                  <a:srgbClr val="5A626E"/>
                </a:solidFill>
                <a:latin typeface="Calibri" pitchFamily="34" charset="0"/>
                <a:ea typeface="Calibri" pitchFamily="34" charset="-122"/>
                <a:cs typeface="Calibri" pitchFamily="34" charset="-120"/>
              </a:rPr>
              <a:t>Meeting deliverables: MoM within 48 hours · updated Stakeholder Register · Action Tracker with target dates · Engagement Dashboard of critical stakeholders and approvals.</a:t>
            </a:r>
            <a:endParaRPr lang="en-US" sz="1100" dirty="0"/>
          </a:p>
        </p:txBody>
      </p:sp>
      <p:sp>
        <p:nvSpPr>
          <p:cNvPr id="30" name="Text 2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MEETING AGENDAS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What Every Stakeholder Meeting Covers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Internal Coordination Meeting</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Attendance, previous MoM, Register updates, new issues and dependencies.</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Design, schedule, permits / NOCs, risks, RFIs, actions and closure targets.</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External Coordination Meeting</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Client, PMC, authorities, subcontractors: open issues and action status.</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Permits / NOCs via GRO, access, utilities, risks and upcoming submissions.</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Communication &amp; Follow-up</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Every issue logged by transmittal, email or MoM; owners acknowledge actions.</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Overdue items escalated to PM and PMC; approvals linked to the schedule.</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05</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Escalation Matrix &amp; KPIs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Six escalation levels with response times — and how we measure engagement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ESCALATION MATRIX</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Escalation Levels 1 – 3</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1 — Project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1–3 working days. Routine stakeholder issues and minor coordination conflicts, with no policy or contract breach. The Project Manager / Interface Manager engage the stakeholder, clarify scope and constraints, and record the issue in the Stakeholder Register.</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2 — Project Management Review</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3–5 working days. Issue not resolved at project level, or with potential schedule or cost impact. The Project Manager and discipline leads coordinate internally (Technical, Planning, QA/QC, HSE) and issue a formal response to the stakeholder.</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3 — Contract &amp; Commercial Review</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5–7 working days. Proposed solution conflicts with MAH policy or the contract, or has financial implications. The Contract / Commercial Manager assesses the risks, advises on variations, claims or mitigation and gives a written recommendation.</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ESCALATION MATRIX</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Escalation Levels 4 – 6</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4 — Program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7–10 working days. Multi-project impact, authority-level conflict, or high reputational or delivery risk. The Projects Director leads strategic engagement, cross-project alignment and direct negotiation with the stakeholder.</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5 — Sector / Executive</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As required / urgent. Non-compliant external request, critical legal, policy or reputational risk, or deadlock with an authority. Sector Head / Executive Management gives the final decision, communicates authority-to-authority and approves the strategic position.</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6 — Legal / Corporate Governance</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As required. Legal exposure, regulatory non-compliance or contractual dispute. Legal Counsel / Corporate Governance provide a legal opinion, formal notices or claims, and risk-containment actions.</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MONITORING</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Performance Indicators</a:t>
            </a:r>
            <a:endParaRPr lang="en-US" sz="3000" dirty="0"/>
          </a:p>
        </p:txBody>
      </p:sp>
      <p:sp>
        <p:nvSpPr>
          <p:cNvPr id="5" name="Shape 2"/>
          <p:cNvSpPr/>
          <p:nvPr/>
        </p:nvSpPr>
        <p:spPr>
          <a:xfrm>
            <a:off x="502920" y="1600200"/>
            <a:ext cx="3429000" cy="1874520"/>
          </a:xfrm>
          <a:prstGeom prst="roundRect">
            <a:avLst>
              <a:gd name="adj" fmla="val 3902"/>
            </a:avLst>
          </a:prstGeom>
          <a:solidFill>
            <a:srgbClr val="004549"/>
          </a:solidFill>
          <a:ln/>
        </p:spPr>
        <p:txBody>
          <a:bodyPr/>
          <a:lstStyle/>
          <a:p>
            <a:endParaRPr lang="en-US"/>
          </a:p>
        </p:txBody>
      </p:sp>
      <p:sp>
        <p:nvSpPr>
          <p:cNvPr id="6" name="Text 3"/>
          <p:cNvSpPr/>
          <p:nvPr/>
        </p:nvSpPr>
        <p:spPr>
          <a:xfrm>
            <a:off x="50292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≥85%</a:t>
            </a:r>
            <a:endParaRPr lang="en-US" sz="3200" dirty="0"/>
          </a:p>
        </p:txBody>
      </p:sp>
      <p:sp>
        <p:nvSpPr>
          <p:cNvPr id="7" name="Text 4"/>
          <p:cNvSpPr/>
          <p:nvPr/>
        </p:nvSpPr>
        <p:spPr>
          <a:xfrm>
            <a:off x="68580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Stakeholder issues</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resolved on time</a:t>
            </a:r>
            <a:endParaRPr lang="en-US" sz="1150" dirty="0"/>
          </a:p>
        </p:txBody>
      </p:sp>
      <p:sp>
        <p:nvSpPr>
          <p:cNvPr id="8" name="Shape 5"/>
          <p:cNvSpPr/>
          <p:nvPr/>
        </p:nvSpPr>
        <p:spPr>
          <a:xfrm>
            <a:off x="4114800" y="1600200"/>
            <a:ext cx="3429000" cy="1874520"/>
          </a:xfrm>
          <a:prstGeom prst="roundRect">
            <a:avLst>
              <a:gd name="adj" fmla="val 3902"/>
            </a:avLst>
          </a:prstGeom>
          <a:solidFill>
            <a:srgbClr val="004549"/>
          </a:solidFill>
          <a:ln/>
        </p:spPr>
        <p:txBody>
          <a:bodyPr/>
          <a:lstStyle/>
          <a:p>
            <a:endParaRPr lang="en-US"/>
          </a:p>
        </p:txBody>
      </p:sp>
      <p:sp>
        <p:nvSpPr>
          <p:cNvPr id="9" name="Text 6"/>
          <p:cNvSpPr/>
          <p:nvPr/>
        </p:nvSpPr>
        <p:spPr>
          <a:xfrm>
            <a:off x="411480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0" name="Text 7"/>
          <p:cNvSpPr/>
          <p:nvPr/>
        </p:nvSpPr>
        <p:spPr>
          <a:xfrm>
            <a:off x="429768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Stakeholder meetings</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held as scheduled</a:t>
            </a:r>
            <a:endParaRPr lang="en-US" sz="1150" dirty="0"/>
          </a:p>
        </p:txBody>
      </p:sp>
      <p:sp>
        <p:nvSpPr>
          <p:cNvPr id="11" name="Shape 8"/>
          <p:cNvSpPr/>
          <p:nvPr/>
        </p:nvSpPr>
        <p:spPr>
          <a:xfrm>
            <a:off x="7726680" y="1600200"/>
            <a:ext cx="3429000" cy="1874520"/>
          </a:xfrm>
          <a:prstGeom prst="roundRect">
            <a:avLst>
              <a:gd name="adj" fmla="val 3902"/>
            </a:avLst>
          </a:prstGeom>
          <a:solidFill>
            <a:srgbClr val="004549"/>
          </a:solidFill>
          <a:ln/>
        </p:spPr>
        <p:txBody>
          <a:bodyPr/>
          <a:lstStyle/>
          <a:p>
            <a:endParaRPr lang="en-US"/>
          </a:p>
        </p:txBody>
      </p:sp>
      <p:sp>
        <p:nvSpPr>
          <p:cNvPr id="12" name="Text 9"/>
          <p:cNvSpPr/>
          <p:nvPr/>
        </p:nvSpPr>
        <p:spPr>
          <a:xfrm>
            <a:off x="772668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3" name="Text 10"/>
          <p:cNvSpPr/>
          <p:nvPr/>
        </p:nvSpPr>
        <p:spPr>
          <a:xfrm>
            <a:off x="790956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MoM issued within</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48 hours</a:t>
            </a:r>
            <a:endParaRPr lang="en-US" sz="1150" dirty="0"/>
          </a:p>
        </p:txBody>
      </p:sp>
      <p:sp>
        <p:nvSpPr>
          <p:cNvPr id="14" name="Shape 11"/>
          <p:cNvSpPr/>
          <p:nvPr/>
        </p:nvSpPr>
        <p:spPr>
          <a:xfrm>
            <a:off x="502920" y="3657600"/>
            <a:ext cx="3429000" cy="1874520"/>
          </a:xfrm>
          <a:prstGeom prst="roundRect">
            <a:avLst>
              <a:gd name="adj" fmla="val 3902"/>
            </a:avLst>
          </a:prstGeom>
          <a:solidFill>
            <a:srgbClr val="D9ECE7"/>
          </a:solidFill>
          <a:ln/>
        </p:spPr>
        <p:txBody>
          <a:bodyPr/>
          <a:lstStyle/>
          <a:p>
            <a:endParaRPr lang="en-US"/>
          </a:p>
        </p:txBody>
      </p:sp>
      <p:sp>
        <p:nvSpPr>
          <p:cNvPr id="15" name="Text 12"/>
          <p:cNvSpPr/>
          <p:nvPr/>
        </p:nvSpPr>
        <p:spPr>
          <a:xfrm>
            <a:off x="50292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≥90%</a:t>
            </a:r>
            <a:endParaRPr lang="en-US" sz="3200" dirty="0"/>
          </a:p>
        </p:txBody>
      </p:sp>
      <p:sp>
        <p:nvSpPr>
          <p:cNvPr id="16" name="Text 13"/>
          <p:cNvSpPr/>
          <p:nvPr/>
        </p:nvSpPr>
        <p:spPr>
          <a:xfrm>
            <a:off x="68580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Feedback actions closed</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by target date</a:t>
            </a:r>
            <a:endParaRPr lang="en-US" sz="1150" dirty="0"/>
          </a:p>
        </p:txBody>
      </p:sp>
      <p:sp>
        <p:nvSpPr>
          <p:cNvPr id="17" name="Shape 14"/>
          <p:cNvSpPr/>
          <p:nvPr/>
        </p:nvSpPr>
        <p:spPr>
          <a:xfrm>
            <a:off x="4114800" y="3657600"/>
            <a:ext cx="3429000" cy="1874520"/>
          </a:xfrm>
          <a:prstGeom prst="roundRect">
            <a:avLst>
              <a:gd name="adj" fmla="val 3902"/>
            </a:avLst>
          </a:prstGeom>
          <a:solidFill>
            <a:srgbClr val="D9ECE7"/>
          </a:solidFill>
          <a:ln/>
        </p:spPr>
        <p:txBody>
          <a:bodyPr/>
          <a:lstStyle/>
          <a:p>
            <a:endParaRPr lang="en-US"/>
          </a:p>
        </p:txBody>
      </p:sp>
      <p:sp>
        <p:nvSpPr>
          <p:cNvPr id="18" name="Text 15"/>
          <p:cNvSpPr/>
          <p:nvPr/>
        </p:nvSpPr>
        <p:spPr>
          <a:xfrm>
            <a:off x="411480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≥4 / 5</a:t>
            </a:r>
            <a:endParaRPr lang="en-US" sz="3200" dirty="0"/>
          </a:p>
        </p:txBody>
      </p:sp>
      <p:sp>
        <p:nvSpPr>
          <p:cNvPr id="19" name="Text 16"/>
          <p:cNvSpPr/>
          <p:nvPr/>
        </p:nvSpPr>
        <p:spPr>
          <a:xfrm>
            <a:off x="429768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Stakeholder satisfaction</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score (surveys)</a:t>
            </a:r>
            <a:endParaRPr lang="en-US" sz="1150" dirty="0"/>
          </a:p>
        </p:txBody>
      </p:sp>
      <p:sp>
        <p:nvSpPr>
          <p:cNvPr id="20" name="Shape 17"/>
          <p:cNvSpPr/>
          <p:nvPr/>
        </p:nvSpPr>
        <p:spPr>
          <a:xfrm>
            <a:off x="7726680" y="3657600"/>
            <a:ext cx="3429000" cy="1874520"/>
          </a:xfrm>
          <a:prstGeom prst="roundRect">
            <a:avLst>
              <a:gd name="adj" fmla="val 3902"/>
            </a:avLst>
          </a:prstGeom>
          <a:solidFill>
            <a:srgbClr val="D9ECE7"/>
          </a:solidFill>
          <a:ln/>
        </p:spPr>
        <p:txBody>
          <a:bodyPr/>
          <a:lstStyle/>
          <a:p>
            <a:endParaRPr lang="en-US"/>
          </a:p>
        </p:txBody>
      </p:sp>
      <p:sp>
        <p:nvSpPr>
          <p:cNvPr id="21" name="Text 18"/>
          <p:cNvSpPr/>
          <p:nvPr/>
        </p:nvSpPr>
        <p:spPr>
          <a:xfrm>
            <a:off x="772668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Monthly</a:t>
            </a:r>
            <a:endParaRPr lang="en-US" sz="3200" dirty="0"/>
          </a:p>
        </p:txBody>
      </p:sp>
      <p:sp>
        <p:nvSpPr>
          <p:cNvPr id="22" name="Text 19"/>
          <p:cNvSpPr/>
          <p:nvPr/>
        </p:nvSpPr>
        <p:spPr>
          <a:xfrm>
            <a:off x="790956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KPI dashboard &amp; summary</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report to management</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06</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Governance, Exceptions &amp; Closeout</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Decisions within authority, controlled deviations and lessons learned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GOVERNANCE PRIORITY</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Governance Priority &amp; Decision Authority</a:t>
            </a:r>
            <a:endParaRPr lang="en-US" sz="3000" dirty="0"/>
          </a:p>
        </p:txBody>
      </p:sp>
      <p:sp>
        <p:nvSpPr>
          <p:cNvPr id="5" name="Shape 2"/>
          <p:cNvSpPr/>
          <p:nvPr/>
        </p:nvSpPr>
        <p:spPr>
          <a:xfrm>
            <a:off x="502920" y="1281888"/>
            <a:ext cx="5212080" cy="4434840"/>
          </a:xfrm>
          <a:prstGeom prst="roundRect">
            <a:avLst>
              <a:gd name="adj" fmla="val 1649"/>
            </a:avLst>
          </a:prstGeom>
          <a:solidFill>
            <a:srgbClr val="D9ECE7"/>
          </a:solidFill>
          <a:ln/>
        </p:spPr>
        <p:txBody>
          <a:bodyPr/>
          <a:lstStyle/>
          <a:p>
            <a:endParaRPr lang="en-US"/>
          </a:p>
        </p:txBody>
      </p:sp>
      <p:sp>
        <p:nvSpPr>
          <p:cNvPr id="6" name="Text 3"/>
          <p:cNvSpPr/>
          <p:nvPr/>
        </p:nvSpPr>
        <p:spPr>
          <a:xfrm>
            <a:off x="777240" y="1464768"/>
            <a:ext cx="46634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Decision Authority (Governance Matrix)</a:t>
            </a:r>
            <a:endParaRPr lang="en-US" sz="1500" dirty="0"/>
          </a:p>
        </p:txBody>
      </p:sp>
      <p:sp>
        <p:nvSpPr>
          <p:cNvPr id="7" name="Shape 4"/>
          <p:cNvSpPr/>
          <p:nvPr/>
        </p:nvSpPr>
        <p:spPr>
          <a:xfrm>
            <a:off x="822960" y="2040840"/>
            <a:ext cx="82296" cy="82296"/>
          </a:xfrm>
          <a:prstGeom prst="ellipse">
            <a:avLst/>
          </a:prstGeom>
          <a:solidFill>
            <a:srgbClr val="43A99A"/>
          </a:solidFill>
          <a:ln/>
        </p:spPr>
        <p:txBody>
          <a:bodyPr/>
          <a:lstStyle/>
          <a:p>
            <a:endParaRPr lang="en-US"/>
          </a:p>
        </p:txBody>
      </p:sp>
      <p:sp>
        <p:nvSpPr>
          <p:cNvPr id="8" name="Text 5"/>
          <p:cNvSpPr/>
          <p:nvPr/>
        </p:nvSpPr>
        <p:spPr>
          <a:xfrm>
            <a:off x="1051560" y="191282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Routine coordination → Stakeholder Mgr</a:t>
            </a:r>
            <a:endParaRPr lang="en-US" sz="1200" dirty="0"/>
          </a:p>
        </p:txBody>
      </p:sp>
      <p:sp>
        <p:nvSpPr>
          <p:cNvPr id="9" name="Shape 6"/>
          <p:cNvSpPr/>
          <p:nvPr/>
        </p:nvSpPr>
        <p:spPr>
          <a:xfrm>
            <a:off x="822960" y="2607768"/>
            <a:ext cx="82296" cy="82296"/>
          </a:xfrm>
          <a:prstGeom prst="ellipse">
            <a:avLst/>
          </a:prstGeom>
          <a:solidFill>
            <a:srgbClr val="43A99A"/>
          </a:solidFill>
          <a:ln/>
        </p:spPr>
        <p:txBody>
          <a:bodyPr/>
          <a:lstStyle/>
          <a:p>
            <a:endParaRPr lang="en-US"/>
          </a:p>
        </p:txBody>
      </p:sp>
      <p:sp>
        <p:nvSpPr>
          <p:cNvPr id="10" name="Text 7"/>
          <p:cNvSpPr/>
          <p:nvPr/>
        </p:nvSpPr>
        <p:spPr>
          <a:xfrm>
            <a:off x="1051560" y="2479752"/>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Technical workaround → Project Manager</a:t>
            </a:r>
            <a:endParaRPr lang="en-US" sz="1200" dirty="0"/>
          </a:p>
        </p:txBody>
      </p:sp>
      <p:sp>
        <p:nvSpPr>
          <p:cNvPr id="11" name="Shape 8"/>
          <p:cNvSpPr/>
          <p:nvPr/>
        </p:nvSpPr>
        <p:spPr>
          <a:xfrm>
            <a:off x="822960" y="3174696"/>
            <a:ext cx="82296" cy="82296"/>
          </a:xfrm>
          <a:prstGeom prst="ellipse">
            <a:avLst/>
          </a:prstGeom>
          <a:solidFill>
            <a:srgbClr val="43A99A"/>
          </a:solidFill>
          <a:ln/>
        </p:spPr>
        <p:txBody>
          <a:bodyPr/>
          <a:lstStyle/>
          <a:p>
            <a:endParaRPr lang="en-US"/>
          </a:p>
        </p:txBody>
      </p:sp>
      <p:sp>
        <p:nvSpPr>
          <p:cNvPr id="12" name="Text 9"/>
          <p:cNvSpPr/>
          <p:nvPr/>
        </p:nvSpPr>
        <p:spPr>
          <a:xfrm>
            <a:off x="1051560" y="3046680"/>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Contract / cost impact → Commercial Mgr</a:t>
            </a:r>
            <a:endParaRPr lang="en-US" sz="1200" dirty="0"/>
          </a:p>
        </p:txBody>
      </p:sp>
      <p:sp>
        <p:nvSpPr>
          <p:cNvPr id="13" name="Shape 10"/>
          <p:cNvSpPr/>
          <p:nvPr/>
        </p:nvSpPr>
        <p:spPr>
          <a:xfrm>
            <a:off x="822960" y="3741624"/>
            <a:ext cx="82296" cy="82296"/>
          </a:xfrm>
          <a:prstGeom prst="ellipse">
            <a:avLst/>
          </a:prstGeom>
          <a:solidFill>
            <a:srgbClr val="43A99A"/>
          </a:solidFill>
          <a:ln/>
        </p:spPr>
        <p:txBody>
          <a:bodyPr/>
          <a:lstStyle/>
          <a:p>
            <a:endParaRPr lang="en-US"/>
          </a:p>
        </p:txBody>
      </p:sp>
      <p:sp>
        <p:nvSpPr>
          <p:cNvPr id="14" name="Text 11"/>
          <p:cNvSpPr/>
          <p:nvPr/>
        </p:nvSpPr>
        <p:spPr>
          <a:xfrm>
            <a:off x="1051560" y="3613608"/>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Authority / regulatory → Program Director</a:t>
            </a:r>
            <a:endParaRPr lang="en-US" sz="1200" dirty="0"/>
          </a:p>
        </p:txBody>
      </p:sp>
      <p:sp>
        <p:nvSpPr>
          <p:cNvPr id="15" name="Shape 12"/>
          <p:cNvSpPr/>
          <p:nvPr/>
        </p:nvSpPr>
        <p:spPr>
          <a:xfrm>
            <a:off x="822960" y="4308552"/>
            <a:ext cx="82296" cy="82296"/>
          </a:xfrm>
          <a:prstGeom prst="ellipse">
            <a:avLst/>
          </a:prstGeom>
          <a:solidFill>
            <a:srgbClr val="43A99A"/>
          </a:solidFill>
          <a:ln/>
        </p:spPr>
        <p:txBody>
          <a:bodyPr/>
          <a:lstStyle/>
          <a:p>
            <a:endParaRPr lang="en-US"/>
          </a:p>
        </p:txBody>
      </p:sp>
      <p:sp>
        <p:nvSpPr>
          <p:cNvPr id="16" name="Text 13"/>
          <p:cNvSpPr/>
          <p:nvPr/>
        </p:nvSpPr>
        <p:spPr>
          <a:xfrm>
            <a:off x="1051560" y="4180536"/>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High risk / reputation → Sector Mgmt</a:t>
            </a:r>
            <a:endParaRPr lang="en-US" sz="1200" dirty="0"/>
          </a:p>
        </p:txBody>
      </p:sp>
      <p:sp>
        <p:nvSpPr>
          <p:cNvPr id="17" name="Shape 14"/>
          <p:cNvSpPr/>
          <p:nvPr/>
        </p:nvSpPr>
        <p:spPr>
          <a:xfrm>
            <a:off x="822960" y="4875480"/>
            <a:ext cx="82296" cy="82296"/>
          </a:xfrm>
          <a:prstGeom prst="ellipse">
            <a:avLst/>
          </a:prstGeom>
          <a:solidFill>
            <a:srgbClr val="43A99A"/>
          </a:solidFill>
          <a:ln/>
        </p:spPr>
        <p:txBody>
          <a:bodyPr/>
          <a:lstStyle/>
          <a:p>
            <a:endParaRPr lang="en-US"/>
          </a:p>
        </p:txBody>
      </p:sp>
      <p:sp>
        <p:nvSpPr>
          <p:cNvPr id="18" name="Text 15"/>
          <p:cNvSpPr/>
          <p:nvPr/>
        </p:nvSpPr>
        <p:spPr>
          <a:xfrm>
            <a:off x="1051560" y="474746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Policy deviation → Executive approval</a:t>
            </a:r>
            <a:endParaRPr lang="en-US" sz="1200" dirty="0"/>
          </a:p>
        </p:txBody>
      </p:sp>
      <p:sp>
        <p:nvSpPr>
          <p:cNvPr id="19" name="Text 16"/>
          <p:cNvSpPr/>
          <p:nvPr/>
        </p:nvSpPr>
        <p:spPr>
          <a:xfrm>
            <a:off x="777240" y="5259528"/>
            <a:ext cx="4663440" cy="457200"/>
          </a:xfrm>
          <a:prstGeom prst="rect">
            <a:avLst/>
          </a:prstGeom>
          <a:noFill/>
          <a:ln/>
        </p:spPr>
        <p:txBody>
          <a:bodyPr wrap="square" rtlCol="0" anchor="ctr"/>
          <a:lstStyle/>
          <a:p>
            <a:pPr marL="0" indent="0">
              <a:buNone/>
            </a:pPr>
            <a:r>
              <a:rPr lang="en-US" sz="1000" i="1" dirty="0">
                <a:solidFill>
                  <a:srgbClr val="5A626E"/>
                </a:solidFill>
                <a:latin typeface="Calibri" pitchFamily="34" charset="0"/>
                <a:ea typeface="Calibri" pitchFamily="34" charset="-122"/>
                <a:cs typeface="Calibri" pitchFamily="34" charset="-120"/>
              </a:rPr>
              <a:t>Requests are checked against policy, contract, law and HSE / quality / ethics; commitments beyond authority are escalated first.</a:t>
            </a:r>
            <a:endParaRPr lang="en-US" sz="1000" dirty="0"/>
          </a:p>
        </p:txBody>
      </p:sp>
      <p:sp>
        <p:nvSpPr>
          <p:cNvPr id="20" name="Shape 17"/>
          <p:cNvSpPr/>
          <p:nvPr/>
        </p:nvSpPr>
        <p:spPr>
          <a:xfrm>
            <a:off x="5989320" y="1247380"/>
            <a:ext cx="5715000" cy="4709160"/>
          </a:xfrm>
          <a:prstGeom prst="roundRect">
            <a:avLst>
              <a:gd name="adj" fmla="val 1649"/>
            </a:avLst>
          </a:prstGeom>
          <a:solidFill>
            <a:srgbClr val="FFFFFF"/>
          </a:solidFill>
          <a:ln w="12700">
            <a:solidFill>
              <a:srgbClr val="DCEAE7"/>
            </a:solidFill>
            <a:prstDash val="solid"/>
          </a:ln>
        </p:spPr>
        <p:txBody>
          <a:bodyPr/>
          <a:lstStyle/>
          <a:p>
            <a:endParaRPr lang="en-US"/>
          </a:p>
        </p:txBody>
      </p:sp>
      <p:sp>
        <p:nvSpPr>
          <p:cNvPr id="21" name="Text 18"/>
          <p:cNvSpPr/>
          <p:nvPr/>
        </p:nvSpPr>
        <p:spPr>
          <a:xfrm>
            <a:off x="6263640" y="1430260"/>
            <a:ext cx="51206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Resolution Flow (SEP)</a:t>
            </a:r>
            <a:endParaRPr lang="en-US" sz="1500" dirty="0"/>
          </a:p>
        </p:txBody>
      </p:sp>
      <p:sp>
        <p:nvSpPr>
          <p:cNvPr id="22" name="Shape 19"/>
          <p:cNvSpPr/>
          <p:nvPr/>
        </p:nvSpPr>
        <p:spPr>
          <a:xfrm>
            <a:off x="6263640" y="1933180"/>
            <a:ext cx="1481328" cy="502920"/>
          </a:xfrm>
          <a:prstGeom prst="roundRect">
            <a:avLst>
              <a:gd name="adj" fmla="val 49091"/>
            </a:avLst>
          </a:prstGeom>
          <a:solidFill>
            <a:srgbClr val="43A99A"/>
          </a:solidFill>
          <a:ln/>
        </p:spPr>
        <p:txBody>
          <a:bodyPr/>
          <a:lstStyle/>
          <a:p>
            <a:endParaRPr lang="en-US"/>
          </a:p>
        </p:txBody>
      </p:sp>
      <p:sp>
        <p:nvSpPr>
          <p:cNvPr id="23" name="Text 20"/>
          <p:cNvSpPr/>
          <p:nvPr/>
        </p:nvSpPr>
        <p:spPr>
          <a:xfrm>
            <a:off x="6263640"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Engage</a:t>
            </a:r>
            <a:endParaRPr lang="en-US" sz="1050" dirty="0"/>
          </a:p>
        </p:txBody>
      </p:sp>
      <p:sp>
        <p:nvSpPr>
          <p:cNvPr id="24" name="Shape 21"/>
          <p:cNvSpPr/>
          <p:nvPr/>
        </p:nvSpPr>
        <p:spPr>
          <a:xfrm>
            <a:off x="7891272" y="1933180"/>
            <a:ext cx="1481328" cy="502920"/>
          </a:xfrm>
          <a:prstGeom prst="roundRect">
            <a:avLst>
              <a:gd name="adj" fmla="val 49091"/>
            </a:avLst>
          </a:prstGeom>
          <a:solidFill>
            <a:srgbClr val="43A99A"/>
          </a:solidFill>
          <a:ln/>
        </p:spPr>
        <p:txBody>
          <a:bodyPr/>
          <a:lstStyle/>
          <a:p>
            <a:endParaRPr lang="en-US"/>
          </a:p>
        </p:txBody>
      </p:sp>
      <p:sp>
        <p:nvSpPr>
          <p:cNvPr id="25" name="Text 22"/>
          <p:cNvSpPr/>
          <p:nvPr/>
        </p:nvSpPr>
        <p:spPr>
          <a:xfrm>
            <a:off x="7891272"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Assess</a:t>
            </a:r>
            <a:endParaRPr lang="en-US" sz="1050" dirty="0"/>
          </a:p>
        </p:txBody>
      </p:sp>
      <p:sp>
        <p:nvSpPr>
          <p:cNvPr id="26" name="Shape 23"/>
          <p:cNvSpPr/>
          <p:nvPr/>
        </p:nvSpPr>
        <p:spPr>
          <a:xfrm>
            <a:off x="9518904" y="1933180"/>
            <a:ext cx="1481328" cy="502920"/>
          </a:xfrm>
          <a:prstGeom prst="roundRect">
            <a:avLst>
              <a:gd name="adj" fmla="val 49091"/>
            </a:avLst>
          </a:prstGeom>
          <a:solidFill>
            <a:srgbClr val="43A99A"/>
          </a:solidFill>
          <a:ln/>
        </p:spPr>
        <p:txBody>
          <a:bodyPr/>
          <a:lstStyle/>
          <a:p>
            <a:endParaRPr lang="en-US"/>
          </a:p>
        </p:txBody>
      </p:sp>
      <p:sp>
        <p:nvSpPr>
          <p:cNvPr id="27" name="Text 24"/>
          <p:cNvSpPr/>
          <p:nvPr/>
        </p:nvSpPr>
        <p:spPr>
          <a:xfrm>
            <a:off x="9518904"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Respond</a:t>
            </a:r>
            <a:endParaRPr lang="en-US" sz="1050" dirty="0"/>
          </a:p>
        </p:txBody>
      </p:sp>
      <p:sp>
        <p:nvSpPr>
          <p:cNvPr id="28" name="Shape 25"/>
          <p:cNvSpPr/>
          <p:nvPr/>
        </p:nvSpPr>
        <p:spPr>
          <a:xfrm>
            <a:off x="6263640" y="2591548"/>
            <a:ext cx="1481328" cy="502920"/>
          </a:xfrm>
          <a:prstGeom prst="roundRect">
            <a:avLst>
              <a:gd name="adj" fmla="val 49091"/>
            </a:avLst>
          </a:prstGeom>
          <a:solidFill>
            <a:srgbClr val="43A99A"/>
          </a:solidFill>
          <a:ln/>
        </p:spPr>
        <p:txBody>
          <a:bodyPr/>
          <a:lstStyle/>
          <a:p>
            <a:endParaRPr lang="en-US"/>
          </a:p>
        </p:txBody>
      </p:sp>
      <p:sp>
        <p:nvSpPr>
          <p:cNvPr id="29" name="Text 26"/>
          <p:cNvSpPr/>
          <p:nvPr/>
        </p:nvSpPr>
        <p:spPr>
          <a:xfrm>
            <a:off x="6263640"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Escalate</a:t>
            </a:r>
            <a:endParaRPr lang="en-US" sz="1050" dirty="0"/>
          </a:p>
        </p:txBody>
      </p:sp>
      <p:sp>
        <p:nvSpPr>
          <p:cNvPr id="30" name="Shape 27"/>
          <p:cNvSpPr/>
          <p:nvPr/>
        </p:nvSpPr>
        <p:spPr>
          <a:xfrm>
            <a:off x="7891272" y="2591548"/>
            <a:ext cx="1481328" cy="502920"/>
          </a:xfrm>
          <a:prstGeom prst="roundRect">
            <a:avLst>
              <a:gd name="adj" fmla="val 49091"/>
            </a:avLst>
          </a:prstGeom>
          <a:solidFill>
            <a:srgbClr val="43A99A"/>
          </a:solidFill>
          <a:ln/>
        </p:spPr>
        <p:txBody>
          <a:bodyPr/>
          <a:lstStyle/>
          <a:p>
            <a:endParaRPr lang="en-US"/>
          </a:p>
        </p:txBody>
      </p:sp>
      <p:sp>
        <p:nvSpPr>
          <p:cNvPr id="31" name="Text 28"/>
          <p:cNvSpPr/>
          <p:nvPr/>
        </p:nvSpPr>
        <p:spPr>
          <a:xfrm>
            <a:off x="7891272"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Decide</a:t>
            </a:r>
            <a:endParaRPr lang="en-US" sz="1050" dirty="0"/>
          </a:p>
        </p:txBody>
      </p:sp>
      <p:sp>
        <p:nvSpPr>
          <p:cNvPr id="32" name="Shape 29"/>
          <p:cNvSpPr/>
          <p:nvPr/>
        </p:nvSpPr>
        <p:spPr>
          <a:xfrm>
            <a:off x="9518904" y="2591548"/>
            <a:ext cx="1481328" cy="502920"/>
          </a:xfrm>
          <a:prstGeom prst="roundRect">
            <a:avLst>
              <a:gd name="adj" fmla="val 49091"/>
            </a:avLst>
          </a:prstGeom>
          <a:solidFill>
            <a:srgbClr val="43A99A"/>
          </a:solidFill>
          <a:ln/>
        </p:spPr>
        <p:txBody>
          <a:bodyPr/>
          <a:lstStyle/>
          <a:p>
            <a:endParaRPr lang="en-US"/>
          </a:p>
        </p:txBody>
      </p:sp>
      <p:sp>
        <p:nvSpPr>
          <p:cNvPr id="33" name="Text 30"/>
          <p:cNvSpPr/>
          <p:nvPr/>
        </p:nvSpPr>
        <p:spPr>
          <a:xfrm>
            <a:off x="9518904"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Record*</a:t>
            </a:r>
            <a:endParaRPr lang="en-US" sz="1050" dirty="0"/>
          </a:p>
        </p:txBody>
      </p:sp>
      <p:sp>
        <p:nvSpPr>
          <p:cNvPr id="34" name="Text 31"/>
          <p:cNvSpPr/>
          <p:nvPr/>
        </p:nvSpPr>
        <p:spPr>
          <a:xfrm>
            <a:off x="6263640" y="3304780"/>
            <a:ext cx="5166360" cy="685800"/>
          </a:xfrm>
          <a:prstGeom prst="rect">
            <a:avLst/>
          </a:prstGeom>
          <a:noFill/>
          <a:ln/>
        </p:spPr>
        <p:txBody>
          <a:bodyPr wrap="square" rtlCol="0" anchor="ctr"/>
          <a:lstStyle/>
          <a:p>
            <a:r>
              <a:rPr lang="en-US" sz="1200" dirty="0">
                <a:solidFill>
                  <a:srgbClr val="2F3235"/>
                </a:solidFill>
                <a:latin typeface="Calibri" pitchFamily="34" charset="0"/>
                <a:ea typeface="Calibri" pitchFamily="34" charset="-122"/>
                <a:cs typeface="Calibri" pitchFamily="34" charset="-120"/>
              </a:rPr>
              <a:t>*MAH never proceeds with a solution that breaches policy, contract, statutory requirements or governance — regardless of external pressure. Decisions go to the Register and Issue &amp; Decision Log.</a:t>
            </a:r>
            <a:endParaRPr lang="en-US" sz="1200" dirty="0"/>
          </a:p>
        </p:txBody>
      </p:sp>
      <p:sp>
        <p:nvSpPr>
          <p:cNvPr id="35" name="Text 32"/>
          <p:cNvSpPr/>
          <p:nvPr/>
        </p:nvSpPr>
        <p:spPr>
          <a:xfrm>
            <a:off x="6263640" y="4127740"/>
            <a:ext cx="4572000" cy="32004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High-impact triggers</a:t>
            </a:r>
            <a:endParaRPr lang="en-US" sz="1250" dirty="0"/>
          </a:p>
        </p:txBody>
      </p:sp>
      <p:sp>
        <p:nvSpPr>
          <p:cNvPr id="36" name="Text 33"/>
          <p:cNvSpPr/>
          <p:nvPr/>
        </p:nvSpPr>
        <p:spPr>
          <a:xfrm>
            <a:off x="6263640" y="4539220"/>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Schedule delay over 30 days</a:t>
            </a:r>
            <a:endParaRPr lang="en-US" sz="1100" dirty="0"/>
          </a:p>
        </p:txBody>
      </p:sp>
      <p:sp>
        <p:nvSpPr>
          <p:cNvPr id="37" name="Text 34"/>
          <p:cNvSpPr/>
          <p:nvPr/>
        </p:nvSpPr>
        <p:spPr>
          <a:xfrm>
            <a:off x="6263640" y="4877548"/>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Major budget impact</a:t>
            </a:r>
            <a:endParaRPr lang="en-US" sz="1100" dirty="0"/>
          </a:p>
        </p:txBody>
      </p:sp>
      <p:sp>
        <p:nvSpPr>
          <p:cNvPr id="38" name="Text 35"/>
          <p:cNvSpPr/>
          <p:nvPr/>
        </p:nvSpPr>
        <p:spPr>
          <a:xfrm>
            <a:off x="6263640" y="5215876"/>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Specification or critical safety risk</a:t>
            </a:r>
            <a:endParaRPr lang="en-US" sz="1100" dirty="0"/>
          </a:p>
        </p:txBody>
      </p:sp>
      <p:sp>
        <p:nvSpPr>
          <p:cNvPr id="39" name="Text 36"/>
          <p:cNvSpPr/>
          <p:nvPr/>
        </p:nvSpPr>
        <p:spPr>
          <a:xfrm>
            <a:off x="6263640" y="5554204"/>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Authority or public reputation</a:t>
            </a:r>
            <a:endParaRPr lang="en-US" sz="1100" dirty="0"/>
          </a:p>
        </p:txBody>
      </p:sp>
      <p:sp>
        <p:nvSpPr>
          <p:cNvPr id="41" name="Text 3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EXCEPTIONS &amp; CLOSURE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Exceptions, Lessons Learned &amp; Our Commitment</a:t>
            </a:r>
            <a:endParaRPr lang="en-US" sz="3000" dirty="0"/>
          </a:p>
        </p:txBody>
      </p:sp>
      <p:sp>
        <p:nvSpPr>
          <p:cNvPr id="5" name="Shape 2"/>
          <p:cNvSpPr/>
          <p:nvPr/>
        </p:nvSpPr>
        <p:spPr>
          <a:xfrm>
            <a:off x="502920" y="1581912"/>
            <a:ext cx="100584" cy="100584"/>
          </a:xfrm>
          <a:prstGeom prst="ellipse">
            <a:avLst/>
          </a:prstGeom>
          <a:solidFill>
            <a:srgbClr val="43A99A"/>
          </a:solidFill>
          <a:ln/>
        </p:spPr>
        <p:txBody>
          <a:bodyPr/>
          <a:lstStyle/>
          <a:p>
            <a:endParaRPr lang="en-US"/>
          </a:p>
        </p:txBody>
      </p:sp>
      <p:sp>
        <p:nvSpPr>
          <p:cNvPr id="6" name="Text 3"/>
          <p:cNvSpPr/>
          <p:nvPr/>
        </p:nvSpPr>
        <p:spPr>
          <a:xfrm>
            <a:off x="749808" y="1463040"/>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Exceptions need a formal request: the issue, policy constraint, risks and mitigation.</a:t>
            </a:r>
            <a:endParaRPr lang="en-US" sz="1250" dirty="0"/>
          </a:p>
        </p:txBody>
      </p:sp>
      <p:sp>
        <p:nvSpPr>
          <p:cNvPr id="7" name="Shape 4"/>
          <p:cNvSpPr/>
          <p:nvPr/>
        </p:nvSpPr>
        <p:spPr>
          <a:xfrm>
            <a:off x="502920" y="2093976"/>
            <a:ext cx="100584" cy="100584"/>
          </a:xfrm>
          <a:prstGeom prst="ellipse">
            <a:avLst/>
          </a:prstGeom>
          <a:solidFill>
            <a:srgbClr val="43A99A"/>
          </a:solidFill>
          <a:ln/>
        </p:spPr>
        <p:txBody>
          <a:bodyPr/>
          <a:lstStyle/>
          <a:p>
            <a:endParaRPr lang="en-US"/>
          </a:p>
        </p:txBody>
      </p:sp>
      <p:sp>
        <p:nvSpPr>
          <p:cNvPr id="8" name="Text 5"/>
          <p:cNvSpPr/>
          <p:nvPr/>
        </p:nvSpPr>
        <p:spPr>
          <a:xfrm>
            <a:off x="749808" y="1975104"/>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Written Sector / Executive approval (plus Legal review if needed) before any deviation.</a:t>
            </a:r>
            <a:endParaRPr lang="en-US" sz="1250" dirty="0"/>
          </a:p>
        </p:txBody>
      </p:sp>
      <p:sp>
        <p:nvSpPr>
          <p:cNvPr id="9" name="Shape 6"/>
          <p:cNvSpPr/>
          <p:nvPr/>
        </p:nvSpPr>
        <p:spPr>
          <a:xfrm>
            <a:off x="502920" y="2606040"/>
            <a:ext cx="100584" cy="100584"/>
          </a:xfrm>
          <a:prstGeom prst="ellipse">
            <a:avLst/>
          </a:prstGeom>
          <a:solidFill>
            <a:srgbClr val="43A99A"/>
          </a:solidFill>
          <a:ln/>
        </p:spPr>
        <p:txBody>
          <a:bodyPr/>
          <a:lstStyle/>
          <a:p>
            <a:endParaRPr lang="en-US"/>
          </a:p>
        </p:txBody>
      </p:sp>
      <p:sp>
        <p:nvSpPr>
          <p:cNvPr id="10" name="Text 7"/>
          <p:cNvSpPr/>
          <p:nvPr/>
        </p:nvSpPr>
        <p:spPr>
          <a:xfrm>
            <a:off x="749808" y="2487168"/>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Approved deviations are limited in scope and time and set no precedent.</a:t>
            </a:r>
            <a:endParaRPr lang="en-US" sz="1250" dirty="0"/>
          </a:p>
        </p:txBody>
      </p:sp>
      <p:sp>
        <p:nvSpPr>
          <p:cNvPr id="11" name="Shape 8"/>
          <p:cNvSpPr/>
          <p:nvPr/>
        </p:nvSpPr>
        <p:spPr>
          <a:xfrm>
            <a:off x="502920" y="3118104"/>
            <a:ext cx="100584" cy="100584"/>
          </a:xfrm>
          <a:prstGeom prst="ellipse">
            <a:avLst/>
          </a:prstGeom>
          <a:solidFill>
            <a:srgbClr val="43A99A"/>
          </a:solidFill>
          <a:ln/>
        </p:spPr>
        <p:txBody>
          <a:bodyPr/>
          <a:lstStyle/>
          <a:p>
            <a:endParaRPr lang="en-US"/>
          </a:p>
        </p:txBody>
      </p:sp>
      <p:sp>
        <p:nvSpPr>
          <p:cNvPr id="12" name="Text 9"/>
          <p:cNvSpPr/>
          <p:nvPr/>
        </p:nvSpPr>
        <p:spPr>
          <a:xfrm>
            <a:off x="749808" y="2999232"/>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Awareness and collaboration sessions at key stages, recorded with the HSE and Interface teams.</a:t>
            </a:r>
            <a:endParaRPr lang="en-US" sz="1250" dirty="0"/>
          </a:p>
        </p:txBody>
      </p:sp>
      <p:sp>
        <p:nvSpPr>
          <p:cNvPr id="13" name="Shape 10"/>
          <p:cNvSpPr/>
          <p:nvPr/>
        </p:nvSpPr>
        <p:spPr>
          <a:xfrm>
            <a:off x="502920" y="3630168"/>
            <a:ext cx="100584" cy="100584"/>
          </a:xfrm>
          <a:prstGeom prst="ellipse">
            <a:avLst/>
          </a:prstGeom>
          <a:solidFill>
            <a:srgbClr val="43A99A"/>
          </a:solidFill>
          <a:ln/>
        </p:spPr>
        <p:txBody>
          <a:bodyPr/>
          <a:lstStyle/>
          <a:p>
            <a:endParaRPr lang="en-US"/>
          </a:p>
        </p:txBody>
      </p:sp>
      <p:sp>
        <p:nvSpPr>
          <p:cNvPr id="14" name="Text 11"/>
          <p:cNvSpPr/>
          <p:nvPr/>
        </p:nvSpPr>
        <p:spPr>
          <a:xfrm>
            <a:off x="749808" y="3511296"/>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Lessons learned captured for each exception and at close-out; records archived per document control.</a:t>
            </a:r>
            <a:endParaRPr lang="en-US" sz="1250" dirty="0"/>
          </a:p>
        </p:txBody>
      </p:sp>
      <p:sp>
        <p:nvSpPr>
          <p:cNvPr id="15" name="Text 12"/>
          <p:cNvSpPr/>
          <p:nvPr/>
        </p:nvSpPr>
        <p:spPr>
          <a:xfrm>
            <a:off x="502920" y="4178808"/>
            <a:ext cx="5577840" cy="548640"/>
          </a:xfrm>
          <a:prstGeom prst="rect">
            <a:avLst/>
          </a:prstGeom>
          <a:noFill/>
          <a:ln/>
        </p:spPr>
        <p:txBody>
          <a:bodyPr wrap="square" rtlCol="0" anchor="ctr"/>
          <a:lstStyle/>
          <a:p>
            <a:pPr marL="0" indent="0">
              <a:buNone/>
            </a:pPr>
            <a:r>
              <a:rPr lang="en-US" sz="1150" i="1" dirty="0">
                <a:solidFill>
                  <a:srgbClr val="5A626E"/>
                </a:solidFill>
                <a:latin typeface="Calibri" pitchFamily="34" charset="0"/>
                <a:ea typeface="Calibri" pitchFamily="34" charset="-122"/>
                <a:cs typeface="Calibri" pitchFamily="34" charset="-120"/>
              </a:rPr>
              <a:t>Stakeholder satisfaction never overrides governance compliance.</a:t>
            </a:r>
            <a:endParaRPr lang="en-US" sz="1150" dirty="0"/>
          </a:p>
        </p:txBody>
      </p:sp>
      <p:sp>
        <p:nvSpPr>
          <p:cNvPr id="16" name="Shape 13"/>
          <p:cNvSpPr/>
          <p:nvPr/>
        </p:nvSpPr>
        <p:spPr>
          <a:xfrm>
            <a:off x="6446520" y="1508760"/>
            <a:ext cx="5257800" cy="4251960"/>
          </a:xfrm>
          <a:prstGeom prst="roundRect">
            <a:avLst>
              <a:gd name="adj" fmla="val 2151"/>
            </a:avLst>
          </a:prstGeom>
          <a:solidFill>
            <a:srgbClr val="004549"/>
          </a:solidFill>
          <a:ln/>
        </p:spPr>
        <p:txBody>
          <a:bodyPr/>
          <a:lstStyle/>
          <a:p>
            <a:endParaRPr lang="en-US"/>
          </a:p>
        </p:txBody>
      </p:sp>
      <p:sp>
        <p:nvSpPr>
          <p:cNvPr id="17" name="Text 14"/>
          <p:cNvSpPr/>
          <p:nvPr/>
        </p:nvSpPr>
        <p:spPr>
          <a:xfrm>
            <a:off x="6720840" y="1600200"/>
            <a:ext cx="914400" cy="914400"/>
          </a:xfrm>
          <a:prstGeom prst="rect">
            <a:avLst/>
          </a:prstGeom>
          <a:noFill/>
          <a:ln/>
        </p:spPr>
        <p:txBody>
          <a:bodyPr wrap="square" rtlCol="0" anchor="ctr"/>
          <a:lstStyle/>
          <a:p>
            <a:pPr marL="0" indent="0">
              <a:buNone/>
            </a:pPr>
            <a:r>
              <a:rPr lang="en-US" sz="6000" b="1" dirty="0">
                <a:solidFill>
                  <a:srgbClr val="8FCFC3"/>
                </a:solidFill>
                <a:latin typeface="Calibri" pitchFamily="34" charset="0"/>
                <a:ea typeface="Calibri" pitchFamily="34" charset="-122"/>
                <a:cs typeface="Calibri" pitchFamily="34" charset="-120"/>
              </a:rPr>
              <a:t>“</a:t>
            </a:r>
            <a:endParaRPr lang="en-US" sz="6000" dirty="0"/>
          </a:p>
        </p:txBody>
      </p:sp>
      <p:sp>
        <p:nvSpPr>
          <p:cNvPr id="18" name="Text 15"/>
          <p:cNvSpPr/>
          <p:nvPr/>
        </p:nvSpPr>
        <p:spPr>
          <a:xfrm>
            <a:off x="6903720" y="2514600"/>
            <a:ext cx="4572000" cy="1463040"/>
          </a:xfrm>
          <a:prstGeom prst="rect">
            <a:avLst/>
          </a:prstGeom>
          <a:noFill/>
          <a:ln/>
        </p:spPr>
        <p:txBody>
          <a:bodyPr wrap="square" rtlCol="0" anchor="ctr"/>
          <a:lstStyle/>
          <a:p>
            <a:pPr marL="0" indent="0">
              <a:lnSpc>
                <a:spcPts val="2200"/>
              </a:lnSpc>
              <a:buNone/>
            </a:pPr>
            <a:r>
              <a:rPr lang="en-US" sz="1700" b="1" i="1" dirty="0">
                <a:solidFill>
                  <a:srgbClr val="FFFFFF"/>
                </a:solidFill>
                <a:latin typeface="Calibri" pitchFamily="34" charset="0"/>
                <a:ea typeface="Calibri" pitchFamily="34" charset="-122"/>
                <a:cs typeface="Calibri" pitchFamily="34" charset="-120"/>
              </a:rPr>
              <a:t>MAH engages stakeholders early, communicates transparently and decides within authority — identified, analysed, engaged and closed with evidence.</a:t>
            </a:r>
            <a:endParaRPr lang="en-US" sz="1700" dirty="0"/>
          </a:p>
        </p:txBody>
      </p:sp>
      <p:sp>
        <p:nvSpPr>
          <p:cNvPr id="19" name="Text 16"/>
          <p:cNvSpPr/>
          <p:nvPr/>
        </p:nvSpPr>
        <p:spPr>
          <a:xfrm>
            <a:off x="6903720" y="4160520"/>
            <a:ext cx="4572000" cy="1371600"/>
          </a:xfrm>
          <a:prstGeom prst="rect">
            <a:avLst/>
          </a:prstGeom>
          <a:noFill/>
          <a:ln/>
        </p:spPr>
        <p:txBody>
          <a:bodyPr wrap="square" rtlCol="0" anchor="ctr"/>
          <a:lstStyle/>
          <a:p>
            <a:pPr marL="0" indent="0">
              <a:lnSpc>
                <a:spcPts val="1600"/>
              </a:lnSpc>
              <a:buNone/>
            </a:pPr>
            <a:r>
              <a:rPr lang="en-US" sz="1200" dirty="0">
                <a:solidFill>
                  <a:srgbClr val="CFE6E1"/>
                </a:solidFill>
                <a:latin typeface="Calibri" pitchFamily="34" charset="0"/>
                <a:ea typeface="Calibri" pitchFamily="34" charset="-122"/>
                <a:cs typeface="Calibri" pitchFamily="34" charset="-120"/>
              </a:rPr>
              <a:t>Project Management leadership provides the support, resources and direction to apply this policy on every project — ensuring accountability, transparency and consistency.</a:t>
            </a:r>
            <a:endParaRPr lang="en-US" sz="120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886200"/>
            <a:ext cx="731520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Text 1"/>
          <p:cNvSpPr/>
          <p:nvPr/>
        </p:nvSpPr>
        <p:spPr>
          <a:xfrm>
            <a:off x="822960" y="4709160"/>
            <a:ext cx="7315200" cy="548640"/>
          </a:xfrm>
          <a:prstGeom prst="rect">
            <a:avLst/>
          </a:prstGeom>
          <a:noFill/>
          <a:ln/>
        </p:spPr>
        <p:txBody>
          <a:bodyPr wrap="square" rtlCol="0" anchor="ctr"/>
          <a:lstStyle/>
          <a:p>
            <a:pPr marL="0" indent="0">
              <a:buNone/>
            </a:pPr>
            <a:r>
              <a:rPr lang="en-US" sz="1600" dirty="0">
                <a:solidFill>
                  <a:srgbClr val="8FCFC3"/>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B49EA6-D788-4A2F-B966-9F6636B915A7}">
  <we:reference id="WA200010215" version="2.0.0.0" store="Omex" storeType="OMEX"/>
  <we:alternateReferences>
    <we:reference id="WA200010215" version="2.0.0.0" store="WA200010215" storeType="OMEX"/>
  </we:alternateReferences>
  <we:properties>
    <we:property name="bps.codex_control.document_id" value="&quot;1a02bc72-28e1-414d-9158-fdc170f5b1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176</TotalTime>
  <Words>4588</Words>
  <Application>Microsoft Office PowerPoint</Application>
  <PresentationFormat>Widescreen</PresentationFormat>
  <Paragraphs>659</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Ashraf Youssef</cp:lastModifiedBy>
  <cp:revision>3</cp:revision>
  <dcterms:created xsi:type="dcterms:W3CDTF">2026-08-22T19:36:30Z</dcterms:created>
  <dcterms:modified xsi:type="dcterms:W3CDTF">2026-09-27T14:49:45Z</dcterms:modified>
</cp:coreProperties>
</file>