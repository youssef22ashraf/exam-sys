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71" r:id="rId8"/>
    <p:sldId id="270" r:id="rId9"/>
    <p:sldId id="268" r:id="rId10"/>
    <p:sldId id="266" r:id="rId11"/>
    <p:sldId id="262" r:id="rId12"/>
    <p:sldId id="263" r:id="rId13"/>
    <p:sldId id="264" r:id="rId14"/>
    <p:sldId id="265" r:id="rId15"/>
    <p:sldId id="282" r:id="rId16"/>
    <p:sldId id="269" r:id="rId17"/>
    <p:sldId id="267" r:id="rId18"/>
    <p:sldId id="273" r:id="rId19"/>
    <p:sldId id="281" r:id="rId20"/>
    <p:sldId id="272" r:id="rId21"/>
    <p:sldId id="279" r:id="rId22"/>
    <p:sldId id="280" r:id="rId23"/>
    <p:sldId id="283" r:id="rId24"/>
    <p:sldId id="274" r:id="rId25"/>
    <p:sldId id="275" r:id="rId26"/>
    <p:sldId id="276" r:id="rId27"/>
    <p:sldId id="277" r:id="rId28"/>
    <p:sldId id="278"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43" autoAdjust="0"/>
    <p:restoredTop sz="94610"/>
  </p:normalViewPr>
  <p:slideViewPr>
    <p:cSldViewPr snapToGrid="0" snapToObjects="1">
      <p:cViewPr varScale="1">
        <p:scale>
          <a:sx n="111" d="100"/>
          <a:sy n="111" d="100"/>
        </p:scale>
        <p:origin x="3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Ashraf Youssef" userId="af8ce710-8110-414b-88b7-0d7c64d55425" providerId="ADAL" clId="{73B7F3F6-93FD-4722-BDDC-8E9E5722087D}"/>
    <pc:docChg chg="undo custSel modSld">
      <pc:chgData name="Ahmed Ashraf Youssef" userId="af8ce710-8110-414b-88b7-0d7c64d55425" providerId="ADAL" clId="{73B7F3F6-93FD-4722-BDDC-8E9E5722087D}" dt="2026-08-23T08:01:10.720" v="89" actId="1036"/>
      <pc:docMkLst>
        <pc:docMk/>
      </pc:docMkLst>
      <pc:sldChg chg="modSp mod">
        <pc:chgData name="Ahmed Ashraf Youssef" userId="af8ce710-8110-414b-88b7-0d7c64d55425" providerId="ADAL" clId="{73B7F3F6-93FD-4722-BDDC-8E9E5722087D}" dt="2026-08-23T07:36:17.457" v="4" actId="1076"/>
        <pc:sldMkLst>
          <pc:docMk/>
          <pc:sldMk cId="0" sldId="257"/>
        </pc:sldMkLst>
        <pc:spChg chg="mod">
          <ac:chgData name="Ahmed Ashraf Youssef" userId="af8ce710-8110-414b-88b7-0d7c64d55425" providerId="ADAL" clId="{73B7F3F6-93FD-4722-BDDC-8E9E5722087D}" dt="2026-08-23T07:36:17.457" v="4" actId="1076"/>
          <ac:spMkLst>
            <pc:docMk/>
            <pc:sldMk cId="0" sldId="257"/>
            <ac:spMk id="3"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4"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5"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6"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7" creationId="{00000000-0000-0000-0000-000000000000}"/>
          </ac:spMkLst>
        </pc:spChg>
        <pc:spChg chg="mod">
          <ac:chgData name="Ahmed Ashraf Youssef" userId="af8ce710-8110-414b-88b7-0d7c64d55425" providerId="ADAL" clId="{73B7F3F6-93FD-4722-BDDC-8E9E5722087D}" dt="2026-08-23T07:36:03.499" v="3" actId="1076"/>
          <ac:spMkLst>
            <pc:docMk/>
            <pc:sldMk cId="0" sldId="257"/>
            <ac:spMk id="8"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0"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1"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2"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4"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5" creationId="{00000000-0000-0000-0000-000000000000}"/>
          </ac:spMkLst>
        </pc:spChg>
        <pc:picChg chg="mod">
          <ac:chgData name="Ahmed Ashraf Youssef" userId="af8ce710-8110-414b-88b7-0d7c64d55425" providerId="ADAL" clId="{73B7F3F6-93FD-4722-BDDC-8E9E5722087D}" dt="2026-08-23T07:35:55.915" v="1" actId="1076"/>
          <ac:picMkLst>
            <pc:docMk/>
            <pc:sldMk cId="0" sldId="257"/>
            <ac:picMk id="2" creationId="{00000000-0000-0000-0000-000000000000}"/>
          </ac:picMkLst>
        </pc:picChg>
      </pc:sldChg>
      <pc:sldChg chg="modSp mod">
        <pc:chgData name="Ahmed Ashraf Youssef" userId="af8ce710-8110-414b-88b7-0d7c64d55425" providerId="ADAL" clId="{73B7F3F6-93FD-4722-BDDC-8E9E5722087D}" dt="2026-08-23T07:59:38.294" v="37" actId="20577"/>
        <pc:sldMkLst>
          <pc:docMk/>
          <pc:sldMk cId="0" sldId="267"/>
        </pc:sldMkLst>
        <pc:spChg chg="mod">
          <ac:chgData name="Ahmed Ashraf Youssef" userId="af8ce710-8110-414b-88b7-0d7c64d55425" providerId="ADAL" clId="{73B7F3F6-93FD-4722-BDDC-8E9E5722087D}" dt="2026-08-23T07:59:38.294" v="37" actId="20577"/>
          <ac:spMkLst>
            <pc:docMk/>
            <pc:sldMk cId="0" sldId="267"/>
            <ac:spMk id="12" creationId="{00000000-0000-0000-0000-000000000000}"/>
          </ac:spMkLst>
        </pc:spChg>
        <pc:spChg chg="mod">
          <ac:chgData name="Ahmed Ashraf Youssef" userId="af8ce710-8110-414b-88b7-0d7c64d55425" providerId="ADAL" clId="{73B7F3F6-93FD-4722-BDDC-8E9E5722087D}" dt="2026-08-23T07:59:03.622" v="25" actId="20577"/>
          <ac:spMkLst>
            <pc:docMk/>
            <pc:sldMk cId="0" sldId="267"/>
            <ac:spMk id="13" creationId="{00000000-0000-0000-0000-000000000000}"/>
          </ac:spMkLst>
        </pc:spChg>
        <pc:spChg chg="mod">
          <ac:chgData name="Ahmed Ashraf Youssef" userId="af8ce710-8110-414b-88b7-0d7c64d55425" providerId="ADAL" clId="{73B7F3F6-93FD-4722-BDDC-8E9E5722087D}" dt="2026-08-23T07:58:36.974" v="13" actId="20577"/>
          <ac:spMkLst>
            <pc:docMk/>
            <pc:sldMk cId="0" sldId="267"/>
            <ac:spMk id="27" creationId="{00000000-0000-0000-0000-000000000000}"/>
          </ac:spMkLst>
        </pc:spChg>
      </pc:sldChg>
      <pc:sldChg chg="modSp mod">
        <pc:chgData name="Ahmed Ashraf Youssef" userId="af8ce710-8110-414b-88b7-0d7c64d55425" providerId="ADAL" clId="{73B7F3F6-93FD-4722-BDDC-8E9E5722087D}" dt="2026-08-23T08:00:00.782" v="40" actId="14100"/>
        <pc:sldMkLst>
          <pc:docMk/>
          <pc:sldMk cId="0" sldId="270"/>
        </pc:sldMkLst>
        <pc:spChg chg="mod">
          <ac:chgData name="Ahmed Ashraf Youssef" userId="af8ce710-8110-414b-88b7-0d7c64d55425" providerId="ADAL" clId="{73B7F3F6-93FD-4722-BDDC-8E9E5722087D}" dt="2026-08-23T07:59:56.149" v="38" actId="14100"/>
          <ac:spMkLst>
            <pc:docMk/>
            <pc:sldMk cId="0" sldId="270"/>
            <ac:spMk id="5" creationId="{00000000-0000-0000-0000-000000000000}"/>
          </ac:spMkLst>
        </pc:spChg>
        <pc:spChg chg="mod">
          <ac:chgData name="Ahmed Ashraf Youssef" userId="af8ce710-8110-414b-88b7-0d7c64d55425" providerId="ADAL" clId="{73B7F3F6-93FD-4722-BDDC-8E9E5722087D}" dt="2026-08-23T07:59:58.466" v="39" actId="14100"/>
          <ac:spMkLst>
            <pc:docMk/>
            <pc:sldMk cId="0" sldId="270"/>
            <ac:spMk id="11" creationId="{00000000-0000-0000-0000-000000000000}"/>
          </ac:spMkLst>
        </pc:spChg>
        <pc:spChg chg="mod">
          <ac:chgData name="Ahmed Ashraf Youssef" userId="af8ce710-8110-414b-88b7-0d7c64d55425" providerId="ADAL" clId="{73B7F3F6-93FD-4722-BDDC-8E9E5722087D}" dt="2026-08-23T08:00:00.782" v="40" actId="14100"/>
          <ac:spMkLst>
            <pc:docMk/>
            <pc:sldMk cId="0" sldId="270"/>
            <ac:spMk id="17" creationId="{00000000-0000-0000-0000-000000000000}"/>
          </ac:spMkLst>
        </pc:spChg>
      </pc:sldChg>
      <pc:sldChg chg="modSp mod">
        <pc:chgData name="Ahmed Ashraf Youssef" userId="af8ce710-8110-414b-88b7-0d7c64d55425" providerId="ADAL" clId="{73B7F3F6-93FD-4722-BDDC-8E9E5722087D}" dt="2026-08-23T08:00:16.445" v="61" actId="1035"/>
        <pc:sldMkLst>
          <pc:docMk/>
          <pc:sldMk cId="0" sldId="271"/>
        </pc:sldMkLst>
        <pc:spChg chg="mod">
          <ac:chgData name="Ahmed Ashraf Youssef" userId="af8ce710-8110-414b-88b7-0d7c64d55425" providerId="ADAL" clId="{73B7F3F6-93FD-4722-BDDC-8E9E5722087D}" dt="2026-08-23T08:00:16.445" v="61" actId="1035"/>
          <ac:spMkLst>
            <pc:docMk/>
            <pc:sldMk cId="0" sldId="271"/>
            <ac:spMk id="5"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6"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7"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8" creationId="{00000000-0000-0000-0000-000000000000}"/>
          </ac:spMkLst>
        </pc:spChg>
        <pc:spChg chg="mod">
          <ac:chgData name="Ahmed Ashraf Youssef" userId="af8ce710-8110-414b-88b7-0d7c64d55425" providerId="ADAL" clId="{73B7F3F6-93FD-4722-BDDC-8E9E5722087D}" dt="2026-08-23T08:00:08.099" v="50" actId="1035"/>
          <ac:spMkLst>
            <pc:docMk/>
            <pc:sldMk cId="0" sldId="271"/>
            <ac:spMk id="10"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1"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2"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3" creationId="{00000000-0000-0000-0000-000000000000}"/>
          </ac:spMkLst>
        </pc:spChg>
        <pc:spChg chg="mod">
          <ac:chgData name="Ahmed Ashraf Youssef" userId="af8ce710-8110-414b-88b7-0d7c64d55425" providerId="ADAL" clId="{73B7F3F6-93FD-4722-BDDC-8E9E5722087D}" dt="2026-08-23T08:00:08.099" v="50" actId="1035"/>
          <ac:spMkLst>
            <pc:docMk/>
            <pc:sldMk cId="0" sldId="271"/>
            <ac:spMk id="15"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7"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8"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9" creationId="{00000000-0000-0000-0000-000000000000}"/>
          </ac:spMkLst>
        </pc:spChg>
      </pc:sldChg>
      <pc:sldChg chg="modSp mod">
        <pc:chgData name="Ahmed Ashraf Youssef" userId="af8ce710-8110-414b-88b7-0d7c64d55425" providerId="ADAL" clId="{73B7F3F6-93FD-4722-BDDC-8E9E5722087D}" dt="2026-08-23T08:01:10.720" v="89" actId="1036"/>
        <pc:sldMkLst>
          <pc:docMk/>
          <pc:sldMk cId="0" sldId="276"/>
        </pc:sldMkLst>
        <pc:spChg chg="mod">
          <ac:chgData name="Ahmed Ashraf Youssef" userId="af8ce710-8110-414b-88b7-0d7c64d55425" providerId="ADAL" clId="{73B7F3F6-93FD-4722-BDDC-8E9E5722087D}" dt="2026-08-23T08:00:57.307" v="75" actId="1035"/>
          <ac:spMkLst>
            <pc:docMk/>
            <pc:sldMk cId="0" sldId="276"/>
            <ac:spMk id="5"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6"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7"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0"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2"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4"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6"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7"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8"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9"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0"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2"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3"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4"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6"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9"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32"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34"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36"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37" creationId="{00000000-0000-0000-0000-000000000000}"/>
          </ac:spMkLst>
        </pc:spChg>
      </pc:sldChg>
    </pc:docChg>
  </pc:docChgLst>
  <pc:docChgLst>
    <pc:chgData name="Ahmed Ashraf Youssef" userId="af8ce710-8110-414b-88b7-0d7c64d55425" providerId="ADAL" clId="{2C03BF3A-31ED-49F0-8A1B-109B78231F6E}"/>
    <pc:docChg chg="modSld">
      <pc:chgData name="Ahmed Ashraf Youssef" userId="af8ce710-8110-414b-88b7-0d7c64d55425" providerId="ADAL" clId="{2C03BF3A-31ED-49F0-8A1B-109B78231F6E}" dt="2026-09-10T07:26:25.517" v="0" actId="1076"/>
      <pc:docMkLst>
        <pc:docMk/>
      </pc:docMkLst>
      <pc:sldChg chg="modSp mod">
        <pc:chgData name="Ahmed Ashraf Youssef" userId="af8ce710-8110-414b-88b7-0d7c64d55425" providerId="ADAL" clId="{2C03BF3A-31ED-49F0-8A1B-109B78231F6E}" dt="2026-09-10T07:26:25.517" v="0" actId="1076"/>
        <pc:sldMkLst>
          <pc:docMk/>
          <pc:sldMk cId="0" sldId="260"/>
        </pc:sldMkLst>
        <pc:picChg chg="mod">
          <ac:chgData name="Ahmed Ashraf Youssef" userId="af8ce710-8110-414b-88b7-0d7c64d55425" providerId="ADAL" clId="{2C03BF3A-31ED-49F0-8A1B-109B78231F6E}" dt="2026-09-10T07:26:25.517" v="0" actId="1076"/>
          <ac:picMkLst>
            <pc:docMk/>
            <pc:sldMk cId="0" sldId="260"/>
            <ac:picMk id="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5175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thank you for joining. Today we are briefing the Projects Interface Management Procedure of the E&amp;C Sector Operation Department, issued under the Interface Management Policy MAH-ENC-INT-OP-POL-001. By the end of this session everyone should know what an interface point is, who owns it, how we track it to closure, and when and how to escalate.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the purpose and the rules we never bend; definitions and types of interfaces; roles and responsibilities including the RACI matrix; the process flow, meetings and tools; escalation, links to schedule and risk, and our KPIs; and finally third-party assets, awareness and closure. Please stop me at any time with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this procedure exists and the few rules that apply on every project, whatever the schedule pressure.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procedure gives us one framework to identify, classify, manage and close interface points on every E&amp;C project. In practice that means five things: identify early and register every interface point; give each one a named owner and target date; coordinate regularly through meetings and workshops; track every point until it is verified and closed with evidence; and capture lessons learned for the next phase and the next project.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seven principles are non-negotiable. Everything goes in the register with an owner and a date. Nothing is agreed verbally only. Nothing is closed without evidence and sign-off by all parties. Nothing stays overdue without formal escalation. Authority coordination goes through the GRO with a valid Client authorization letter. Escalation is fact-based and never replaces coordination. And safety-related interface issues can be escalated immediately to any level.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some definitions, so we all use the same language, and a look at where interfaces arise.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interface point is a location, activity or information flow where two or more parties, systems or scopes meet and need coordination. The interface owner is the person or department responsible for managing and closing it. Interfaces are physical, functional or organizational. Managing them well reduces conflicts, avoids delays and cost overruns, and supports timely decisions.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Interfaces are internal, between our own departments; external, with the Client, consultant, subcontractors, authorities, utilities and adjacent contractors; and between MAH and sister companies in the group. For sister companies we hold a dedicated coordination meeting and jointly sign a Responsibility Matrix covering scope boundaries, roles, decision authority and escalation channels. Nothing deviates from it without formal re-issue.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Interfaces change through the life cycle: scope boundaries and design clashes at tender and design; long-lead items and vendor approvals at procurement; work-zone handovers, sequencing and authority dependencies during construction; and integration, as-builts and final approvals at handover. At the bottom are the communication timing rules from the procedure: 48 hours notice for internal meetings, 72 hours for external ones, minutes within 48 hours and the register updated after every meeting.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who owns what — from the E&amp;C Sector level down to our subcontractors.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Projects Director approves the interface plans, registers and issue logs and takes Level 2 escalations. The Project Manager ensures alignment across teams, approves resolutions with cost or schedule impact and makes sure decisions are implemented on site. The Interface Manager runs the system day to day: the register, matrix and issue log, the coordination meetings and minutes, and coordination with the Client, PMC and authorities through the GRO.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Technical or Design Manager identifies interface points in the IFC drawings and answers interface RFIs. The Construction Manager coordinates disciplines working in adjacent zones, keeps sequences within the agreed boundaries and reports clashes immediately. The Planning Engineer puts interface milestones into the schedule and treats permits and third-party dependencies as predecessors.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support functions make the system work: QA/QC, HSE, the survey team, procurement, commercial and contracts, the Government Relations Officer, our subcontractors and vendors, and on the external side the Consultant or PMC and the Client, who approve resolutions and major decisions.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Manager sits at the centre of all these relationships: Client, PMC, authorities through the GRO, subcontractors and vendors, utilities, third parties and adjacent contractors, and our own project team. If any one of these links fails, the interface fails — which is why coordination is the job, not an extra.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RACI matrix from template MAH-ENC-CNS-PM-TMP-001. At sector level the VP E&amp;C is accountable for policy, KPIs and performance monitoring. At business-unit level the Projects Director is accountable for plans, registers and escalations, with the Interface Manager accountable for coordination meetings. At project level the Project Manager is accountable and the Interface Manager is both accountable and responsible for identifying, tracking, closing and uploading evidence to Aconex. Lessons learned are owned by the Risk Manager.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process every interface point follows, the meetings that drive it, and the three tools we use.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identify and classify; register and assign an owner; coordinate through meetings or RFIs; resolve with an agreed action; verify with evidence; and close with sign-off by all concerned parties. A point stays open until it is verified and signed off, and the evidence goes into Aconex. These are the records every project must keep, from the Interface Points Register to the RACI matrix.</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hold a kick-off meeting once to agree roles and templates, weekly or bi-weekly coordination meetings, a monthly review with management and the Client, and special meetings for urgent items. Every point in the register moves from Open to Under Review to Closed, and these are the fields the register must contain.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tools with three different jobs. The Interface Matrix defines where coordination is needed. The Interface Points Register tracks progress of each point week by week. And the Interface Issue Log records what happens when coordination fails, which gives us the record we need for notices, claims and risk.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how we escalate, how interfaces link to schedule, risk and contract, and how we measure performance.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Internally there are three levels. Level 1: the Interface Manager escalates to the Project Manager within 2 to 5 working days. Level 2: the Project Manager escalates to the Projects Director or Head of Interface within 5 to 8 days when schedule, cost, quality or safety is affected. Level 3: the Projects Director escalates critical issues to the VP E&amp;C Sector for immediate decision.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Externally: Level 1 is coordination with the consultant or subcontractor, 3 to 5 days, and then the PMC team leader. Level 2 is the Client level for milestones, approvals and permits, 7 to 14 days. Level 3 is authority or executive level for permits, NOCs and statutory compliance, handled by the Project Director and GRO. All authority-related escalations go through the GRO and are supported by written records.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Interface management is linked to the rest of project controls. Interface milestones are in the schedule, and permits and third-party dependencies are predecessors. Critical interfaces are in the risk register. And escalation is always fact-based, with the Contract and Claims Manager issuing timely notices to protect our rights.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proposed targets to measure the system: every point has an owner and a date; at least 90 percent closed by target date; minutes within 48 hours; every closure evidenced in Aconex; zero overdue items without escalation; and at least four awareness sessions a year.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section: third-party assets, awareness, and how we close out.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interfaces involve assets that are not ours: cables, pipelines, networks, roads and neighbouring property. Prevention comes first — detection, trial pits, marking, permits, risk assessments and coordination with utility owners. If damage happens: stop, secure, protect, notify, record, and resume only with written approval from project management. External communication is only by authorized management, in line with the incident reporting procedure MAH-ENC-HSE-HE-PRO-008.</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Awareness sessions are held quarterly and after major changes, delivered by HSE with the Interface Manager, and the Project Manager makes sure everyone attends. Avoid the common mistakes: verbal-only coordination, no owner, no follow-up, closure without evidence. We manage interfaces as an integrated project-control function, and management provides the resources to make it work.</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full procedure. The floor is open — questions on any role, meeting, escalation level or tool. If something is missing for your project, raise it now so we can include it in the project Interface Management Plan.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bg_cover.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3794760"/>
            <a:ext cx="8686800" cy="1417320"/>
          </a:xfrm>
          <a:prstGeom prst="rect">
            <a:avLst/>
          </a:prstGeom>
          <a:noFill/>
          <a:ln/>
        </p:spPr>
        <p:txBody>
          <a:bodyPr wrap="square" rtlCol="0" anchor="ctr"/>
          <a:lstStyle/>
          <a:p>
            <a:pPr marL="0" indent="0">
              <a:lnSpc>
                <a:spcPts val="4400"/>
              </a:lnSpc>
              <a:buNone/>
            </a:pPr>
            <a:r>
              <a:rPr lang="en-US" sz="4000" b="1" dirty="0">
                <a:solidFill>
                  <a:srgbClr val="FFFFFF"/>
                </a:solidFill>
                <a:latin typeface="Calibri" pitchFamily="34" charset="0"/>
                <a:ea typeface="Calibri" pitchFamily="34" charset="-122"/>
                <a:cs typeface="Calibri" pitchFamily="34" charset="-120"/>
              </a:rPr>
              <a:t>INTERFACE</a:t>
            </a:r>
            <a:endParaRPr lang="en-US" sz="4000" dirty="0"/>
          </a:p>
          <a:p>
            <a:pPr marL="0" indent="0">
              <a:lnSpc>
                <a:spcPts val="4400"/>
              </a:lnSpc>
              <a:buNone/>
            </a:pPr>
            <a:r>
              <a:rPr lang="en-US" sz="4000" b="1" dirty="0">
                <a:solidFill>
                  <a:srgbClr val="FFFFFF"/>
                </a:solidFill>
                <a:latin typeface="Calibri" pitchFamily="34" charset="0"/>
                <a:ea typeface="Calibri" pitchFamily="34" charset="-122"/>
                <a:cs typeface="Calibri" pitchFamily="34" charset="-120"/>
              </a:rPr>
              <a:t>MANAGEMENT</a:t>
            </a:r>
            <a:endParaRPr lang="en-US" sz="4000" dirty="0"/>
          </a:p>
        </p:txBody>
      </p:sp>
      <p:sp>
        <p:nvSpPr>
          <p:cNvPr id="4" name="Shape 1"/>
          <p:cNvSpPr/>
          <p:nvPr/>
        </p:nvSpPr>
        <p:spPr>
          <a:xfrm>
            <a:off x="868680" y="5230368"/>
            <a:ext cx="1005840" cy="41148"/>
          </a:xfrm>
          <a:prstGeom prst="rect">
            <a:avLst/>
          </a:prstGeom>
          <a:solidFill>
            <a:srgbClr val="43A99A"/>
          </a:solidFill>
          <a:ln/>
        </p:spPr>
        <p:txBody>
          <a:bodyPr/>
          <a:lstStyle/>
          <a:p>
            <a:endParaRPr lang="en-US"/>
          </a:p>
        </p:txBody>
      </p:sp>
      <p:sp>
        <p:nvSpPr>
          <p:cNvPr id="5" name="Text 2"/>
          <p:cNvSpPr/>
          <p:nvPr/>
        </p:nvSpPr>
        <p:spPr>
          <a:xfrm>
            <a:off x="822960" y="5376672"/>
            <a:ext cx="8686800" cy="457200"/>
          </a:xfrm>
          <a:prstGeom prst="rect">
            <a:avLst/>
          </a:prstGeom>
          <a:noFill/>
          <a:ln/>
        </p:spPr>
        <p:txBody>
          <a:bodyPr wrap="square" rtlCol="0" anchor="ctr"/>
          <a:lstStyle/>
          <a:p>
            <a:pPr marL="0" indent="0">
              <a:buNone/>
            </a:pPr>
            <a:r>
              <a:rPr lang="en-US" sz="1700" dirty="0">
                <a:solidFill>
                  <a:srgbClr val="8FCFC3"/>
                </a:solidFill>
                <a:latin typeface="Calibri" pitchFamily="34" charset="0"/>
                <a:ea typeface="Calibri" pitchFamily="34" charset="-122"/>
                <a:cs typeface="Calibri" pitchFamily="34" charset="-120"/>
              </a:rPr>
              <a:t>Procedures, Roles &amp; Coordination  —  Team Briefing</a:t>
            </a:r>
            <a:endParaRPr lang="en-US" sz="1700" dirty="0"/>
          </a:p>
        </p:txBody>
      </p:sp>
      <p:sp>
        <p:nvSpPr>
          <p:cNvPr id="6" name="Text 3"/>
          <p:cNvSpPr/>
          <p:nvPr/>
        </p:nvSpPr>
        <p:spPr>
          <a:xfrm>
            <a:off x="822960" y="6355080"/>
            <a:ext cx="5486400" cy="320040"/>
          </a:xfrm>
          <a:prstGeom prst="rect">
            <a:avLst/>
          </a:prstGeom>
          <a:noFill/>
          <a:ln/>
        </p:spPr>
        <p:txBody>
          <a:bodyPr wrap="square" rtlCol="0" anchor="ctr"/>
          <a:lstStyle/>
          <a:p>
            <a:pPr marL="0" indent="0">
              <a:buNone/>
            </a:pPr>
            <a:r>
              <a:rPr lang="en-US" sz="1100" dirty="0">
                <a:solidFill>
                  <a:srgbClr val="8FB9B7"/>
                </a:solidFill>
                <a:latin typeface="Calibri" pitchFamily="34" charset="0"/>
                <a:ea typeface="Calibri" pitchFamily="34" charset="-122"/>
                <a:cs typeface="Calibri" pitchFamily="34" charset="-120"/>
              </a:rPr>
              <a:t>Policy Ref. MAH-ENC-INT-OP-POL-001  ·  Projects Interface Management Procedure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assets/bg_teal.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1451826"/>
            <a:ext cx="548640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Agenda</a:t>
            </a:r>
            <a:endParaRPr lang="en-US" sz="3000" dirty="0"/>
          </a:p>
        </p:txBody>
      </p:sp>
      <p:sp>
        <p:nvSpPr>
          <p:cNvPr id="4" name="Text 1"/>
          <p:cNvSpPr/>
          <p:nvPr/>
        </p:nvSpPr>
        <p:spPr>
          <a:xfrm>
            <a:off x="868680" y="22747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01</a:t>
            </a:r>
            <a:endParaRPr lang="en-US" sz="2000" dirty="0"/>
          </a:p>
        </p:txBody>
      </p:sp>
      <p:sp>
        <p:nvSpPr>
          <p:cNvPr id="5" name="Text 2"/>
          <p:cNvSpPr/>
          <p:nvPr/>
        </p:nvSpPr>
        <p:spPr>
          <a:xfrm>
            <a:off x="1600200" y="22747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Purpose &amp; Governing Principles</a:t>
            </a:r>
            <a:endParaRPr lang="en-US" sz="1800" dirty="0"/>
          </a:p>
        </p:txBody>
      </p:sp>
      <p:sp>
        <p:nvSpPr>
          <p:cNvPr id="6" name="Text 3"/>
          <p:cNvSpPr/>
          <p:nvPr/>
        </p:nvSpPr>
        <p:spPr>
          <a:xfrm>
            <a:off x="868680" y="29605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02</a:t>
            </a:r>
            <a:endParaRPr lang="en-US" sz="2000" dirty="0"/>
          </a:p>
        </p:txBody>
      </p:sp>
      <p:sp>
        <p:nvSpPr>
          <p:cNvPr id="7" name="Text 4"/>
          <p:cNvSpPr/>
          <p:nvPr/>
        </p:nvSpPr>
        <p:spPr>
          <a:xfrm>
            <a:off x="1600200" y="29605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Definitions &amp; Interface Types</a:t>
            </a:r>
            <a:endParaRPr lang="en-US" sz="1800" dirty="0"/>
          </a:p>
        </p:txBody>
      </p:sp>
      <p:sp>
        <p:nvSpPr>
          <p:cNvPr id="8" name="Text 5"/>
          <p:cNvSpPr/>
          <p:nvPr/>
        </p:nvSpPr>
        <p:spPr>
          <a:xfrm>
            <a:off x="868680" y="36463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03</a:t>
            </a:r>
            <a:endParaRPr lang="en-US" sz="2000" dirty="0"/>
          </a:p>
        </p:txBody>
      </p:sp>
      <p:sp>
        <p:nvSpPr>
          <p:cNvPr id="9" name="Text 6"/>
          <p:cNvSpPr/>
          <p:nvPr/>
        </p:nvSpPr>
        <p:spPr>
          <a:xfrm>
            <a:off x="1600200" y="36463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Roles &amp; Responsibilities</a:t>
            </a:r>
            <a:endParaRPr lang="en-US" sz="1800" dirty="0"/>
          </a:p>
        </p:txBody>
      </p:sp>
      <p:sp>
        <p:nvSpPr>
          <p:cNvPr id="10" name="Text 7"/>
          <p:cNvSpPr/>
          <p:nvPr/>
        </p:nvSpPr>
        <p:spPr>
          <a:xfrm>
            <a:off x="868680" y="43321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04</a:t>
            </a:r>
            <a:endParaRPr lang="en-US" sz="2000" dirty="0"/>
          </a:p>
        </p:txBody>
      </p:sp>
      <p:sp>
        <p:nvSpPr>
          <p:cNvPr id="11" name="Text 8"/>
          <p:cNvSpPr/>
          <p:nvPr/>
        </p:nvSpPr>
        <p:spPr>
          <a:xfrm>
            <a:off x="1600200" y="43321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Process Flow, Meetings &amp; Tools</a:t>
            </a:r>
            <a:endParaRPr lang="en-US" sz="1800" dirty="0"/>
          </a:p>
        </p:txBody>
      </p:sp>
      <p:sp>
        <p:nvSpPr>
          <p:cNvPr id="12" name="Text 9"/>
          <p:cNvSpPr/>
          <p:nvPr/>
        </p:nvSpPr>
        <p:spPr>
          <a:xfrm>
            <a:off x="868680" y="50179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05</a:t>
            </a:r>
            <a:endParaRPr lang="en-US" sz="2000" dirty="0"/>
          </a:p>
        </p:txBody>
      </p:sp>
      <p:sp>
        <p:nvSpPr>
          <p:cNvPr id="13" name="Text 10"/>
          <p:cNvSpPr/>
          <p:nvPr/>
        </p:nvSpPr>
        <p:spPr>
          <a:xfrm>
            <a:off x="1600200" y="50179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Escalation, Integration &amp; KPIs</a:t>
            </a:r>
            <a:endParaRPr lang="en-US" sz="1800" dirty="0"/>
          </a:p>
        </p:txBody>
      </p:sp>
      <p:sp>
        <p:nvSpPr>
          <p:cNvPr id="14" name="Text 11"/>
          <p:cNvSpPr/>
          <p:nvPr/>
        </p:nvSpPr>
        <p:spPr>
          <a:xfrm>
            <a:off x="868680" y="57037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06</a:t>
            </a:r>
            <a:endParaRPr lang="en-US" sz="2000" dirty="0"/>
          </a:p>
        </p:txBody>
      </p:sp>
      <p:sp>
        <p:nvSpPr>
          <p:cNvPr id="15" name="Text 12"/>
          <p:cNvSpPr/>
          <p:nvPr/>
        </p:nvSpPr>
        <p:spPr>
          <a:xfrm>
            <a:off x="1600200" y="57037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Third-Party Assets, Awareness &amp; Closeout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01</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Purpose &amp; Governing Principles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Why this procedure exists and the rules that are never negotiable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01 · PURPOSE</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Purpose &amp; Objectives</a:t>
            </a:r>
            <a:endParaRPr lang="en-US" sz="3000" dirty="0"/>
          </a:p>
        </p:txBody>
      </p:sp>
      <p:sp>
        <p:nvSpPr>
          <p:cNvPr id="5" name="Text 2"/>
          <p:cNvSpPr/>
          <p:nvPr/>
        </p:nvSpPr>
        <p:spPr>
          <a:xfrm>
            <a:off x="502920" y="1417320"/>
            <a:ext cx="10789920" cy="685800"/>
          </a:xfrm>
          <a:prstGeom prst="rect">
            <a:avLst/>
          </a:prstGeom>
          <a:noFill/>
          <a:ln/>
        </p:spPr>
        <p:txBody>
          <a:bodyPr wrap="square" rtlCol="0" anchor="ctr"/>
          <a:lstStyle/>
          <a:p>
            <a:pPr marL="0" indent="0">
              <a:buNone/>
            </a:pPr>
            <a:r>
              <a:rPr lang="en-US" sz="1350" i="1" dirty="0">
                <a:solidFill>
                  <a:srgbClr val="5A626E"/>
                </a:solidFill>
                <a:latin typeface="Calibri" pitchFamily="34" charset="0"/>
                <a:ea typeface="Calibri" pitchFamily="34" charset="-122"/>
                <a:cs typeface="Calibri" pitchFamily="34" charset="-120"/>
              </a:rPr>
              <a:t>This procedure sets the framework for identifying, classifying, managing and closing interface points across all MAH E&amp;C projects — preventing design conflicts, construction delays and cost overruns.</a:t>
            </a:r>
            <a:endParaRPr lang="en-US" sz="1350" dirty="0"/>
          </a:p>
        </p:txBody>
      </p:sp>
      <p:sp>
        <p:nvSpPr>
          <p:cNvPr id="6" name="Shape 3"/>
          <p:cNvSpPr/>
          <p:nvPr/>
        </p:nvSpPr>
        <p:spPr>
          <a:xfrm>
            <a:off x="502920" y="2331720"/>
            <a:ext cx="457200" cy="457200"/>
          </a:xfrm>
          <a:prstGeom prst="ellipse">
            <a:avLst/>
          </a:prstGeom>
          <a:solidFill>
            <a:srgbClr val="43A99A"/>
          </a:solidFill>
          <a:ln/>
        </p:spPr>
        <p:txBody>
          <a:bodyPr/>
          <a:lstStyle/>
          <a:p>
            <a:endParaRPr lang="en-US"/>
          </a:p>
        </p:txBody>
      </p:sp>
      <p:sp>
        <p:nvSpPr>
          <p:cNvPr id="7" name="Text 4"/>
          <p:cNvSpPr/>
          <p:nvPr/>
        </p:nvSpPr>
        <p:spPr>
          <a:xfrm>
            <a:off x="502920" y="233172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188720" y="2304288"/>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Identify early</a:t>
            </a:r>
            <a:endParaRPr lang="en-US" sz="1400" dirty="0"/>
          </a:p>
        </p:txBody>
      </p:sp>
      <p:sp>
        <p:nvSpPr>
          <p:cNvPr id="9" name="Text 6"/>
          <p:cNvSpPr/>
          <p:nvPr/>
        </p:nvSpPr>
        <p:spPr>
          <a:xfrm>
            <a:off x="3977640" y="2304288"/>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Identify, classify and document every interface point in the Interface Points Register.</a:t>
            </a:r>
            <a:endParaRPr lang="en-US" sz="1250" dirty="0"/>
          </a:p>
        </p:txBody>
      </p:sp>
      <p:sp>
        <p:nvSpPr>
          <p:cNvPr id="10" name="Shape 7"/>
          <p:cNvSpPr/>
          <p:nvPr/>
        </p:nvSpPr>
        <p:spPr>
          <a:xfrm>
            <a:off x="502920" y="3081528"/>
            <a:ext cx="457200" cy="457200"/>
          </a:xfrm>
          <a:prstGeom prst="ellipse">
            <a:avLst/>
          </a:prstGeom>
          <a:solidFill>
            <a:srgbClr val="43A99A"/>
          </a:solidFill>
          <a:ln/>
        </p:spPr>
        <p:txBody>
          <a:bodyPr/>
          <a:lstStyle/>
          <a:p>
            <a:endParaRPr lang="en-US"/>
          </a:p>
        </p:txBody>
      </p:sp>
      <p:sp>
        <p:nvSpPr>
          <p:cNvPr id="11" name="Text 8"/>
          <p:cNvSpPr/>
          <p:nvPr/>
        </p:nvSpPr>
        <p:spPr>
          <a:xfrm>
            <a:off x="502920" y="3081528"/>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p:nvPr/>
        </p:nvSpPr>
        <p:spPr>
          <a:xfrm>
            <a:off x="1188720" y="3054096"/>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Assign ownership</a:t>
            </a:r>
            <a:endParaRPr lang="en-US" sz="1400" dirty="0"/>
          </a:p>
        </p:txBody>
      </p:sp>
      <p:sp>
        <p:nvSpPr>
          <p:cNvPr id="13" name="Text 10"/>
          <p:cNvSpPr/>
          <p:nvPr/>
        </p:nvSpPr>
        <p:spPr>
          <a:xfrm>
            <a:off x="3977640" y="3054096"/>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Give every interface a named owner, a target date and a resolution route.</a:t>
            </a:r>
            <a:endParaRPr lang="en-US" sz="1250" dirty="0"/>
          </a:p>
        </p:txBody>
      </p:sp>
      <p:sp>
        <p:nvSpPr>
          <p:cNvPr id="14" name="Shape 11"/>
          <p:cNvSpPr/>
          <p:nvPr/>
        </p:nvSpPr>
        <p:spPr>
          <a:xfrm>
            <a:off x="502920" y="3831336"/>
            <a:ext cx="457200" cy="457200"/>
          </a:xfrm>
          <a:prstGeom prst="ellipse">
            <a:avLst/>
          </a:prstGeom>
          <a:solidFill>
            <a:srgbClr val="43A99A"/>
          </a:solidFill>
          <a:ln/>
        </p:spPr>
        <p:txBody>
          <a:bodyPr/>
          <a:lstStyle/>
          <a:p>
            <a:endParaRPr lang="en-US"/>
          </a:p>
        </p:txBody>
      </p:sp>
      <p:sp>
        <p:nvSpPr>
          <p:cNvPr id="15" name="Text 12"/>
          <p:cNvSpPr/>
          <p:nvPr/>
        </p:nvSpPr>
        <p:spPr>
          <a:xfrm>
            <a:off x="502920" y="3831336"/>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3"/>
          <p:cNvSpPr/>
          <p:nvPr/>
        </p:nvSpPr>
        <p:spPr>
          <a:xfrm>
            <a:off x="1188720" y="3803904"/>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Coordinate regularly</a:t>
            </a:r>
            <a:endParaRPr lang="en-US" sz="1400" dirty="0"/>
          </a:p>
        </p:txBody>
      </p:sp>
      <p:sp>
        <p:nvSpPr>
          <p:cNvPr id="17" name="Text 14"/>
          <p:cNvSpPr/>
          <p:nvPr/>
        </p:nvSpPr>
        <p:spPr>
          <a:xfrm>
            <a:off x="3977640" y="3803904"/>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Hold coordination meetings, progress updates and resolution workshops.</a:t>
            </a:r>
            <a:endParaRPr lang="en-US" sz="1250" dirty="0"/>
          </a:p>
        </p:txBody>
      </p:sp>
      <p:sp>
        <p:nvSpPr>
          <p:cNvPr id="18" name="Shape 15"/>
          <p:cNvSpPr/>
          <p:nvPr/>
        </p:nvSpPr>
        <p:spPr>
          <a:xfrm>
            <a:off x="502920" y="4581144"/>
            <a:ext cx="457200" cy="457200"/>
          </a:xfrm>
          <a:prstGeom prst="ellipse">
            <a:avLst/>
          </a:prstGeom>
          <a:solidFill>
            <a:srgbClr val="43A99A"/>
          </a:solidFill>
          <a:ln/>
        </p:spPr>
        <p:txBody>
          <a:bodyPr/>
          <a:lstStyle/>
          <a:p>
            <a:endParaRPr lang="en-US"/>
          </a:p>
        </p:txBody>
      </p:sp>
      <p:sp>
        <p:nvSpPr>
          <p:cNvPr id="19" name="Text 16"/>
          <p:cNvSpPr/>
          <p:nvPr/>
        </p:nvSpPr>
        <p:spPr>
          <a:xfrm>
            <a:off x="502920" y="4581144"/>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p:nvPr/>
        </p:nvSpPr>
        <p:spPr>
          <a:xfrm>
            <a:off x="1188720" y="4553712"/>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Close with evidence</a:t>
            </a:r>
            <a:endParaRPr lang="en-US" sz="1400" dirty="0"/>
          </a:p>
        </p:txBody>
      </p:sp>
      <p:sp>
        <p:nvSpPr>
          <p:cNvPr id="21" name="Text 18"/>
          <p:cNvSpPr/>
          <p:nvPr/>
        </p:nvSpPr>
        <p:spPr>
          <a:xfrm>
            <a:off x="3977640" y="4553712"/>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Track each point in a formal system until it is verified by all parties.</a:t>
            </a:r>
            <a:endParaRPr lang="en-US" sz="1250" dirty="0"/>
          </a:p>
        </p:txBody>
      </p:sp>
      <p:sp>
        <p:nvSpPr>
          <p:cNvPr id="22" name="Shape 19"/>
          <p:cNvSpPr/>
          <p:nvPr/>
        </p:nvSpPr>
        <p:spPr>
          <a:xfrm>
            <a:off x="502920" y="5330952"/>
            <a:ext cx="457200" cy="457200"/>
          </a:xfrm>
          <a:prstGeom prst="ellipse">
            <a:avLst/>
          </a:prstGeom>
          <a:solidFill>
            <a:srgbClr val="43A99A"/>
          </a:solidFill>
          <a:ln/>
        </p:spPr>
        <p:txBody>
          <a:bodyPr/>
          <a:lstStyle/>
          <a:p>
            <a:endParaRPr lang="en-US"/>
          </a:p>
        </p:txBody>
      </p:sp>
      <p:sp>
        <p:nvSpPr>
          <p:cNvPr id="23" name="Text 20"/>
          <p:cNvSpPr/>
          <p:nvPr/>
        </p:nvSpPr>
        <p:spPr>
          <a:xfrm>
            <a:off x="502920" y="533095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1"/>
          <p:cNvSpPr/>
          <p:nvPr/>
        </p:nvSpPr>
        <p:spPr>
          <a:xfrm>
            <a:off x="1188720" y="5303520"/>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Learn and improve</a:t>
            </a:r>
            <a:endParaRPr lang="en-US" sz="1400" dirty="0"/>
          </a:p>
        </p:txBody>
      </p:sp>
      <p:sp>
        <p:nvSpPr>
          <p:cNvPr id="25" name="Text 22"/>
          <p:cNvSpPr/>
          <p:nvPr/>
        </p:nvSpPr>
        <p:spPr>
          <a:xfrm>
            <a:off x="3977640" y="5303520"/>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Capture lessons learned and feed them into future phases and projects.</a:t>
            </a:r>
            <a:endParaRPr lang="en-US" sz="1250" dirty="0"/>
          </a:p>
        </p:txBody>
      </p:sp>
      <p:sp>
        <p:nvSpPr>
          <p:cNvPr id="27" name="Text 23"/>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73152"/>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01 · NON-NEGOTIABLES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Governing Principles</a:t>
            </a:r>
            <a:endParaRPr lang="en-US" sz="3000" dirty="0"/>
          </a:p>
        </p:txBody>
      </p:sp>
      <p:sp>
        <p:nvSpPr>
          <p:cNvPr id="5" name="Shape 2"/>
          <p:cNvSpPr/>
          <p:nvPr/>
        </p:nvSpPr>
        <p:spPr>
          <a:xfrm>
            <a:off x="502920" y="1508760"/>
            <a:ext cx="5257800" cy="1170432"/>
          </a:xfrm>
          <a:prstGeom prst="roundRect">
            <a:avLst>
              <a:gd name="adj" fmla="val 6250"/>
            </a:avLst>
          </a:prstGeom>
          <a:solidFill>
            <a:srgbClr val="D9ECE7"/>
          </a:solidFill>
          <a:ln/>
        </p:spPr>
        <p:txBody>
          <a:bodyPr/>
          <a:lstStyle/>
          <a:p>
            <a:endParaRPr lang="en-US"/>
          </a:p>
        </p:txBody>
      </p:sp>
      <p:sp>
        <p:nvSpPr>
          <p:cNvPr id="6" name="Shape 3"/>
          <p:cNvSpPr/>
          <p:nvPr/>
        </p:nvSpPr>
        <p:spPr>
          <a:xfrm>
            <a:off x="704088" y="2029968"/>
            <a:ext cx="128016" cy="128016"/>
          </a:xfrm>
          <a:prstGeom prst="ellipse">
            <a:avLst/>
          </a:prstGeom>
          <a:solidFill>
            <a:srgbClr val="43A99A"/>
          </a:solidFill>
          <a:ln/>
        </p:spPr>
        <p:txBody>
          <a:bodyPr/>
          <a:lstStyle/>
          <a:p>
            <a:endParaRPr lang="en-US"/>
          </a:p>
        </p:txBody>
      </p:sp>
      <p:sp>
        <p:nvSpPr>
          <p:cNvPr id="7" name="Text 4"/>
          <p:cNvSpPr/>
          <p:nvPr/>
        </p:nvSpPr>
        <p:spPr>
          <a:xfrm>
            <a:off x="960120" y="160020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No interface point exists outside the Interface Points Register — each one has an owner and a target date.</a:t>
            </a:r>
            <a:endParaRPr lang="en-US" sz="1250" dirty="0"/>
          </a:p>
        </p:txBody>
      </p:sp>
      <p:sp>
        <p:nvSpPr>
          <p:cNvPr id="8" name="Shape 5"/>
          <p:cNvSpPr/>
          <p:nvPr/>
        </p:nvSpPr>
        <p:spPr>
          <a:xfrm>
            <a:off x="6080760" y="1508760"/>
            <a:ext cx="5257800" cy="1170432"/>
          </a:xfrm>
          <a:prstGeom prst="roundRect">
            <a:avLst>
              <a:gd name="adj" fmla="val 6250"/>
            </a:avLst>
          </a:prstGeom>
          <a:solidFill>
            <a:srgbClr val="D9ECE7"/>
          </a:solidFill>
          <a:ln/>
        </p:spPr>
        <p:txBody>
          <a:bodyPr/>
          <a:lstStyle/>
          <a:p>
            <a:endParaRPr lang="en-US"/>
          </a:p>
        </p:txBody>
      </p:sp>
      <p:sp>
        <p:nvSpPr>
          <p:cNvPr id="9" name="Shape 6"/>
          <p:cNvSpPr/>
          <p:nvPr/>
        </p:nvSpPr>
        <p:spPr>
          <a:xfrm>
            <a:off x="6281928" y="2029968"/>
            <a:ext cx="128016" cy="128016"/>
          </a:xfrm>
          <a:prstGeom prst="ellipse">
            <a:avLst/>
          </a:prstGeom>
          <a:solidFill>
            <a:srgbClr val="43A99A"/>
          </a:solidFill>
          <a:ln/>
        </p:spPr>
        <p:txBody>
          <a:bodyPr/>
          <a:lstStyle/>
          <a:p>
            <a:endParaRPr lang="en-US"/>
          </a:p>
        </p:txBody>
      </p:sp>
      <p:sp>
        <p:nvSpPr>
          <p:cNvPr id="10" name="Text 7"/>
          <p:cNvSpPr/>
          <p:nvPr/>
        </p:nvSpPr>
        <p:spPr>
          <a:xfrm>
            <a:off x="6537960" y="160020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No verbal-only coordination: every decision is recorded in MoM, RFI, transmittal or Aconex.</a:t>
            </a:r>
            <a:endParaRPr lang="en-US" sz="1250" dirty="0"/>
          </a:p>
        </p:txBody>
      </p:sp>
      <p:sp>
        <p:nvSpPr>
          <p:cNvPr id="11" name="Shape 8"/>
          <p:cNvSpPr/>
          <p:nvPr/>
        </p:nvSpPr>
        <p:spPr>
          <a:xfrm>
            <a:off x="502920" y="2834640"/>
            <a:ext cx="5257800" cy="1170432"/>
          </a:xfrm>
          <a:prstGeom prst="roundRect">
            <a:avLst>
              <a:gd name="adj" fmla="val 6250"/>
            </a:avLst>
          </a:prstGeom>
          <a:solidFill>
            <a:srgbClr val="D9ECE7"/>
          </a:solidFill>
          <a:ln/>
        </p:spPr>
        <p:txBody>
          <a:bodyPr/>
          <a:lstStyle/>
          <a:p>
            <a:endParaRPr lang="en-US"/>
          </a:p>
        </p:txBody>
      </p:sp>
      <p:sp>
        <p:nvSpPr>
          <p:cNvPr id="12" name="Shape 9"/>
          <p:cNvSpPr/>
          <p:nvPr/>
        </p:nvSpPr>
        <p:spPr>
          <a:xfrm>
            <a:off x="704088" y="3355848"/>
            <a:ext cx="128016" cy="128016"/>
          </a:xfrm>
          <a:prstGeom prst="ellipse">
            <a:avLst/>
          </a:prstGeom>
          <a:solidFill>
            <a:srgbClr val="43A99A"/>
          </a:solidFill>
          <a:ln/>
        </p:spPr>
        <p:txBody>
          <a:bodyPr/>
          <a:lstStyle/>
          <a:p>
            <a:endParaRPr lang="en-US"/>
          </a:p>
        </p:txBody>
      </p:sp>
      <p:sp>
        <p:nvSpPr>
          <p:cNvPr id="13" name="Text 10"/>
          <p:cNvSpPr/>
          <p:nvPr/>
        </p:nvSpPr>
        <p:spPr>
          <a:xfrm>
            <a:off x="960120" y="292608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No interface point is closed without evidence and sign-off by all concerned parties.</a:t>
            </a:r>
            <a:endParaRPr lang="en-US" sz="1250" dirty="0"/>
          </a:p>
        </p:txBody>
      </p:sp>
      <p:sp>
        <p:nvSpPr>
          <p:cNvPr id="14" name="Shape 11"/>
          <p:cNvSpPr/>
          <p:nvPr/>
        </p:nvSpPr>
        <p:spPr>
          <a:xfrm>
            <a:off x="6080760" y="2834640"/>
            <a:ext cx="5257800" cy="1170432"/>
          </a:xfrm>
          <a:prstGeom prst="roundRect">
            <a:avLst>
              <a:gd name="adj" fmla="val 6250"/>
            </a:avLst>
          </a:prstGeom>
          <a:solidFill>
            <a:srgbClr val="D9ECE7"/>
          </a:solidFill>
          <a:ln/>
        </p:spPr>
        <p:txBody>
          <a:bodyPr/>
          <a:lstStyle/>
          <a:p>
            <a:endParaRPr lang="en-US"/>
          </a:p>
        </p:txBody>
      </p:sp>
      <p:sp>
        <p:nvSpPr>
          <p:cNvPr id="15" name="Shape 12"/>
          <p:cNvSpPr/>
          <p:nvPr/>
        </p:nvSpPr>
        <p:spPr>
          <a:xfrm>
            <a:off x="6281928" y="3355848"/>
            <a:ext cx="128016" cy="128016"/>
          </a:xfrm>
          <a:prstGeom prst="ellipse">
            <a:avLst/>
          </a:prstGeom>
          <a:solidFill>
            <a:srgbClr val="43A99A"/>
          </a:solidFill>
          <a:ln/>
        </p:spPr>
        <p:txBody>
          <a:bodyPr/>
          <a:lstStyle/>
          <a:p>
            <a:endParaRPr lang="en-US"/>
          </a:p>
        </p:txBody>
      </p:sp>
      <p:sp>
        <p:nvSpPr>
          <p:cNvPr id="16" name="Text 13"/>
          <p:cNvSpPr/>
          <p:nvPr/>
        </p:nvSpPr>
        <p:spPr>
          <a:xfrm>
            <a:off x="6537960" y="292608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No issue stays unresolved beyond its target date without formal escalation.</a:t>
            </a:r>
            <a:endParaRPr lang="en-US" sz="1250" dirty="0"/>
          </a:p>
        </p:txBody>
      </p:sp>
      <p:sp>
        <p:nvSpPr>
          <p:cNvPr id="17" name="Shape 14"/>
          <p:cNvSpPr/>
          <p:nvPr/>
        </p:nvSpPr>
        <p:spPr>
          <a:xfrm>
            <a:off x="502920" y="4160520"/>
            <a:ext cx="5257800" cy="1170432"/>
          </a:xfrm>
          <a:prstGeom prst="roundRect">
            <a:avLst>
              <a:gd name="adj" fmla="val 6250"/>
            </a:avLst>
          </a:prstGeom>
          <a:solidFill>
            <a:srgbClr val="D9ECE7"/>
          </a:solidFill>
          <a:ln/>
        </p:spPr>
        <p:txBody>
          <a:bodyPr/>
          <a:lstStyle/>
          <a:p>
            <a:endParaRPr lang="en-US"/>
          </a:p>
        </p:txBody>
      </p:sp>
      <p:sp>
        <p:nvSpPr>
          <p:cNvPr id="18" name="Shape 15"/>
          <p:cNvSpPr/>
          <p:nvPr/>
        </p:nvSpPr>
        <p:spPr>
          <a:xfrm>
            <a:off x="704088" y="4681728"/>
            <a:ext cx="128016" cy="128016"/>
          </a:xfrm>
          <a:prstGeom prst="ellipse">
            <a:avLst/>
          </a:prstGeom>
          <a:solidFill>
            <a:srgbClr val="43A99A"/>
          </a:solidFill>
          <a:ln/>
        </p:spPr>
        <p:txBody>
          <a:bodyPr/>
          <a:lstStyle/>
          <a:p>
            <a:endParaRPr lang="en-US"/>
          </a:p>
        </p:txBody>
      </p:sp>
      <p:sp>
        <p:nvSpPr>
          <p:cNvPr id="19" name="Text 16"/>
          <p:cNvSpPr/>
          <p:nvPr/>
        </p:nvSpPr>
        <p:spPr>
          <a:xfrm>
            <a:off x="960120" y="425196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Authority coordination goes through the GRO, with a valid Client authorization letter.</a:t>
            </a:r>
            <a:endParaRPr lang="en-US" sz="1250" dirty="0"/>
          </a:p>
        </p:txBody>
      </p:sp>
      <p:sp>
        <p:nvSpPr>
          <p:cNvPr id="20" name="Shape 17"/>
          <p:cNvSpPr/>
          <p:nvPr/>
        </p:nvSpPr>
        <p:spPr>
          <a:xfrm>
            <a:off x="6080760" y="4160520"/>
            <a:ext cx="5257800" cy="1170432"/>
          </a:xfrm>
          <a:prstGeom prst="roundRect">
            <a:avLst>
              <a:gd name="adj" fmla="val 6250"/>
            </a:avLst>
          </a:prstGeom>
          <a:solidFill>
            <a:srgbClr val="D9ECE7"/>
          </a:solidFill>
          <a:ln/>
        </p:spPr>
        <p:txBody>
          <a:bodyPr/>
          <a:lstStyle/>
          <a:p>
            <a:endParaRPr lang="en-US"/>
          </a:p>
        </p:txBody>
      </p:sp>
      <p:sp>
        <p:nvSpPr>
          <p:cNvPr id="21" name="Shape 18"/>
          <p:cNvSpPr/>
          <p:nvPr/>
        </p:nvSpPr>
        <p:spPr>
          <a:xfrm>
            <a:off x="6281928" y="4681728"/>
            <a:ext cx="128016" cy="128016"/>
          </a:xfrm>
          <a:prstGeom prst="ellipse">
            <a:avLst/>
          </a:prstGeom>
          <a:solidFill>
            <a:srgbClr val="43A99A"/>
          </a:solidFill>
          <a:ln/>
        </p:spPr>
        <p:txBody>
          <a:bodyPr/>
          <a:lstStyle/>
          <a:p>
            <a:endParaRPr lang="en-US"/>
          </a:p>
        </p:txBody>
      </p:sp>
      <p:sp>
        <p:nvSpPr>
          <p:cNvPr id="22" name="Text 19"/>
          <p:cNvSpPr/>
          <p:nvPr/>
        </p:nvSpPr>
        <p:spPr>
          <a:xfrm>
            <a:off x="6537960" y="425196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Escalation is fact-based and used when coordination fails — it never replaces coordination.</a:t>
            </a:r>
            <a:endParaRPr lang="en-US" sz="1250" dirty="0"/>
          </a:p>
        </p:txBody>
      </p:sp>
      <p:sp>
        <p:nvSpPr>
          <p:cNvPr id="23" name="Shape 20"/>
          <p:cNvSpPr/>
          <p:nvPr/>
        </p:nvSpPr>
        <p:spPr>
          <a:xfrm>
            <a:off x="502920" y="5486400"/>
            <a:ext cx="5257800" cy="1170432"/>
          </a:xfrm>
          <a:prstGeom prst="roundRect">
            <a:avLst>
              <a:gd name="adj" fmla="val 6250"/>
            </a:avLst>
          </a:prstGeom>
          <a:solidFill>
            <a:srgbClr val="D9ECE7"/>
          </a:solidFill>
          <a:ln/>
        </p:spPr>
        <p:txBody>
          <a:bodyPr/>
          <a:lstStyle/>
          <a:p>
            <a:endParaRPr lang="en-US"/>
          </a:p>
        </p:txBody>
      </p:sp>
      <p:sp>
        <p:nvSpPr>
          <p:cNvPr id="24" name="Shape 21"/>
          <p:cNvSpPr/>
          <p:nvPr/>
        </p:nvSpPr>
        <p:spPr>
          <a:xfrm>
            <a:off x="704088" y="6007608"/>
            <a:ext cx="128016" cy="128016"/>
          </a:xfrm>
          <a:prstGeom prst="ellipse">
            <a:avLst/>
          </a:prstGeom>
          <a:solidFill>
            <a:srgbClr val="43A99A"/>
          </a:solidFill>
          <a:ln/>
        </p:spPr>
        <p:txBody>
          <a:bodyPr/>
          <a:lstStyle/>
          <a:p>
            <a:endParaRPr lang="en-US"/>
          </a:p>
        </p:txBody>
      </p:sp>
      <p:sp>
        <p:nvSpPr>
          <p:cNvPr id="25" name="Text 22"/>
          <p:cNvSpPr/>
          <p:nvPr/>
        </p:nvSpPr>
        <p:spPr>
          <a:xfrm>
            <a:off x="960120" y="557784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Safety-related interface issues may be escalated immediately to any level, regardless of hierarchy.</a:t>
            </a:r>
            <a:endParaRPr lang="en-US" sz="1250" dirty="0"/>
          </a:p>
        </p:txBody>
      </p:sp>
      <p:sp>
        <p:nvSpPr>
          <p:cNvPr id="27" name="Text 23"/>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02</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Definitions &amp; Interface Types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What an interface point is and where interfaces arise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02 · DEFINITIONS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Interface Point (IP) — Definition &amp; Types</a:t>
            </a:r>
            <a:endParaRPr lang="en-US" sz="3000" dirty="0"/>
          </a:p>
        </p:txBody>
      </p:sp>
      <p:sp>
        <p:nvSpPr>
          <p:cNvPr id="5" name="Shape 2"/>
          <p:cNvSpPr/>
          <p:nvPr/>
        </p:nvSpPr>
        <p:spPr>
          <a:xfrm>
            <a:off x="502920" y="1459594"/>
            <a:ext cx="10652760" cy="1298448"/>
          </a:xfrm>
          <a:prstGeom prst="roundRect">
            <a:avLst>
              <a:gd name="adj" fmla="val 4930"/>
            </a:avLst>
          </a:prstGeom>
          <a:solidFill>
            <a:srgbClr val="D9ECE7"/>
          </a:solidFill>
          <a:ln/>
        </p:spPr>
        <p:txBody>
          <a:bodyPr/>
          <a:lstStyle/>
          <a:p>
            <a:endParaRPr lang="en-US"/>
          </a:p>
        </p:txBody>
      </p:sp>
      <p:sp>
        <p:nvSpPr>
          <p:cNvPr id="6" name="Shape 3"/>
          <p:cNvSpPr/>
          <p:nvPr/>
        </p:nvSpPr>
        <p:spPr>
          <a:xfrm>
            <a:off x="731520" y="1743058"/>
            <a:ext cx="731520" cy="731520"/>
          </a:xfrm>
          <a:prstGeom prst="ellipse">
            <a:avLst/>
          </a:prstGeom>
          <a:solidFill>
            <a:srgbClr val="004549"/>
          </a:solidFill>
          <a:ln/>
        </p:spPr>
        <p:txBody>
          <a:bodyPr/>
          <a:lstStyle/>
          <a:p>
            <a:endParaRPr lang="en-US"/>
          </a:p>
        </p:txBody>
      </p:sp>
      <p:sp>
        <p:nvSpPr>
          <p:cNvPr id="7" name="Text 4"/>
          <p:cNvSpPr/>
          <p:nvPr/>
        </p:nvSpPr>
        <p:spPr>
          <a:xfrm>
            <a:off x="731520" y="1743058"/>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5"/>
          <p:cNvSpPr/>
          <p:nvPr/>
        </p:nvSpPr>
        <p:spPr>
          <a:xfrm>
            <a:off x="1691640" y="1587610"/>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Interface Point (IP)</a:t>
            </a:r>
            <a:endParaRPr lang="en-US" sz="1350" dirty="0"/>
          </a:p>
        </p:txBody>
      </p:sp>
      <p:sp>
        <p:nvSpPr>
          <p:cNvPr id="9" name="Text 6"/>
          <p:cNvSpPr/>
          <p:nvPr/>
        </p:nvSpPr>
        <p:spPr>
          <a:xfrm>
            <a:off x="4937760" y="1587610"/>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A location, activity or information flow where two or more parties, systems or scopes meet and require coordination. The Interface Owner is the person or department assigned to manage and close it.</a:t>
            </a:r>
            <a:endParaRPr lang="en-US" sz="1150" dirty="0"/>
          </a:p>
        </p:txBody>
      </p:sp>
      <p:sp>
        <p:nvSpPr>
          <p:cNvPr id="10" name="Shape 7"/>
          <p:cNvSpPr/>
          <p:nvPr/>
        </p:nvSpPr>
        <p:spPr>
          <a:xfrm>
            <a:off x="502920" y="2940922"/>
            <a:ext cx="10652760" cy="1298448"/>
          </a:xfrm>
          <a:prstGeom prst="roundRect">
            <a:avLst>
              <a:gd name="adj" fmla="val 4930"/>
            </a:avLst>
          </a:prstGeom>
          <a:solidFill>
            <a:srgbClr val="FFFFFF"/>
          </a:solidFill>
          <a:ln w="12700">
            <a:solidFill>
              <a:srgbClr val="DCEAE7"/>
            </a:solidFill>
            <a:prstDash val="solid"/>
          </a:ln>
        </p:spPr>
        <p:txBody>
          <a:bodyPr/>
          <a:lstStyle/>
          <a:p>
            <a:endParaRPr lang="en-US"/>
          </a:p>
        </p:txBody>
      </p:sp>
      <p:sp>
        <p:nvSpPr>
          <p:cNvPr id="11" name="Shape 8"/>
          <p:cNvSpPr/>
          <p:nvPr/>
        </p:nvSpPr>
        <p:spPr>
          <a:xfrm>
            <a:off x="731520" y="3224386"/>
            <a:ext cx="731520" cy="731520"/>
          </a:xfrm>
          <a:prstGeom prst="ellipse">
            <a:avLst/>
          </a:prstGeom>
          <a:solidFill>
            <a:srgbClr val="004549"/>
          </a:solidFill>
          <a:ln/>
        </p:spPr>
        <p:txBody>
          <a:bodyPr/>
          <a:lstStyle/>
          <a:p>
            <a:endParaRPr lang="en-US"/>
          </a:p>
        </p:txBody>
      </p:sp>
      <p:sp>
        <p:nvSpPr>
          <p:cNvPr id="12" name="Text 9"/>
          <p:cNvSpPr/>
          <p:nvPr/>
        </p:nvSpPr>
        <p:spPr>
          <a:xfrm>
            <a:off x="731520" y="3224386"/>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p:nvPr/>
        </p:nvSpPr>
        <p:spPr>
          <a:xfrm>
            <a:off x="1691640" y="3068938"/>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Physical · Functional · Organizational</a:t>
            </a:r>
            <a:endParaRPr lang="en-US" sz="1350" dirty="0"/>
          </a:p>
        </p:txBody>
      </p:sp>
      <p:sp>
        <p:nvSpPr>
          <p:cNvPr id="14" name="Text 11"/>
          <p:cNvSpPr/>
          <p:nvPr/>
        </p:nvSpPr>
        <p:spPr>
          <a:xfrm>
            <a:off x="4937760" y="3068938"/>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Physical: scopes meet on site (clashes, crossings, tie-ins). Functional: systems must integrate. Organizational: a responsibility boundary between parties (battery limits).</a:t>
            </a:r>
            <a:endParaRPr lang="en-US" sz="1150" dirty="0"/>
          </a:p>
        </p:txBody>
      </p:sp>
      <p:sp>
        <p:nvSpPr>
          <p:cNvPr id="15" name="Shape 12"/>
          <p:cNvSpPr/>
          <p:nvPr/>
        </p:nvSpPr>
        <p:spPr>
          <a:xfrm>
            <a:off x="502920" y="4422250"/>
            <a:ext cx="10652760" cy="1298448"/>
          </a:xfrm>
          <a:prstGeom prst="roundRect">
            <a:avLst>
              <a:gd name="adj" fmla="val 4930"/>
            </a:avLst>
          </a:prstGeom>
          <a:solidFill>
            <a:srgbClr val="D9ECE7"/>
          </a:solidFill>
          <a:ln/>
        </p:spPr>
        <p:txBody>
          <a:bodyPr/>
          <a:lstStyle/>
          <a:p>
            <a:endParaRPr lang="en-US"/>
          </a:p>
        </p:txBody>
      </p:sp>
      <p:sp>
        <p:nvSpPr>
          <p:cNvPr id="16" name="Shape 13"/>
          <p:cNvSpPr/>
          <p:nvPr/>
        </p:nvSpPr>
        <p:spPr>
          <a:xfrm>
            <a:off x="731520" y="4705714"/>
            <a:ext cx="731520" cy="731520"/>
          </a:xfrm>
          <a:prstGeom prst="ellipse">
            <a:avLst/>
          </a:prstGeom>
          <a:solidFill>
            <a:srgbClr val="004549"/>
          </a:solidFill>
          <a:ln/>
        </p:spPr>
        <p:txBody>
          <a:bodyPr/>
          <a:lstStyle/>
          <a:p>
            <a:endParaRPr lang="en-US"/>
          </a:p>
        </p:txBody>
      </p:sp>
      <p:sp>
        <p:nvSpPr>
          <p:cNvPr id="17" name="Text 14"/>
          <p:cNvSpPr/>
          <p:nvPr/>
        </p:nvSpPr>
        <p:spPr>
          <a:xfrm>
            <a:off x="731520" y="4705714"/>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5"/>
          <p:cNvSpPr/>
          <p:nvPr/>
        </p:nvSpPr>
        <p:spPr>
          <a:xfrm>
            <a:off x="1691640" y="4550266"/>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Why it matters</a:t>
            </a:r>
            <a:endParaRPr lang="en-US" sz="1350" dirty="0"/>
          </a:p>
        </p:txBody>
      </p:sp>
      <p:sp>
        <p:nvSpPr>
          <p:cNvPr id="19" name="Text 16"/>
          <p:cNvSpPr/>
          <p:nvPr/>
        </p:nvSpPr>
        <p:spPr>
          <a:xfrm>
            <a:off x="4937760" y="4550266"/>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Minimizes risk and design / construction conflicts, avoids delays and cost overruns, optimizes resources and supports timely decisions and stakeholder alignment.</a:t>
            </a:r>
            <a:endParaRPr lang="en-US" sz="1150" dirty="0"/>
          </a:p>
        </p:txBody>
      </p:sp>
      <p:sp>
        <p:nvSpPr>
          <p:cNvPr id="21" name="Text 1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02 · INTERFACE TYPES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Internal, External &amp; Sister-Company Interfaces</a:t>
            </a:r>
            <a:endParaRPr lang="en-US" sz="3000" dirty="0"/>
          </a:p>
        </p:txBody>
      </p:sp>
      <p:sp>
        <p:nvSpPr>
          <p:cNvPr id="5" name="Shape 2"/>
          <p:cNvSpPr/>
          <p:nvPr/>
        </p:nvSpPr>
        <p:spPr>
          <a:xfrm>
            <a:off x="502920" y="1508760"/>
            <a:ext cx="3538728" cy="4160520"/>
          </a:xfrm>
          <a:prstGeom prst="roundRect">
            <a:avLst>
              <a:gd name="adj" fmla="val 2067"/>
            </a:avLst>
          </a:prstGeom>
          <a:solidFill>
            <a:srgbClr val="D9ECE7"/>
          </a:solidFill>
          <a:ln/>
        </p:spPr>
        <p:txBody>
          <a:bodyPr/>
          <a:lstStyle/>
          <a:p>
            <a:endParaRPr lang="en-US"/>
          </a:p>
        </p:txBody>
      </p:sp>
      <p:sp>
        <p:nvSpPr>
          <p:cNvPr id="6" name="Shape 3"/>
          <p:cNvSpPr/>
          <p:nvPr/>
        </p:nvSpPr>
        <p:spPr>
          <a:xfrm>
            <a:off x="777240" y="1783080"/>
            <a:ext cx="502920" cy="502920"/>
          </a:xfrm>
          <a:prstGeom prst="ellipse">
            <a:avLst/>
          </a:prstGeom>
          <a:solidFill>
            <a:srgbClr val="43A99A"/>
          </a:solidFill>
          <a:ln/>
        </p:spPr>
        <p:txBody>
          <a:bodyPr/>
          <a:lstStyle/>
          <a:p>
            <a:endParaRPr lang="en-US"/>
          </a:p>
        </p:txBody>
      </p:sp>
      <p:sp>
        <p:nvSpPr>
          <p:cNvPr id="7" name="Text 4"/>
          <p:cNvSpPr/>
          <p:nvPr/>
        </p:nvSpPr>
        <p:spPr>
          <a:xfrm>
            <a:off x="77724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5"/>
          <p:cNvSpPr/>
          <p:nvPr/>
        </p:nvSpPr>
        <p:spPr>
          <a:xfrm>
            <a:off x="77724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Internal Interfaces</a:t>
            </a:r>
            <a:endParaRPr lang="en-US" sz="1450" dirty="0"/>
          </a:p>
        </p:txBody>
      </p:sp>
      <p:sp>
        <p:nvSpPr>
          <p:cNvPr id="9" name="Text 6"/>
          <p:cNvSpPr/>
          <p:nvPr/>
        </p:nvSpPr>
        <p:spPr>
          <a:xfrm>
            <a:off x="77724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Engineering ↔ Construction, Planning ↔ Procurement, QA/QC ↔ Site, HSE ↔ concurrent works.</a:t>
            </a:r>
            <a:endParaRPr lang="en-US" sz="1150" dirty="0"/>
          </a:p>
        </p:txBody>
      </p:sp>
      <p:sp>
        <p:nvSpPr>
          <p:cNvPr id="10" name="Text 7"/>
          <p:cNvSpPr/>
          <p:nvPr/>
        </p:nvSpPr>
        <p:spPr>
          <a:xfrm>
            <a:off x="77724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Design data release, shop drawings, inspections, NCRs, schedule, budget and Aconex transmittals.</a:t>
            </a:r>
            <a:endParaRPr lang="en-US" sz="1150" dirty="0"/>
          </a:p>
        </p:txBody>
      </p:sp>
      <p:sp>
        <p:nvSpPr>
          <p:cNvPr id="11" name="Shape 8"/>
          <p:cNvSpPr/>
          <p:nvPr/>
        </p:nvSpPr>
        <p:spPr>
          <a:xfrm>
            <a:off x="4297680" y="1508760"/>
            <a:ext cx="3538728" cy="4160520"/>
          </a:xfrm>
          <a:prstGeom prst="roundRect">
            <a:avLst>
              <a:gd name="adj" fmla="val 2067"/>
            </a:avLst>
          </a:prstGeom>
          <a:solidFill>
            <a:srgbClr val="D9ECE7"/>
          </a:solidFill>
          <a:ln/>
        </p:spPr>
        <p:txBody>
          <a:bodyPr/>
          <a:lstStyle/>
          <a:p>
            <a:endParaRPr lang="en-US"/>
          </a:p>
        </p:txBody>
      </p:sp>
      <p:sp>
        <p:nvSpPr>
          <p:cNvPr id="12" name="Shape 9"/>
          <p:cNvSpPr/>
          <p:nvPr/>
        </p:nvSpPr>
        <p:spPr>
          <a:xfrm>
            <a:off x="4572000" y="1783080"/>
            <a:ext cx="502920" cy="502920"/>
          </a:xfrm>
          <a:prstGeom prst="ellipse">
            <a:avLst/>
          </a:prstGeom>
          <a:solidFill>
            <a:srgbClr val="43A99A"/>
          </a:solidFill>
          <a:ln/>
        </p:spPr>
        <p:txBody>
          <a:bodyPr/>
          <a:lstStyle/>
          <a:p>
            <a:endParaRPr lang="en-US"/>
          </a:p>
        </p:txBody>
      </p:sp>
      <p:sp>
        <p:nvSpPr>
          <p:cNvPr id="13" name="Text 10"/>
          <p:cNvSpPr/>
          <p:nvPr/>
        </p:nvSpPr>
        <p:spPr>
          <a:xfrm>
            <a:off x="457200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p:nvPr/>
        </p:nvSpPr>
        <p:spPr>
          <a:xfrm>
            <a:off x="457200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External Interfaces</a:t>
            </a:r>
            <a:endParaRPr lang="en-US" sz="1450" dirty="0"/>
          </a:p>
        </p:txBody>
      </p:sp>
      <p:sp>
        <p:nvSpPr>
          <p:cNvPr id="15" name="Text 12"/>
          <p:cNvSpPr/>
          <p:nvPr/>
        </p:nvSpPr>
        <p:spPr>
          <a:xfrm>
            <a:off x="457200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Client, PMC / Consultant, subcontractors, vendors, authorities, utilities and adjacent contractors.</a:t>
            </a:r>
            <a:endParaRPr lang="en-US" sz="1150" dirty="0"/>
          </a:p>
        </p:txBody>
      </p:sp>
      <p:sp>
        <p:nvSpPr>
          <p:cNvPr id="16" name="Text 13"/>
          <p:cNvSpPr/>
          <p:nvPr/>
        </p:nvSpPr>
        <p:spPr>
          <a:xfrm>
            <a:off x="457200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Approvals, IFC / as-built reviews, work-area handover, permits, NOCs and final acceptance.</a:t>
            </a:r>
            <a:endParaRPr lang="en-US" sz="1150" dirty="0"/>
          </a:p>
        </p:txBody>
      </p:sp>
      <p:sp>
        <p:nvSpPr>
          <p:cNvPr id="17" name="Shape 14"/>
          <p:cNvSpPr/>
          <p:nvPr/>
        </p:nvSpPr>
        <p:spPr>
          <a:xfrm>
            <a:off x="8092440" y="1508760"/>
            <a:ext cx="3538728" cy="4160520"/>
          </a:xfrm>
          <a:prstGeom prst="roundRect">
            <a:avLst>
              <a:gd name="adj" fmla="val 2067"/>
            </a:avLst>
          </a:prstGeom>
          <a:solidFill>
            <a:srgbClr val="D9ECE7"/>
          </a:solidFill>
          <a:ln/>
        </p:spPr>
        <p:txBody>
          <a:bodyPr/>
          <a:lstStyle/>
          <a:p>
            <a:endParaRPr lang="en-US"/>
          </a:p>
        </p:txBody>
      </p:sp>
      <p:sp>
        <p:nvSpPr>
          <p:cNvPr id="18" name="Shape 15"/>
          <p:cNvSpPr/>
          <p:nvPr/>
        </p:nvSpPr>
        <p:spPr>
          <a:xfrm>
            <a:off x="8366760" y="1783080"/>
            <a:ext cx="502920" cy="502920"/>
          </a:xfrm>
          <a:prstGeom prst="ellipse">
            <a:avLst/>
          </a:prstGeom>
          <a:solidFill>
            <a:srgbClr val="43A99A"/>
          </a:solidFill>
          <a:ln/>
        </p:spPr>
        <p:txBody>
          <a:bodyPr/>
          <a:lstStyle/>
          <a:p>
            <a:endParaRPr lang="en-US"/>
          </a:p>
        </p:txBody>
      </p:sp>
      <p:sp>
        <p:nvSpPr>
          <p:cNvPr id="19" name="Text 16"/>
          <p:cNvSpPr/>
          <p:nvPr/>
        </p:nvSpPr>
        <p:spPr>
          <a:xfrm>
            <a:off x="836676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p:nvPr/>
        </p:nvSpPr>
        <p:spPr>
          <a:xfrm>
            <a:off x="836676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Sister-Company Interfaces</a:t>
            </a:r>
            <a:endParaRPr lang="en-US" sz="1450" dirty="0"/>
          </a:p>
        </p:txBody>
      </p:sp>
      <p:sp>
        <p:nvSpPr>
          <p:cNvPr id="21" name="Text 18"/>
          <p:cNvSpPr/>
          <p:nvPr/>
        </p:nvSpPr>
        <p:spPr>
          <a:xfrm>
            <a:off x="836676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Dedicated coordination meeting: Planning, Technical, PM, Procurement, QA/QC, HSE, Interface.</a:t>
            </a:r>
            <a:endParaRPr lang="en-US" sz="1150" dirty="0"/>
          </a:p>
        </p:txBody>
      </p:sp>
      <p:sp>
        <p:nvSpPr>
          <p:cNvPr id="22" name="Text 19"/>
          <p:cNvSpPr/>
          <p:nvPr/>
        </p:nvSpPr>
        <p:spPr>
          <a:xfrm>
            <a:off x="836676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Joint Responsibility Matrix signed by both parties; no deviation without formal re-issue.</a:t>
            </a:r>
            <a:endParaRPr lang="en-US" sz="115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02 · PROJECT LIFE CYCLE</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Interfaces Across the Project Life Cycle</a:t>
            </a:r>
            <a:endParaRPr lang="en-US" sz="3000" dirty="0"/>
          </a:p>
        </p:txBody>
      </p:sp>
      <p:sp>
        <p:nvSpPr>
          <p:cNvPr id="5" name="Shape 2"/>
          <p:cNvSpPr/>
          <p:nvPr/>
        </p:nvSpPr>
        <p:spPr>
          <a:xfrm>
            <a:off x="502920" y="1600200"/>
            <a:ext cx="2542032" cy="2331720"/>
          </a:xfrm>
          <a:prstGeom prst="roundRect">
            <a:avLst>
              <a:gd name="adj" fmla="val 3137"/>
            </a:avLst>
          </a:prstGeom>
          <a:solidFill>
            <a:srgbClr val="FFFFFF"/>
          </a:solidFill>
          <a:ln w="12700">
            <a:solidFill>
              <a:srgbClr val="DCEAE7"/>
            </a:solidFill>
            <a:prstDash val="solid"/>
          </a:ln>
        </p:spPr>
        <p:txBody>
          <a:bodyPr/>
          <a:lstStyle/>
          <a:p>
            <a:endParaRPr lang="en-US"/>
          </a:p>
        </p:txBody>
      </p:sp>
      <p:sp>
        <p:nvSpPr>
          <p:cNvPr id="6" name="Shape 3"/>
          <p:cNvSpPr/>
          <p:nvPr/>
        </p:nvSpPr>
        <p:spPr>
          <a:xfrm>
            <a:off x="1517904" y="1344168"/>
            <a:ext cx="512064" cy="512064"/>
          </a:xfrm>
          <a:prstGeom prst="ellipse">
            <a:avLst/>
          </a:prstGeom>
          <a:solidFill>
            <a:srgbClr val="004549"/>
          </a:solidFill>
          <a:ln/>
        </p:spPr>
        <p:txBody>
          <a:bodyPr/>
          <a:lstStyle/>
          <a:p>
            <a:endParaRPr lang="en-US"/>
          </a:p>
        </p:txBody>
      </p:sp>
      <p:sp>
        <p:nvSpPr>
          <p:cNvPr id="7" name="Text 4"/>
          <p:cNvSpPr/>
          <p:nvPr/>
        </p:nvSpPr>
        <p:spPr>
          <a:xfrm>
            <a:off x="1517904" y="1344168"/>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5"/>
          <p:cNvSpPr/>
          <p:nvPr/>
        </p:nvSpPr>
        <p:spPr>
          <a:xfrm>
            <a:off x="640080" y="2011680"/>
            <a:ext cx="2267712" cy="685800"/>
          </a:xfrm>
          <a:prstGeom prst="rect">
            <a:avLst/>
          </a:prstGeom>
          <a:noFill/>
          <a:ln/>
        </p:spPr>
        <p:txBody>
          <a:bodyPr wrap="square" rtlCol="0" anchor="ctr"/>
          <a:lstStyle/>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Tender &amp;</a:t>
            </a:r>
            <a:endParaRPr lang="en-US" sz="1400" dirty="0"/>
          </a:p>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Design</a:t>
            </a:r>
            <a:endParaRPr lang="en-US" sz="1400" dirty="0"/>
          </a:p>
        </p:txBody>
      </p:sp>
      <p:sp>
        <p:nvSpPr>
          <p:cNvPr id="9" name="Text 6"/>
          <p:cNvSpPr/>
          <p:nvPr/>
        </p:nvSpPr>
        <p:spPr>
          <a:xfrm>
            <a:off x="685800" y="2788920"/>
            <a:ext cx="2176272" cy="1051560"/>
          </a:xfrm>
          <a:prstGeom prst="rect">
            <a:avLst/>
          </a:prstGeom>
          <a:noFill/>
          <a:ln/>
        </p:spPr>
        <p:txBody>
          <a:bodyPr wrap="square" rtlCol="0" anchor="ctr"/>
          <a:lstStyle/>
          <a:p>
            <a:pPr marL="0" indent="0" algn="ctr">
              <a:buNone/>
            </a:pPr>
            <a:r>
              <a:rPr lang="en-US" sz="1050" dirty="0">
                <a:solidFill>
                  <a:srgbClr val="2F3235"/>
                </a:solidFill>
                <a:latin typeface="Calibri" pitchFamily="34" charset="0"/>
                <a:ea typeface="Calibri" pitchFamily="34" charset="-122"/>
                <a:cs typeface="Calibri" pitchFamily="34" charset="-120"/>
              </a:rPr>
              <a:t>Scope boundaries, package overlaps, discipline clashes, IFC revisions and data release.</a:t>
            </a:r>
            <a:endParaRPr lang="en-US" sz="1050" dirty="0"/>
          </a:p>
        </p:txBody>
      </p:sp>
      <p:sp>
        <p:nvSpPr>
          <p:cNvPr id="10" name="Text 7"/>
          <p:cNvSpPr/>
          <p:nvPr/>
        </p:nvSpPr>
        <p:spPr>
          <a:xfrm>
            <a:off x="3044952" y="2537460"/>
            <a:ext cx="256032" cy="457200"/>
          </a:xfrm>
          <a:prstGeom prst="rect">
            <a:avLst/>
          </a:prstGeom>
          <a:noFill/>
          <a:ln/>
        </p:spPr>
        <p:txBody>
          <a:bodyPr wrap="square" rtlCol="0" anchor="ctr"/>
          <a:lstStyle/>
          <a:p>
            <a:pPr marL="0" indent="0" algn="ctr">
              <a:buNone/>
            </a:pPr>
            <a:r>
              <a:rPr lang="en-US" sz="1800" b="1" dirty="0">
                <a:solidFill>
                  <a:srgbClr val="43A99A"/>
                </a:solidFill>
                <a:latin typeface="Calibri" pitchFamily="34" charset="0"/>
                <a:ea typeface="Calibri" pitchFamily="34" charset="-122"/>
                <a:cs typeface="Calibri" pitchFamily="34" charset="-120"/>
              </a:rPr>
              <a:t>→</a:t>
            </a:r>
            <a:endParaRPr lang="en-US" sz="1800" dirty="0"/>
          </a:p>
        </p:txBody>
      </p:sp>
      <p:sp>
        <p:nvSpPr>
          <p:cNvPr id="11" name="Shape 8"/>
          <p:cNvSpPr/>
          <p:nvPr/>
        </p:nvSpPr>
        <p:spPr>
          <a:xfrm>
            <a:off x="3300984" y="1600200"/>
            <a:ext cx="2542032" cy="2331720"/>
          </a:xfrm>
          <a:prstGeom prst="roundRect">
            <a:avLst>
              <a:gd name="adj" fmla="val 3137"/>
            </a:avLst>
          </a:prstGeom>
          <a:solidFill>
            <a:srgbClr val="FFFFFF"/>
          </a:solidFill>
          <a:ln w="12700">
            <a:solidFill>
              <a:srgbClr val="DCEAE7"/>
            </a:solidFill>
            <a:prstDash val="solid"/>
          </a:ln>
        </p:spPr>
        <p:txBody>
          <a:bodyPr/>
          <a:lstStyle/>
          <a:p>
            <a:endParaRPr lang="en-US"/>
          </a:p>
        </p:txBody>
      </p:sp>
      <p:sp>
        <p:nvSpPr>
          <p:cNvPr id="12" name="Shape 9"/>
          <p:cNvSpPr/>
          <p:nvPr/>
        </p:nvSpPr>
        <p:spPr>
          <a:xfrm>
            <a:off x="4315968" y="1344168"/>
            <a:ext cx="512064" cy="512064"/>
          </a:xfrm>
          <a:prstGeom prst="ellipse">
            <a:avLst/>
          </a:prstGeom>
          <a:solidFill>
            <a:srgbClr val="004549"/>
          </a:solidFill>
          <a:ln/>
        </p:spPr>
        <p:txBody>
          <a:bodyPr/>
          <a:lstStyle/>
          <a:p>
            <a:endParaRPr lang="en-US"/>
          </a:p>
        </p:txBody>
      </p:sp>
      <p:sp>
        <p:nvSpPr>
          <p:cNvPr id="13" name="Text 10"/>
          <p:cNvSpPr/>
          <p:nvPr/>
        </p:nvSpPr>
        <p:spPr>
          <a:xfrm>
            <a:off x="4315968" y="1344168"/>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1"/>
          <p:cNvSpPr/>
          <p:nvPr/>
        </p:nvSpPr>
        <p:spPr>
          <a:xfrm>
            <a:off x="3438144" y="2011680"/>
            <a:ext cx="2267712" cy="685800"/>
          </a:xfrm>
          <a:prstGeom prst="rect">
            <a:avLst/>
          </a:prstGeom>
          <a:noFill/>
          <a:ln/>
        </p:spPr>
        <p:txBody>
          <a:bodyPr wrap="square" rtlCol="0" anchor="ctr"/>
          <a:lstStyle/>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Procurement</a:t>
            </a:r>
            <a:endParaRPr lang="en-US" sz="1400" dirty="0"/>
          </a:p>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&amp; Vendors</a:t>
            </a:r>
            <a:endParaRPr lang="en-US" sz="1400" dirty="0"/>
          </a:p>
        </p:txBody>
      </p:sp>
      <p:sp>
        <p:nvSpPr>
          <p:cNvPr id="15" name="Text 12"/>
          <p:cNvSpPr/>
          <p:nvPr/>
        </p:nvSpPr>
        <p:spPr>
          <a:xfrm>
            <a:off x="3483864" y="2788920"/>
            <a:ext cx="2176272" cy="1051560"/>
          </a:xfrm>
          <a:prstGeom prst="rect">
            <a:avLst/>
          </a:prstGeom>
          <a:noFill/>
          <a:ln/>
        </p:spPr>
        <p:txBody>
          <a:bodyPr wrap="square" rtlCol="0" anchor="ctr"/>
          <a:lstStyle/>
          <a:p>
            <a:pPr marL="0" indent="0" algn="ctr">
              <a:buNone/>
            </a:pPr>
            <a:r>
              <a:rPr lang="en-US" sz="1050" dirty="0">
                <a:solidFill>
                  <a:srgbClr val="2F3235"/>
                </a:solidFill>
                <a:latin typeface="Calibri" pitchFamily="34" charset="0"/>
                <a:ea typeface="Calibri" pitchFamily="34" charset="-122"/>
                <a:cs typeface="Calibri" pitchFamily="34" charset="-120"/>
              </a:rPr>
              <a:t>Long-lead items vs design freeze, vendor approvals and material handover points.</a:t>
            </a:r>
            <a:endParaRPr lang="en-US" sz="1050" dirty="0"/>
          </a:p>
        </p:txBody>
      </p:sp>
      <p:sp>
        <p:nvSpPr>
          <p:cNvPr id="16" name="Text 13"/>
          <p:cNvSpPr/>
          <p:nvPr/>
        </p:nvSpPr>
        <p:spPr>
          <a:xfrm>
            <a:off x="5843016" y="2537460"/>
            <a:ext cx="256032" cy="457200"/>
          </a:xfrm>
          <a:prstGeom prst="rect">
            <a:avLst/>
          </a:prstGeom>
          <a:noFill/>
          <a:ln/>
        </p:spPr>
        <p:txBody>
          <a:bodyPr wrap="square" rtlCol="0" anchor="ctr"/>
          <a:lstStyle/>
          <a:p>
            <a:pPr marL="0" indent="0" algn="ctr">
              <a:buNone/>
            </a:pPr>
            <a:r>
              <a:rPr lang="en-US" sz="1800" b="1" dirty="0">
                <a:solidFill>
                  <a:srgbClr val="43A99A"/>
                </a:solidFill>
                <a:latin typeface="Calibri" pitchFamily="34" charset="0"/>
                <a:ea typeface="Calibri" pitchFamily="34" charset="-122"/>
                <a:cs typeface="Calibri" pitchFamily="34" charset="-120"/>
              </a:rPr>
              <a:t>→</a:t>
            </a:r>
            <a:endParaRPr lang="en-US" sz="1800" dirty="0"/>
          </a:p>
        </p:txBody>
      </p:sp>
      <p:sp>
        <p:nvSpPr>
          <p:cNvPr id="17" name="Shape 14"/>
          <p:cNvSpPr/>
          <p:nvPr/>
        </p:nvSpPr>
        <p:spPr>
          <a:xfrm>
            <a:off x="6099048" y="1600200"/>
            <a:ext cx="2542032" cy="2331720"/>
          </a:xfrm>
          <a:prstGeom prst="roundRect">
            <a:avLst>
              <a:gd name="adj" fmla="val 3137"/>
            </a:avLst>
          </a:prstGeom>
          <a:solidFill>
            <a:srgbClr val="FFFFFF"/>
          </a:solidFill>
          <a:ln w="12700">
            <a:solidFill>
              <a:srgbClr val="DCEAE7"/>
            </a:solidFill>
            <a:prstDash val="solid"/>
          </a:ln>
        </p:spPr>
        <p:txBody>
          <a:bodyPr/>
          <a:lstStyle/>
          <a:p>
            <a:endParaRPr lang="en-US"/>
          </a:p>
        </p:txBody>
      </p:sp>
      <p:sp>
        <p:nvSpPr>
          <p:cNvPr id="18" name="Shape 15"/>
          <p:cNvSpPr/>
          <p:nvPr/>
        </p:nvSpPr>
        <p:spPr>
          <a:xfrm>
            <a:off x="7114032" y="1344168"/>
            <a:ext cx="512064" cy="512064"/>
          </a:xfrm>
          <a:prstGeom prst="ellipse">
            <a:avLst/>
          </a:prstGeom>
          <a:solidFill>
            <a:srgbClr val="004549"/>
          </a:solidFill>
          <a:ln/>
        </p:spPr>
        <p:txBody>
          <a:bodyPr/>
          <a:lstStyle/>
          <a:p>
            <a:endParaRPr lang="en-US"/>
          </a:p>
        </p:txBody>
      </p:sp>
      <p:sp>
        <p:nvSpPr>
          <p:cNvPr id="19" name="Text 16"/>
          <p:cNvSpPr/>
          <p:nvPr/>
        </p:nvSpPr>
        <p:spPr>
          <a:xfrm>
            <a:off x="7114032" y="1344168"/>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p:nvPr/>
        </p:nvSpPr>
        <p:spPr>
          <a:xfrm>
            <a:off x="6236208" y="2011680"/>
            <a:ext cx="2267712" cy="685800"/>
          </a:xfrm>
          <a:prstGeom prst="rect">
            <a:avLst/>
          </a:prstGeom>
          <a:noFill/>
          <a:ln/>
        </p:spPr>
        <p:txBody>
          <a:bodyPr wrap="square" rtlCol="0" anchor="ctr"/>
          <a:lstStyle/>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Construction</a:t>
            </a:r>
            <a:endParaRPr lang="en-US" sz="1400" dirty="0"/>
          </a:p>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&amp; Site</a:t>
            </a:r>
            <a:endParaRPr lang="en-US" sz="1400" dirty="0"/>
          </a:p>
        </p:txBody>
      </p:sp>
      <p:sp>
        <p:nvSpPr>
          <p:cNvPr id="21" name="Text 18"/>
          <p:cNvSpPr/>
          <p:nvPr/>
        </p:nvSpPr>
        <p:spPr>
          <a:xfrm>
            <a:off x="6281928" y="2788920"/>
            <a:ext cx="2176272" cy="1051560"/>
          </a:xfrm>
          <a:prstGeom prst="rect">
            <a:avLst/>
          </a:prstGeom>
          <a:noFill/>
          <a:ln/>
        </p:spPr>
        <p:txBody>
          <a:bodyPr wrap="square" rtlCol="0" anchor="ctr"/>
          <a:lstStyle/>
          <a:p>
            <a:pPr marL="0" indent="0" algn="ctr">
              <a:buNone/>
            </a:pPr>
            <a:r>
              <a:rPr lang="en-US" sz="1050" dirty="0">
                <a:solidFill>
                  <a:srgbClr val="2F3235"/>
                </a:solidFill>
                <a:latin typeface="Calibri" pitchFamily="34" charset="0"/>
                <a:ea typeface="Calibri" pitchFamily="34" charset="-122"/>
                <a:cs typeface="Calibri" pitchFamily="34" charset="-120"/>
              </a:rPr>
              <a:t>Work-zone handover, sequencing, site clashes and authority dependencies.</a:t>
            </a:r>
            <a:endParaRPr lang="en-US" sz="1050" dirty="0"/>
          </a:p>
        </p:txBody>
      </p:sp>
      <p:sp>
        <p:nvSpPr>
          <p:cNvPr id="22" name="Text 19"/>
          <p:cNvSpPr/>
          <p:nvPr/>
        </p:nvSpPr>
        <p:spPr>
          <a:xfrm>
            <a:off x="8641080" y="2537460"/>
            <a:ext cx="256032" cy="457200"/>
          </a:xfrm>
          <a:prstGeom prst="rect">
            <a:avLst/>
          </a:prstGeom>
          <a:noFill/>
          <a:ln/>
        </p:spPr>
        <p:txBody>
          <a:bodyPr wrap="square" rtlCol="0" anchor="ctr"/>
          <a:lstStyle/>
          <a:p>
            <a:pPr marL="0" indent="0" algn="ctr">
              <a:buNone/>
            </a:pPr>
            <a:r>
              <a:rPr lang="en-US" sz="1800" b="1" dirty="0">
                <a:solidFill>
                  <a:srgbClr val="43A99A"/>
                </a:solidFill>
                <a:latin typeface="Calibri" pitchFamily="34" charset="0"/>
                <a:ea typeface="Calibri" pitchFamily="34" charset="-122"/>
                <a:cs typeface="Calibri" pitchFamily="34" charset="-120"/>
              </a:rPr>
              <a:t>→</a:t>
            </a:r>
            <a:endParaRPr lang="en-US" sz="1800" dirty="0"/>
          </a:p>
        </p:txBody>
      </p:sp>
      <p:sp>
        <p:nvSpPr>
          <p:cNvPr id="23" name="Shape 20"/>
          <p:cNvSpPr/>
          <p:nvPr/>
        </p:nvSpPr>
        <p:spPr>
          <a:xfrm>
            <a:off x="8897112" y="1600200"/>
            <a:ext cx="2542032" cy="2331720"/>
          </a:xfrm>
          <a:prstGeom prst="roundRect">
            <a:avLst>
              <a:gd name="adj" fmla="val 3137"/>
            </a:avLst>
          </a:prstGeom>
          <a:solidFill>
            <a:srgbClr val="FFFFFF"/>
          </a:solidFill>
          <a:ln w="12700">
            <a:solidFill>
              <a:srgbClr val="DCEAE7"/>
            </a:solidFill>
            <a:prstDash val="solid"/>
          </a:ln>
        </p:spPr>
        <p:txBody>
          <a:bodyPr/>
          <a:lstStyle/>
          <a:p>
            <a:endParaRPr lang="en-US"/>
          </a:p>
        </p:txBody>
      </p:sp>
      <p:sp>
        <p:nvSpPr>
          <p:cNvPr id="24" name="Shape 21"/>
          <p:cNvSpPr/>
          <p:nvPr/>
        </p:nvSpPr>
        <p:spPr>
          <a:xfrm>
            <a:off x="9912096" y="1344168"/>
            <a:ext cx="512064" cy="512064"/>
          </a:xfrm>
          <a:prstGeom prst="ellipse">
            <a:avLst/>
          </a:prstGeom>
          <a:solidFill>
            <a:srgbClr val="004549"/>
          </a:solidFill>
          <a:ln/>
        </p:spPr>
        <p:txBody>
          <a:bodyPr/>
          <a:lstStyle/>
          <a:p>
            <a:endParaRPr lang="en-US"/>
          </a:p>
        </p:txBody>
      </p:sp>
      <p:sp>
        <p:nvSpPr>
          <p:cNvPr id="25" name="Text 22"/>
          <p:cNvSpPr/>
          <p:nvPr/>
        </p:nvSpPr>
        <p:spPr>
          <a:xfrm>
            <a:off x="9912096" y="1344168"/>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3"/>
          <p:cNvSpPr/>
          <p:nvPr/>
        </p:nvSpPr>
        <p:spPr>
          <a:xfrm>
            <a:off x="9034272" y="2011680"/>
            <a:ext cx="2267712" cy="685800"/>
          </a:xfrm>
          <a:prstGeom prst="rect">
            <a:avLst/>
          </a:prstGeom>
          <a:noFill/>
          <a:ln/>
        </p:spPr>
        <p:txBody>
          <a:bodyPr wrap="square" rtlCol="0" anchor="ctr"/>
          <a:lstStyle/>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Testing &amp;</a:t>
            </a:r>
            <a:endParaRPr lang="en-US" sz="1400" dirty="0"/>
          </a:p>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Handover</a:t>
            </a:r>
            <a:endParaRPr lang="en-US" sz="1400" dirty="0"/>
          </a:p>
        </p:txBody>
      </p:sp>
      <p:sp>
        <p:nvSpPr>
          <p:cNvPr id="27" name="Text 24"/>
          <p:cNvSpPr/>
          <p:nvPr/>
        </p:nvSpPr>
        <p:spPr>
          <a:xfrm>
            <a:off x="9079992" y="2788920"/>
            <a:ext cx="2176272" cy="1051560"/>
          </a:xfrm>
          <a:prstGeom prst="rect">
            <a:avLst/>
          </a:prstGeom>
          <a:noFill/>
          <a:ln/>
        </p:spPr>
        <p:txBody>
          <a:bodyPr wrap="square" rtlCol="0" anchor="ctr"/>
          <a:lstStyle/>
          <a:p>
            <a:pPr marL="0" indent="0" algn="ctr">
              <a:buNone/>
            </a:pPr>
            <a:r>
              <a:rPr lang="en-US" sz="1050" dirty="0">
                <a:solidFill>
                  <a:srgbClr val="2F3235"/>
                </a:solidFill>
                <a:latin typeface="Calibri" pitchFamily="34" charset="0"/>
                <a:ea typeface="Calibri" pitchFamily="34" charset="-122"/>
                <a:cs typeface="Calibri" pitchFamily="34" charset="-120"/>
              </a:rPr>
              <a:t>System integration, as-builts, final approvals, NOCs and acceptance.</a:t>
            </a:r>
            <a:endParaRPr lang="en-US" sz="1050" dirty="0"/>
          </a:p>
        </p:txBody>
      </p:sp>
      <p:sp>
        <p:nvSpPr>
          <p:cNvPr id="28" name="Text 25"/>
          <p:cNvSpPr/>
          <p:nvPr/>
        </p:nvSpPr>
        <p:spPr>
          <a:xfrm>
            <a:off x="502920" y="4251960"/>
            <a:ext cx="7315200" cy="36576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Communication Timing Rules (procedure requirement)</a:t>
            </a:r>
            <a:endParaRPr lang="en-US" sz="1400" dirty="0"/>
          </a:p>
        </p:txBody>
      </p:sp>
      <p:sp>
        <p:nvSpPr>
          <p:cNvPr id="29" name="Shape 26"/>
          <p:cNvSpPr/>
          <p:nvPr/>
        </p:nvSpPr>
        <p:spPr>
          <a:xfrm>
            <a:off x="502920" y="4709160"/>
            <a:ext cx="2542032" cy="1188720"/>
          </a:xfrm>
          <a:prstGeom prst="roundRect">
            <a:avLst>
              <a:gd name="adj" fmla="val 4615"/>
            </a:avLst>
          </a:prstGeom>
          <a:solidFill>
            <a:srgbClr val="D9ECE7"/>
          </a:solidFill>
          <a:ln/>
        </p:spPr>
        <p:txBody>
          <a:bodyPr/>
          <a:lstStyle/>
          <a:p>
            <a:endParaRPr lang="en-US"/>
          </a:p>
        </p:txBody>
      </p:sp>
      <p:sp>
        <p:nvSpPr>
          <p:cNvPr id="30" name="Text 27"/>
          <p:cNvSpPr/>
          <p:nvPr/>
        </p:nvSpPr>
        <p:spPr>
          <a:xfrm>
            <a:off x="640080" y="4800600"/>
            <a:ext cx="2286000" cy="548640"/>
          </a:xfrm>
          <a:prstGeom prst="rect">
            <a:avLst/>
          </a:prstGeom>
          <a:noFill/>
          <a:ln/>
        </p:spPr>
        <p:txBody>
          <a:bodyPr wrap="square" rtlCol="0" anchor="ctr"/>
          <a:lstStyle/>
          <a:p>
            <a:pPr marL="0" indent="0">
              <a:buNone/>
            </a:pPr>
            <a:r>
              <a:rPr lang="en-US" sz="1050" b="1" dirty="0">
                <a:solidFill>
                  <a:srgbClr val="004549"/>
                </a:solidFill>
                <a:latin typeface="Calibri" pitchFamily="34" charset="0"/>
                <a:ea typeface="Calibri" pitchFamily="34" charset="-122"/>
                <a:cs typeface="Calibri" pitchFamily="34" charset="-120"/>
              </a:rPr>
              <a:t>Internal meeting call</a:t>
            </a:r>
            <a:endParaRPr lang="en-US" sz="1050" dirty="0"/>
          </a:p>
        </p:txBody>
      </p:sp>
      <p:sp>
        <p:nvSpPr>
          <p:cNvPr id="31" name="Text 28"/>
          <p:cNvSpPr/>
          <p:nvPr/>
        </p:nvSpPr>
        <p:spPr>
          <a:xfrm>
            <a:off x="640080" y="5349240"/>
            <a:ext cx="2286000" cy="457200"/>
          </a:xfrm>
          <a:prstGeom prst="rect">
            <a:avLst/>
          </a:prstGeom>
          <a:noFill/>
          <a:ln/>
        </p:spPr>
        <p:txBody>
          <a:bodyPr wrap="square" rtlCol="0" anchor="ctr"/>
          <a:lstStyle/>
          <a:p>
            <a:pPr marL="0" indent="0">
              <a:buNone/>
            </a:pPr>
            <a:r>
              <a:rPr lang="en-US" sz="1150" b="1" dirty="0">
                <a:solidFill>
                  <a:srgbClr val="43A99A"/>
                </a:solidFill>
                <a:latin typeface="Calibri" pitchFamily="34" charset="0"/>
                <a:ea typeface="Calibri" pitchFamily="34" charset="-122"/>
                <a:cs typeface="Calibri" pitchFamily="34" charset="-120"/>
              </a:rPr>
              <a:t>≥ 48 hours notice</a:t>
            </a:r>
            <a:endParaRPr lang="en-US" sz="1150" dirty="0"/>
          </a:p>
        </p:txBody>
      </p:sp>
      <p:sp>
        <p:nvSpPr>
          <p:cNvPr id="32" name="Shape 29"/>
          <p:cNvSpPr/>
          <p:nvPr/>
        </p:nvSpPr>
        <p:spPr>
          <a:xfrm>
            <a:off x="3200400" y="4709160"/>
            <a:ext cx="2542032" cy="1188720"/>
          </a:xfrm>
          <a:prstGeom prst="roundRect">
            <a:avLst>
              <a:gd name="adj" fmla="val 4615"/>
            </a:avLst>
          </a:prstGeom>
          <a:solidFill>
            <a:srgbClr val="D9ECE7"/>
          </a:solidFill>
          <a:ln/>
        </p:spPr>
        <p:txBody>
          <a:bodyPr/>
          <a:lstStyle/>
          <a:p>
            <a:endParaRPr lang="en-US"/>
          </a:p>
        </p:txBody>
      </p:sp>
      <p:sp>
        <p:nvSpPr>
          <p:cNvPr id="33" name="Text 30"/>
          <p:cNvSpPr/>
          <p:nvPr/>
        </p:nvSpPr>
        <p:spPr>
          <a:xfrm>
            <a:off x="3337560" y="4800600"/>
            <a:ext cx="2286000" cy="548640"/>
          </a:xfrm>
          <a:prstGeom prst="rect">
            <a:avLst/>
          </a:prstGeom>
          <a:noFill/>
          <a:ln/>
        </p:spPr>
        <p:txBody>
          <a:bodyPr wrap="square" rtlCol="0" anchor="ctr"/>
          <a:lstStyle/>
          <a:p>
            <a:pPr marL="0" indent="0">
              <a:buNone/>
            </a:pPr>
            <a:r>
              <a:rPr lang="en-US" sz="1050" b="1" dirty="0">
                <a:solidFill>
                  <a:srgbClr val="004549"/>
                </a:solidFill>
                <a:latin typeface="Calibri" pitchFamily="34" charset="0"/>
                <a:ea typeface="Calibri" pitchFamily="34" charset="-122"/>
                <a:cs typeface="Calibri" pitchFamily="34" charset="-120"/>
              </a:rPr>
              <a:t>External meeting invitation</a:t>
            </a:r>
            <a:endParaRPr lang="en-US" sz="1050" dirty="0"/>
          </a:p>
        </p:txBody>
      </p:sp>
      <p:sp>
        <p:nvSpPr>
          <p:cNvPr id="34" name="Text 31"/>
          <p:cNvSpPr/>
          <p:nvPr/>
        </p:nvSpPr>
        <p:spPr>
          <a:xfrm>
            <a:off x="3337560" y="5349240"/>
            <a:ext cx="2286000" cy="457200"/>
          </a:xfrm>
          <a:prstGeom prst="rect">
            <a:avLst/>
          </a:prstGeom>
          <a:noFill/>
          <a:ln/>
        </p:spPr>
        <p:txBody>
          <a:bodyPr wrap="square" rtlCol="0" anchor="ctr"/>
          <a:lstStyle/>
          <a:p>
            <a:pPr marL="0" indent="0">
              <a:buNone/>
            </a:pPr>
            <a:r>
              <a:rPr lang="en-US" sz="1150" b="1" dirty="0">
                <a:solidFill>
                  <a:srgbClr val="43A99A"/>
                </a:solidFill>
                <a:latin typeface="Calibri" pitchFamily="34" charset="0"/>
                <a:ea typeface="Calibri" pitchFamily="34" charset="-122"/>
                <a:cs typeface="Calibri" pitchFamily="34" charset="-120"/>
              </a:rPr>
              <a:t>≥ 72 hours notice</a:t>
            </a:r>
            <a:endParaRPr lang="en-US" sz="1150" dirty="0"/>
          </a:p>
        </p:txBody>
      </p:sp>
      <p:sp>
        <p:nvSpPr>
          <p:cNvPr id="35" name="Shape 32"/>
          <p:cNvSpPr/>
          <p:nvPr/>
        </p:nvSpPr>
        <p:spPr>
          <a:xfrm>
            <a:off x="5897880" y="4709160"/>
            <a:ext cx="2542032" cy="1188720"/>
          </a:xfrm>
          <a:prstGeom prst="roundRect">
            <a:avLst>
              <a:gd name="adj" fmla="val 4615"/>
            </a:avLst>
          </a:prstGeom>
          <a:solidFill>
            <a:srgbClr val="D9ECE7"/>
          </a:solidFill>
          <a:ln/>
        </p:spPr>
        <p:txBody>
          <a:bodyPr/>
          <a:lstStyle/>
          <a:p>
            <a:endParaRPr lang="en-US"/>
          </a:p>
        </p:txBody>
      </p:sp>
      <p:sp>
        <p:nvSpPr>
          <p:cNvPr id="36" name="Text 33"/>
          <p:cNvSpPr/>
          <p:nvPr/>
        </p:nvSpPr>
        <p:spPr>
          <a:xfrm>
            <a:off x="6035040" y="4800600"/>
            <a:ext cx="2286000" cy="548640"/>
          </a:xfrm>
          <a:prstGeom prst="rect">
            <a:avLst/>
          </a:prstGeom>
          <a:noFill/>
          <a:ln/>
        </p:spPr>
        <p:txBody>
          <a:bodyPr wrap="square" rtlCol="0" anchor="ctr"/>
          <a:lstStyle/>
          <a:p>
            <a:pPr marL="0" indent="0">
              <a:buNone/>
            </a:pPr>
            <a:r>
              <a:rPr lang="en-US" sz="1050" b="1" dirty="0">
                <a:solidFill>
                  <a:srgbClr val="004549"/>
                </a:solidFill>
                <a:latin typeface="Calibri" pitchFamily="34" charset="0"/>
                <a:ea typeface="Calibri" pitchFamily="34" charset="-122"/>
                <a:cs typeface="Calibri" pitchFamily="34" charset="-120"/>
              </a:rPr>
              <a:t>Minutes of Meeting (MoM)</a:t>
            </a:r>
            <a:endParaRPr lang="en-US" sz="1050" dirty="0"/>
          </a:p>
        </p:txBody>
      </p:sp>
      <p:sp>
        <p:nvSpPr>
          <p:cNvPr id="37" name="Text 34"/>
          <p:cNvSpPr/>
          <p:nvPr/>
        </p:nvSpPr>
        <p:spPr>
          <a:xfrm>
            <a:off x="6035040" y="5349240"/>
            <a:ext cx="2286000" cy="457200"/>
          </a:xfrm>
          <a:prstGeom prst="rect">
            <a:avLst/>
          </a:prstGeom>
          <a:noFill/>
          <a:ln/>
        </p:spPr>
        <p:txBody>
          <a:bodyPr wrap="square" rtlCol="0" anchor="ctr"/>
          <a:lstStyle/>
          <a:p>
            <a:pPr marL="0" indent="0">
              <a:buNone/>
            </a:pPr>
            <a:r>
              <a:rPr lang="en-US" sz="1150" b="1" dirty="0">
                <a:solidFill>
                  <a:srgbClr val="43A99A"/>
                </a:solidFill>
                <a:latin typeface="Calibri" pitchFamily="34" charset="0"/>
                <a:ea typeface="Calibri" pitchFamily="34" charset="-122"/>
                <a:cs typeface="Calibri" pitchFamily="34" charset="-120"/>
              </a:rPr>
              <a:t>≤ 48 hours after meeting</a:t>
            </a:r>
            <a:endParaRPr lang="en-US" sz="1150" dirty="0"/>
          </a:p>
        </p:txBody>
      </p:sp>
      <p:sp>
        <p:nvSpPr>
          <p:cNvPr id="38" name="Shape 35"/>
          <p:cNvSpPr/>
          <p:nvPr/>
        </p:nvSpPr>
        <p:spPr>
          <a:xfrm>
            <a:off x="8595360" y="4709160"/>
            <a:ext cx="2542032" cy="1188720"/>
          </a:xfrm>
          <a:prstGeom prst="roundRect">
            <a:avLst>
              <a:gd name="adj" fmla="val 4615"/>
            </a:avLst>
          </a:prstGeom>
          <a:solidFill>
            <a:srgbClr val="D9ECE7"/>
          </a:solidFill>
          <a:ln/>
        </p:spPr>
        <p:txBody>
          <a:bodyPr/>
          <a:lstStyle/>
          <a:p>
            <a:endParaRPr lang="en-US"/>
          </a:p>
        </p:txBody>
      </p:sp>
      <p:sp>
        <p:nvSpPr>
          <p:cNvPr id="39" name="Text 36"/>
          <p:cNvSpPr/>
          <p:nvPr/>
        </p:nvSpPr>
        <p:spPr>
          <a:xfrm>
            <a:off x="8732520" y="4800600"/>
            <a:ext cx="2286000" cy="548640"/>
          </a:xfrm>
          <a:prstGeom prst="rect">
            <a:avLst/>
          </a:prstGeom>
          <a:noFill/>
          <a:ln/>
        </p:spPr>
        <p:txBody>
          <a:bodyPr wrap="square" rtlCol="0" anchor="ctr"/>
          <a:lstStyle/>
          <a:p>
            <a:pPr marL="0" indent="0">
              <a:buNone/>
            </a:pPr>
            <a:r>
              <a:rPr lang="en-US" sz="1050" b="1" dirty="0">
                <a:solidFill>
                  <a:srgbClr val="004549"/>
                </a:solidFill>
                <a:latin typeface="Calibri" pitchFamily="34" charset="0"/>
                <a:ea typeface="Calibri" pitchFamily="34" charset="-122"/>
                <a:cs typeface="Calibri" pitchFamily="34" charset="-120"/>
              </a:rPr>
              <a:t>Interface Register update</a:t>
            </a:r>
            <a:endParaRPr lang="en-US" sz="1050" dirty="0"/>
          </a:p>
        </p:txBody>
      </p:sp>
      <p:sp>
        <p:nvSpPr>
          <p:cNvPr id="40" name="Text 37"/>
          <p:cNvSpPr/>
          <p:nvPr/>
        </p:nvSpPr>
        <p:spPr>
          <a:xfrm>
            <a:off x="8732520" y="5349240"/>
            <a:ext cx="2286000" cy="457200"/>
          </a:xfrm>
          <a:prstGeom prst="rect">
            <a:avLst/>
          </a:prstGeom>
          <a:noFill/>
          <a:ln/>
        </p:spPr>
        <p:txBody>
          <a:bodyPr wrap="square" rtlCol="0" anchor="ctr"/>
          <a:lstStyle/>
          <a:p>
            <a:pPr marL="0" indent="0">
              <a:buNone/>
            </a:pPr>
            <a:r>
              <a:rPr lang="en-US" sz="1150" b="1" dirty="0">
                <a:solidFill>
                  <a:srgbClr val="43A99A"/>
                </a:solidFill>
                <a:latin typeface="Calibri" pitchFamily="34" charset="0"/>
                <a:ea typeface="Calibri" pitchFamily="34" charset="-122"/>
                <a:cs typeface="Calibri" pitchFamily="34" charset="-120"/>
              </a:rPr>
              <a:t>After every meeting</a:t>
            </a:r>
            <a:endParaRPr lang="en-US" sz="1150" dirty="0"/>
          </a:p>
        </p:txBody>
      </p:sp>
      <p:sp>
        <p:nvSpPr>
          <p:cNvPr id="42" name="Text 38"/>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03</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Roles &amp; Responsibilities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Who owns what — from the E&amp;C Sector down to subcontractors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ROLES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Leadership &amp; Interface Management</a:t>
            </a:r>
            <a:endParaRPr lang="en-US" sz="3000" dirty="0"/>
          </a:p>
        </p:txBody>
      </p:sp>
      <p:sp>
        <p:nvSpPr>
          <p:cNvPr id="5" name="Shape 2"/>
          <p:cNvSpPr/>
          <p:nvPr/>
        </p:nvSpPr>
        <p:spPr>
          <a:xfrm>
            <a:off x="50292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6" name="Shape 3"/>
          <p:cNvSpPr/>
          <p:nvPr/>
        </p:nvSpPr>
        <p:spPr>
          <a:xfrm>
            <a:off x="502920" y="1463040"/>
            <a:ext cx="3538728" cy="685800"/>
          </a:xfrm>
          <a:prstGeom prst="rect">
            <a:avLst/>
          </a:prstGeom>
          <a:solidFill>
            <a:srgbClr val="004549"/>
          </a:solidFill>
          <a:ln/>
        </p:spPr>
        <p:txBody>
          <a:bodyPr/>
          <a:lstStyle/>
          <a:p>
            <a:endParaRPr lang="en-US"/>
          </a:p>
        </p:txBody>
      </p:sp>
      <p:sp>
        <p:nvSpPr>
          <p:cNvPr id="7" name="Text 4"/>
          <p:cNvSpPr/>
          <p:nvPr/>
        </p:nvSpPr>
        <p:spPr>
          <a:xfrm>
            <a:off x="50292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Projects Director</a:t>
            </a:r>
            <a:endParaRPr lang="en-US" sz="1550" dirty="0"/>
          </a:p>
        </p:txBody>
      </p:sp>
      <p:sp>
        <p:nvSpPr>
          <p:cNvPr id="8" name="Shape 5"/>
          <p:cNvSpPr/>
          <p:nvPr/>
        </p:nvSpPr>
        <p:spPr>
          <a:xfrm>
            <a:off x="758952" y="2523744"/>
            <a:ext cx="82296" cy="82296"/>
          </a:xfrm>
          <a:prstGeom prst="ellipse">
            <a:avLst/>
          </a:prstGeom>
          <a:solidFill>
            <a:srgbClr val="43A99A"/>
          </a:solidFill>
          <a:ln/>
        </p:spPr>
        <p:txBody>
          <a:bodyPr/>
          <a:lstStyle/>
          <a:p>
            <a:endParaRPr lang="en-US"/>
          </a:p>
        </p:txBody>
      </p:sp>
      <p:sp>
        <p:nvSpPr>
          <p:cNvPr id="9" name="Text 6"/>
          <p:cNvSpPr/>
          <p:nvPr/>
        </p:nvSpPr>
        <p:spPr>
          <a:xfrm>
            <a:off x="96012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Approves Interface Management Plans, Registers and Issue Logs.</a:t>
            </a:r>
            <a:endParaRPr lang="en-US" sz="1200" dirty="0"/>
          </a:p>
        </p:txBody>
      </p:sp>
      <p:sp>
        <p:nvSpPr>
          <p:cNvPr id="10" name="Shape 7"/>
          <p:cNvSpPr/>
          <p:nvPr/>
        </p:nvSpPr>
        <p:spPr>
          <a:xfrm>
            <a:off x="758952" y="3575304"/>
            <a:ext cx="82296" cy="82296"/>
          </a:xfrm>
          <a:prstGeom prst="ellipse">
            <a:avLst/>
          </a:prstGeom>
          <a:solidFill>
            <a:srgbClr val="43A99A"/>
          </a:solidFill>
          <a:ln/>
        </p:spPr>
        <p:txBody>
          <a:bodyPr/>
          <a:lstStyle/>
          <a:p>
            <a:endParaRPr lang="en-US"/>
          </a:p>
        </p:txBody>
      </p:sp>
      <p:sp>
        <p:nvSpPr>
          <p:cNvPr id="11" name="Text 8"/>
          <p:cNvSpPr/>
          <p:nvPr/>
        </p:nvSpPr>
        <p:spPr>
          <a:xfrm>
            <a:off x="96012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Receives Level 2 escalations on schedule, cost, quality or safety.</a:t>
            </a:r>
            <a:endParaRPr lang="en-US" sz="1200" dirty="0"/>
          </a:p>
        </p:txBody>
      </p:sp>
      <p:sp>
        <p:nvSpPr>
          <p:cNvPr id="12" name="Shape 9"/>
          <p:cNvSpPr/>
          <p:nvPr/>
        </p:nvSpPr>
        <p:spPr>
          <a:xfrm>
            <a:off x="758952" y="4626864"/>
            <a:ext cx="82296" cy="82296"/>
          </a:xfrm>
          <a:prstGeom prst="ellipse">
            <a:avLst/>
          </a:prstGeom>
          <a:solidFill>
            <a:srgbClr val="43A99A"/>
          </a:solidFill>
          <a:ln/>
        </p:spPr>
        <p:txBody>
          <a:bodyPr/>
          <a:lstStyle/>
          <a:p>
            <a:endParaRPr lang="en-US"/>
          </a:p>
        </p:txBody>
      </p:sp>
      <p:sp>
        <p:nvSpPr>
          <p:cNvPr id="13" name="Text 10"/>
          <p:cNvSpPr/>
          <p:nvPr/>
        </p:nvSpPr>
        <p:spPr>
          <a:xfrm>
            <a:off x="96012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Escalates critical issues to the VP E&amp;C Sector.</a:t>
            </a:r>
            <a:endParaRPr lang="en-US" sz="1200" dirty="0"/>
          </a:p>
        </p:txBody>
      </p:sp>
      <p:sp>
        <p:nvSpPr>
          <p:cNvPr id="14" name="Shape 11"/>
          <p:cNvSpPr/>
          <p:nvPr/>
        </p:nvSpPr>
        <p:spPr>
          <a:xfrm>
            <a:off x="429768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15" name="Shape 12"/>
          <p:cNvSpPr/>
          <p:nvPr/>
        </p:nvSpPr>
        <p:spPr>
          <a:xfrm>
            <a:off x="4297680" y="1463040"/>
            <a:ext cx="3538728" cy="685800"/>
          </a:xfrm>
          <a:prstGeom prst="rect">
            <a:avLst/>
          </a:prstGeom>
          <a:solidFill>
            <a:srgbClr val="004549"/>
          </a:solidFill>
          <a:ln/>
        </p:spPr>
        <p:txBody>
          <a:bodyPr/>
          <a:lstStyle/>
          <a:p>
            <a:endParaRPr lang="en-US"/>
          </a:p>
        </p:txBody>
      </p:sp>
      <p:sp>
        <p:nvSpPr>
          <p:cNvPr id="16" name="Text 13"/>
          <p:cNvSpPr/>
          <p:nvPr/>
        </p:nvSpPr>
        <p:spPr>
          <a:xfrm>
            <a:off x="429768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Project Manager</a:t>
            </a:r>
            <a:endParaRPr lang="en-US" sz="1550" dirty="0"/>
          </a:p>
        </p:txBody>
      </p:sp>
      <p:sp>
        <p:nvSpPr>
          <p:cNvPr id="17" name="Shape 14"/>
          <p:cNvSpPr/>
          <p:nvPr/>
        </p:nvSpPr>
        <p:spPr>
          <a:xfrm>
            <a:off x="4553712" y="2523744"/>
            <a:ext cx="82296" cy="82296"/>
          </a:xfrm>
          <a:prstGeom prst="ellipse">
            <a:avLst/>
          </a:prstGeom>
          <a:solidFill>
            <a:srgbClr val="43A99A"/>
          </a:solidFill>
          <a:ln/>
        </p:spPr>
        <p:txBody>
          <a:bodyPr/>
          <a:lstStyle/>
          <a:p>
            <a:endParaRPr lang="en-US"/>
          </a:p>
        </p:txBody>
      </p:sp>
      <p:sp>
        <p:nvSpPr>
          <p:cNvPr id="18" name="Text 15"/>
          <p:cNvSpPr/>
          <p:nvPr/>
        </p:nvSpPr>
        <p:spPr>
          <a:xfrm>
            <a:off x="475488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Ensures alignment and collaboration across all project teams.</a:t>
            </a:r>
            <a:endParaRPr lang="en-US" sz="1200" dirty="0"/>
          </a:p>
        </p:txBody>
      </p:sp>
      <p:sp>
        <p:nvSpPr>
          <p:cNvPr id="19" name="Shape 16"/>
          <p:cNvSpPr/>
          <p:nvPr/>
        </p:nvSpPr>
        <p:spPr>
          <a:xfrm>
            <a:off x="4553712" y="3575304"/>
            <a:ext cx="82296" cy="82296"/>
          </a:xfrm>
          <a:prstGeom prst="ellipse">
            <a:avLst/>
          </a:prstGeom>
          <a:solidFill>
            <a:srgbClr val="43A99A"/>
          </a:solidFill>
          <a:ln/>
        </p:spPr>
        <p:txBody>
          <a:bodyPr/>
          <a:lstStyle/>
          <a:p>
            <a:endParaRPr lang="en-US"/>
          </a:p>
        </p:txBody>
      </p:sp>
      <p:sp>
        <p:nvSpPr>
          <p:cNvPr id="20" name="Text 17"/>
          <p:cNvSpPr/>
          <p:nvPr/>
        </p:nvSpPr>
        <p:spPr>
          <a:xfrm>
            <a:off x="475488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Approves resolutions with cost or schedule impact; supports escalation.</a:t>
            </a:r>
            <a:endParaRPr lang="en-US" sz="1200" dirty="0"/>
          </a:p>
        </p:txBody>
      </p:sp>
      <p:sp>
        <p:nvSpPr>
          <p:cNvPr id="21" name="Shape 18"/>
          <p:cNvSpPr/>
          <p:nvPr/>
        </p:nvSpPr>
        <p:spPr>
          <a:xfrm>
            <a:off x="4553712" y="4626864"/>
            <a:ext cx="82296" cy="82296"/>
          </a:xfrm>
          <a:prstGeom prst="ellipse">
            <a:avLst/>
          </a:prstGeom>
          <a:solidFill>
            <a:srgbClr val="43A99A"/>
          </a:solidFill>
          <a:ln/>
        </p:spPr>
        <p:txBody>
          <a:bodyPr/>
          <a:lstStyle/>
          <a:p>
            <a:endParaRPr lang="en-US"/>
          </a:p>
        </p:txBody>
      </p:sp>
      <p:sp>
        <p:nvSpPr>
          <p:cNvPr id="22" name="Text 19"/>
          <p:cNvSpPr/>
          <p:nvPr/>
        </p:nvSpPr>
        <p:spPr>
          <a:xfrm>
            <a:off x="475488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Ensures every interface decision is documented and implemented on site.</a:t>
            </a:r>
            <a:endParaRPr lang="en-US" sz="1200" dirty="0"/>
          </a:p>
        </p:txBody>
      </p:sp>
      <p:sp>
        <p:nvSpPr>
          <p:cNvPr id="23" name="Shape 20"/>
          <p:cNvSpPr/>
          <p:nvPr/>
        </p:nvSpPr>
        <p:spPr>
          <a:xfrm>
            <a:off x="809244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24" name="Shape 21"/>
          <p:cNvSpPr/>
          <p:nvPr/>
        </p:nvSpPr>
        <p:spPr>
          <a:xfrm>
            <a:off x="8092440" y="1463040"/>
            <a:ext cx="3538728" cy="685800"/>
          </a:xfrm>
          <a:prstGeom prst="rect">
            <a:avLst/>
          </a:prstGeom>
          <a:solidFill>
            <a:srgbClr val="004549"/>
          </a:solidFill>
          <a:ln/>
        </p:spPr>
        <p:txBody>
          <a:bodyPr/>
          <a:lstStyle/>
          <a:p>
            <a:endParaRPr lang="en-US"/>
          </a:p>
        </p:txBody>
      </p:sp>
      <p:sp>
        <p:nvSpPr>
          <p:cNvPr id="25" name="Text 22"/>
          <p:cNvSpPr/>
          <p:nvPr/>
        </p:nvSpPr>
        <p:spPr>
          <a:xfrm>
            <a:off x="809244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Interface Manager</a:t>
            </a:r>
            <a:endParaRPr lang="en-US" sz="1550" dirty="0"/>
          </a:p>
        </p:txBody>
      </p:sp>
      <p:sp>
        <p:nvSpPr>
          <p:cNvPr id="26" name="Shape 23"/>
          <p:cNvSpPr/>
          <p:nvPr/>
        </p:nvSpPr>
        <p:spPr>
          <a:xfrm>
            <a:off x="8348472" y="2523744"/>
            <a:ext cx="82296" cy="82296"/>
          </a:xfrm>
          <a:prstGeom prst="ellipse">
            <a:avLst/>
          </a:prstGeom>
          <a:solidFill>
            <a:srgbClr val="43A99A"/>
          </a:solidFill>
          <a:ln/>
        </p:spPr>
        <p:txBody>
          <a:bodyPr/>
          <a:lstStyle/>
          <a:p>
            <a:endParaRPr lang="en-US"/>
          </a:p>
        </p:txBody>
      </p:sp>
      <p:sp>
        <p:nvSpPr>
          <p:cNvPr id="27" name="Text 24"/>
          <p:cNvSpPr/>
          <p:nvPr/>
        </p:nvSpPr>
        <p:spPr>
          <a:xfrm>
            <a:off x="854964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Develops and maintains the Interface Register, Matrix and Issue Log.</a:t>
            </a:r>
            <a:endParaRPr lang="en-US" sz="1200" dirty="0"/>
          </a:p>
        </p:txBody>
      </p:sp>
      <p:sp>
        <p:nvSpPr>
          <p:cNvPr id="28" name="Shape 25"/>
          <p:cNvSpPr/>
          <p:nvPr/>
        </p:nvSpPr>
        <p:spPr>
          <a:xfrm>
            <a:off x="8348472" y="3575304"/>
            <a:ext cx="82296" cy="82296"/>
          </a:xfrm>
          <a:prstGeom prst="ellipse">
            <a:avLst/>
          </a:prstGeom>
          <a:solidFill>
            <a:srgbClr val="43A99A"/>
          </a:solidFill>
          <a:ln/>
        </p:spPr>
        <p:txBody>
          <a:bodyPr/>
          <a:lstStyle/>
          <a:p>
            <a:endParaRPr lang="en-US"/>
          </a:p>
        </p:txBody>
      </p:sp>
      <p:sp>
        <p:nvSpPr>
          <p:cNvPr id="29" name="Text 26"/>
          <p:cNvSpPr/>
          <p:nvPr/>
        </p:nvSpPr>
        <p:spPr>
          <a:xfrm>
            <a:off x="854964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Chairs coordination meetings; issues MoM within 48 hours; tracks RFIs.</a:t>
            </a:r>
            <a:endParaRPr lang="en-US" sz="1200" dirty="0"/>
          </a:p>
        </p:txBody>
      </p:sp>
      <p:sp>
        <p:nvSpPr>
          <p:cNvPr id="30" name="Shape 27"/>
          <p:cNvSpPr/>
          <p:nvPr/>
        </p:nvSpPr>
        <p:spPr>
          <a:xfrm>
            <a:off x="8348472" y="4626864"/>
            <a:ext cx="82296" cy="82296"/>
          </a:xfrm>
          <a:prstGeom prst="ellipse">
            <a:avLst/>
          </a:prstGeom>
          <a:solidFill>
            <a:srgbClr val="43A99A"/>
          </a:solidFill>
          <a:ln/>
        </p:spPr>
        <p:txBody>
          <a:bodyPr/>
          <a:lstStyle/>
          <a:p>
            <a:endParaRPr lang="en-US"/>
          </a:p>
        </p:txBody>
      </p:sp>
      <p:sp>
        <p:nvSpPr>
          <p:cNvPr id="31" name="Text 28"/>
          <p:cNvSpPr/>
          <p:nvPr/>
        </p:nvSpPr>
        <p:spPr>
          <a:xfrm>
            <a:off x="854964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Coordinates Client, PMC and authorities (via GRO); reports and escalates.</a:t>
            </a:r>
            <a:endParaRPr lang="en-US" sz="1200" dirty="0"/>
          </a:p>
        </p:txBody>
      </p:sp>
      <p:sp>
        <p:nvSpPr>
          <p:cNvPr id="33" name="Text 29"/>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ROLES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Engineering &amp; Site Execution Team</a:t>
            </a:r>
            <a:endParaRPr lang="en-US" sz="3000" dirty="0"/>
          </a:p>
        </p:txBody>
      </p:sp>
      <p:sp>
        <p:nvSpPr>
          <p:cNvPr id="5" name="Shape 2"/>
          <p:cNvSpPr/>
          <p:nvPr/>
        </p:nvSpPr>
        <p:spPr>
          <a:xfrm>
            <a:off x="50292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6" name="Shape 3"/>
          <p:cNvSpPr/>
          <p:nvPr/>
        </p:nvSpPr>
        <p:spPr>
          <a:xfrm>
            <a:off x="502920" y="1463040"/>
            <a:ext cx="3538728" cy="685800"/>
          </a:xfrm>
          <a:prstGeom prst="rect">
            <a:avLst/>
          </a:prstGeom>
          <a:solidFill>
            <a:srgbClr val="43A99A"/>
          </a:solidFill>
          <a:ln/>
        </p:spPr>
        <p:txBody>
          <a:bodyPr/>
          <a:lstStyle/>
          <a:p>
            <a:endParaRPr lang="en-US"/>
          </a:p>
        </p:txBody>
      </p:sp>
      <p:sp>
        <p:nvSpPr>
          <p:cNvPr id="7" name="Text 4"/>
          <p:cNvSpPr/>
          <p:nvPr/>
        </p:nvSpPr>
        <p:spPr>
          <a:xfrm>
            <a:off x="50292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Technical / Design Manager</a:t>
            </a:r>
            <a:endParaRPr lang="en-US" sz="1550" dirty="0"/>
          </a:p>
        </p:txBody>
      </p:sp>
      <p:sp>
        <p:nvSpPr>
          <p:cNvPr id="8" name="Shape 5"/>
          <p:cNvSpPr/>
          <p:nvPr/>
        </p:nvSpPr>
        <p:spPr>
          <a:xfrm>
            <a:off x="758952" y="2523744"/>
            <a:ext cx="82296" cy="82296"/>
          </a:xfrm>
          <a:prstGeom prst="ellipse">
            <a:avLst/>
          </a:prstGeom>
          <a:solidFill>
            <a:srgbClr val="004549"/>
          </a:solidFill>
          <a:ln/>
        </p:spPr>
        <p:txBody>
          <a:bodyPr/>
          <a:lstStyle/>
          <a:p>
            <a:endParaRPr lang="en-US"/>
          </a:p>
        </p:txBody>
      </p:sp>
      <p:sp>
        <p:nvSpPr>
          <p:cNvPr id="9" name="Text 6"/>
          <p:cNvSpPr/>
          <p:nvPr/>
        </p:nvSpPr>
        <p:spPr>
          <a:xfrm>
            <a:off x="96012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Reviews IFC drawings to identify interface points between trades.</a:t>
            </a:r>
            <a:endParaRPr lang="en-US" sz="1200" dirty="0"/>
          </a:p>
        </p:txBody>
      </p:sp>
      <p:sp>
        <p:nvSpPr>
          <p:cNvPr id="10" name="Shape 7"/>
          <p:cNvSpPr/>
          <p:nvPr/>
        </p:nvSpPr>
        <p:spPr>
          <a:xfrm>
            <a:off x="758952" y="3575304"/>
            <a:ext cx="82296" cy="82296"/>
          </a:xfrm>
          <a:prstGeom prst="ellipse">
            <a:avLst/>
          </a:prstGeom>
          <a:solidFill>
            <a:srgbClr val="004549"/>
          </a:solidFill>
          <a:ln/>
        </p:spPr>
        <p:txBody>
          <a:bodyPr/>
          <a:lstStyle/>
          <a:p>
            <a:endParaRPr lang="en-US"/>
          </a:p>
        </p:txBody>
      </p:sp>
      <p:sp>
        <p:nvSpPr>
          <p:cNvPr id="11" name="Text 8"/>
          <p:cNvSpPr/>
          <p:nvPr/>
        </p:nvSpPr>
        <p:spPr>
          <a:xfrm>
            <a:off x="96012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Answers interface RFIs; issues integrated drawings and as-built data.</a:t>
            </a:r>
            <a:endParaRPr lang="en-US" sz="1200" dirty="0"/>
          </a:p>
        </p:txBody>
      </p:sp>
      <p:sp>
        <p:nvSpPr>
          <p:cNvPr id="12" name="Shape 9"/>
          <p:cNvSpPr/>
          <p:nvPr/>
        </p:nvSpPr>
        <p:spPr>
          <a:xfrm>
            <a:off x="758952" y="4626864"/>
            <a:ext cx="82296" cy="82296"/>
          </a:xfrm>
          <a:prstGeom prst="ellipse">
            <a:avLst/>
          </a:prstGeom>
          <a:solidFill>
            <a:srgbClr val="004549"/>
          </a:solidFill>
          <a:ln/>
        </p:spPr>
        <p:txBody>
          <a:bodyPr/>
          <a:lstStyle/>
          <a:p>
            <a:endParaRPr lang="en-US"/>
          </a:p>
        </p:txBody>
      </p:sp>
      <p:sp>
        <p:nvSpPr>
          <p:cNvPr id="13" name="Text 10"/>
          <p:cNvSpPr/>
          <p:nvPr/>
        </p:nvSpPr>
        <p:spPr>
          <a:xfrm>
            <a:off x="96012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Keeps a record of all technical coordination outcomes.</a:t>
            </a:r>
            <a:endParaRPr lang="en-US" sz="1200" dirty="0"/>
          </a:p>
        </p:txBody>
      </p:sp>
      <p:sp>
        <p:nvSpPr>
          <p:cNvPr id="14" name="Shape 11"/>
          <p:cNvSpPr/>
          <p:nvPr/>
        </p:nvSpPr>
        <p:spPr>
          <a:xfrm>
            <a:off x="429768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15" name="Shape 12"/>
          <p:cNvSpPr/>
          <p:nvPr/>
        </p:nvSpPr>
        <p:spPr>
          <a:xfrm>
            <a:off x="4297680" y="1463040"/>
            <a:ext cx="3538728" cy="685800"/>
          </a:xfrm>
          <a:prstGeom prst="rect">
            <a:avLst/>
          </a:prstGeom>
          <a:solidFill>
            <a:srgbClr val="43A99A"/>
          </a:solidFill>
          <a:ln/>
        </p:spPr>
        <p:txBody>
          <a:bodyPr/>
          <a:lstStyle/>
          <a:p>
            <a:endParaRPr lang="en-US"/>
          </a:p>
        </p:txBody>
      </p:sp>
      <p:sp>
        <p:nvSpPr>
          <p:cNvPr id="16" name="Text 13"/>
          <p:cNvSpPr/>
          <p:nvPr/>
        </p:nvSpPr>
        <p:spPr>
          <a:xfrm>
            <a:off x="429768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Construction Manager</a:t>
            </a:r>
            <a:endParaRPr lang="en-US" sz="1550" dirty="0"/>
          </a:p>
        </p:txBody>
      </p:sp>
      <p:sp>
        <p:nvSpPr>
          <p:cNvPr id="17" name="Shape 14"/>
          <p:cNvSpPr/>
          <p:nvPr/>
        </p:nvSpPr>
        <p:spPr>
          <a:xfrm>
            <a:off x="4553712" y="2523744"/>
            <a:ext cx="82296" cy="82296"/>
          </a:xfrm>
          <a:prstGeom prst="ellipse">
            <a:avLst/>
          </a:prstGeom>
          <a:solidFill>
            <a:srgbClr val="004549"/>
          </a:solidFill>
          <a:ln/>
        </p:spPr>
        <p:txBody>
          <a:bodyPr/>
          <a:lstStyle/>
          <a:p>
            <a:endParaRPr lang="en-US"/>
          </a:p>
        </p:txBody>
      </p:sp>
      <p:sp>
        <p:nvSpPr>
          <p:cNvPr id="18" name="Text 15"/>
          <p:cNvSpPr/>
          <p:nvPr/>
        </p:nvSpPr>
        <p:spPr>
          <a:xfrm>
            <a:off x="475488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Coordinates field activities of disciplines working in adjacent zones.</a:t>
            </a:r>
            <a:endParaRPr lang="en-US" sz="1200" dirty="0"/>
          </a:p>
        </p:txBody>
      </p:sp>
      <p:sp>
        <p:nvSpPr>
          <p:cNvPr id="19" name="Shape 16"/>
          <p:cNvSpPr/>
          <p:nvPr/>
        </p:nvSpPr>
        <p:spPr>
          <a:xfrm>
            <a:off x="4553712" y="3575304"/>
            <a:ext cx="82296" cy="82296"/>
          </a:xfrm>
          <a:prstGeom prst="ellipse">
            <a:avLst/>
          </a:prstGeom>
          <a:solidFill>
            <a:srgbClr val="004549"/>
          </a:solidFill>
          <a:ln/>
        </p:spPr>
        <p:txBody>
          <a:bodyPr/>
          <a:lstStyle/>
          <a:p>
            <a:endParaRPr lang="en-US"/>
          </a:p>
        </p:txBody>
      </p:sp>
      <p:sp>
        <p:nvSpPr>
          <p:cNvPr id="20" name="Text 17"/>
          <p:cNvSpPr/>
          <p:nvPr/>
        </p:nvSpPr>
        <p:spPr>
          <a:xfrm>
            <a:off x="475488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Keeps sequences within agreed interface boundaries and dates.</a:t>
            </a:r>
            <a:endParaRPr lang="en-US" sz="1200" dirty="0"/>
          </a:p>
        </p:txBody>
      </p:sp>
      <p:sp>
        <p:nvSpPr>
          <p:cNvPr id="21" name="Shape 18"/>
          <p:cNvSpPr/>
          <p:nvPr/>
        </p:nvSpPr>
        <p:spPr>
          <a:xfrm>
            <a:off x="4553712" y="4626864"/>
            <a:ext cx="82296" cy="82296"/>
          </a:xfrm>
          <a:prstGeom prst="ellipse">
            <a:avLst/>
          </a:prstGeom>
          <a:solidFill>
            <a:srgbClr val="004549"/>
          </a:solidFill>
          <a:ln/>
        </p:spPr>
        <p:txBody>
          <a:bodyPr/>
          <a:lstStyle/>
          <a:p>
            <a:endParaRPr lang="en-US"/>
          </a:p>
        </p:txBody>
      </p:sp>
      <p:sp>
        <p:nvSpPr>
          <p:cNvPr id="22" name="Text 19"/>
          <p:cNvSpPr/>
          <p:nvPr/>
        </p:nvSpPr>
        <p:spPr>
          <a:xfrm>
            <a:off x="475488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Reports site clashes at once; implements and documents resolutions.</a:t>
            </a:r>
            <a:endParaRPr lang="en-US" sz="1200" dirty="0"/>
          </a:p>
        </p:txBody>
      </p:sp>
      <p:sp>
        <p:nvSpPr>
          <p:cNvPr id="23" name="Shape 20"/>
          <p:cNvSpPr/>
          <p:nvPr/>
        </p:nvSpPr>
        <p:spPr>
          <a:xfrm>
            <a:off x="809244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24" name="Shape 21"/>
          <p:cNvSpPr/>
          <p:nvPr/>
        </p:nvSpPr>
        <p:spPr>
          <a:xfrm>
            <a:off x="8092440" y="1463040"/>
            <a:ext cx="3538728" cy="685800"/>
          </a:xfrm>
          <a:prstGeom prst="rect">
            <a:avLst/>
          </a:prstGeom>
          <a:solidFill>
            <a:srgbClr val="43A99A"/>
          </a:solidFill>
          <a:ln/>
        </p:spPr>
        <p:txBody>
          <a:bodyPr/>
          <a:lstStyle/>
          <a:p>
            <a:endParaRPr lang="en-US"/>
          </a:p>
        </p:txBody>
      </p:sp>
      <p:sp>
        <p:nvSpPr>
          <p:cNvPr id="25" name="Text 22"/>
          <p:cNvSpPr/>
          <p:nvPr/>
        </p:nvSpPr>
        <p:spPr>
          <a:xfrm>
            <a:off x="809244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Planning Engineer</a:t>
            </a:r>
            <a:endParaRPr lang="en-US" sz="1550" dirty="0"/>
          </a:p>
        </p:txBody>
      </p:sp>
      <p:sp>
        <p:nvSpPr>
          <p:cNvPr id="26" name="Shape 23"/>
          <p:cNvSpPr/>
          <p:nvPr/>
        </p:nvSpPr>
        <p:spPr>
          <a:xfrm>
            <a:off x="8348472" y="2523744"/>
            <a:ext cx="82296" cy="82296"/>
          </a:xfrm>
          <a:prstGeom prst="ellipse">
            <a:avLst/>
          </a:prstGeom>
          <a:solidFill>
            <a:srgbClr val="004549"/>
          </a:solidFill>
          <a:ln/>
        </p:spPr>
        <p:txBody>
          <a:bodyPr/>
          <a:lstStyle/>
          <a:p>
            <a:endParaRPr lang="en-US"/>
          </a:p>
        </p:txBody>
      </p:sp>
      <p:sp>
        <p:nvSpPr>
          <p:cNvPr id="27" name="Text 24"/>
          <p:cNvSpPr/>
          <p:nvPr/>
        </p:nvSpPr>
        <p:spPr>
          <a:xfrm>
            <a:off x="854964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Integrates interface milestones into the master schedule and look-ahead.</a:t>
            </a:r>
            <a:endParaRPr lang="en-US" sz="1200" dirty="0"/>
          </a:p>
        </p:txBody>
      </p:sp>
      <p:sp>
        <p:nvSpPr>
          <p:cNvPr id="28" name="Shape 25"/>
          <p:cNvSpPr/>
          <p:nvPr/>
        </p:nvSpPr>
        <p:spPr>
          <a:xfrm>
            <a:off x="8348472" y="3575304"/>
            <a:ext cx="82296" cy="82296"/>
          </a:xfrm>
          <a:prstGeom prst="ellipse">
            <a:avLst/>
          </a:prstGeom>
          <a:solidFill>
            <a:srgbClr val="004549"/>
          </a:solidFill>
          <a:ln/>
        </p:spPr>
        <p:txBody>
          <a:bodyPr/>
          <a:lstStyle/>
          <a:p>
            <a:endParaRPr lang="en-US"/>
          </a:p>
        </p:txBody>
      </p:sp>
      <p:sp>
        <p:nvSpPr>
          <p:cNvPr id="29" name="Text 26"/>
          <p:cNvSpPr/>
          <p:nvPr/>
        </p:nvSpPr>
        <p:spPr>
          <a:xfrm>
            <a:off x="854964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Treats permits, NOCs and third-party dependencies as predecessors.</a:t>
            </a:r>
            <a:endParaRPr lang="en-US" sz="1200" dirty="0"/>
          </a:p>
        </p:txBody>
      </p:sp>
      <p:sp>
        <p:nvSpPr>
          <p:cNvPr id="30" name="Shape 27"/>
          <p:cNvSpPr/>
          <p:nvPr/>
        </p:nvSpPr>
        <p:spPr>
          <a:xfrm>
            <a:off x="8348472" y="4626864"/>
            <a:ext cx="82296" cy="82296"/>
          </a:xfrm>
          <a:prstGeom prst="ellipse">
            <a:avLst/>
          </a:prstGeom>
          <a:solidFill>
            <a:srgbClr val="004549"/>
          </a:solidFill>
          <a:ln/>
        </p:spPr>
        <p:txBody>
          <a:bodyPr/>
          <a:lstStyle/>
          <a:p>
            <a:endParaRPr lang="en-US"/>
          </a:p>
        </p:txBody>
      </p:sp>
      <p:sp>
        <p:nvSpPr>
          <p:cNvPr id="31" name="Text 28"/>
          <p:cNvSpPr/>
          <p:nvPr/>
        </p:nvSpPr>
        <p:spPr>
          <a:xfrm>
            <a:off x="854964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Alerts the Interface Manager early to schedule risks.</a:t>
            </a:r>
            <a:endParaRPr lang="en-US" sz="1200" dirty="0"/>
          </a:p>
        </p:txBody>
      </p:sp>
      <p:sp>
        <p:nvSpPr>
          <p:cNvPr id="33" name="Text 29"/>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ROLES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Support &amp; Enabling Functions</a:t>
            </a:r>
            <a:endParaRPr lang="en-US" sz="3000" dirty="0"/>
          </a:p>
        </p:txBody>
      </p:sp>
      <p:sp>
        <p:nvSpPr>
          <p:cNvPr id="5" name="Shape 2"/>
          <p:cNvSpPr/>
          <p:nvPr/>
        </p:nvSpPr>
        <p:spPr>
          <a:xfrm>
            <a:off x="502920" y="1508760"/>
            <a:ext cx="2624328" cy="1965960"/>
          </a:xfrm>
          <a:prstGeom prst="roundRect">
            <a:avLst>
              <a:gd name="adj" fmla="val 3256"/>
            </a:avLst>
          </a:prstGeom>
          <a:solidFill>
            <a:srgbClr val="D9ECE7"/>
          </a:solidFill>
          <a:ln/>
        </p:spPr>
        <p:txBody>
          <a:bodyPr/>
          <a:lstStyle/>
          <a:p>
            <a:endParaRPr lang="en-US"/>
          </a:p>
        </p:txBody>
      </p:sp>
      <p:sp>
        <p:nvSpPr>
          <p:cNvPr id="6" name="Shape 3"/>
          <p:cNvSpPr/>
          <p:nvPr/>
        </p:nvSpPr>
        <p:spPr>
          <a:xfrm>
            <a:off x="704088" y="1709928"/>
            <a:ext cx="384048" cy="384048"/>
          </a:xfrm>
          <a:prstGeom prst="ellipse">
            <a:avLst/>
          </a:prstGeom>
          <a:solidFill>
            <a:srgbClr val="43A99A"/>
          </a:solidFill>
          <a:ln/>
        </p:spPr>
        <p:txBody>
          <a:bodyPr/>
          <a:lstStyle/>
          <a:p>
            <a:endParaRPr lang="en-US"/>
          </a:p>
        </p:txBody>
      </p:sp>
      <p:sp>
        <p:nvSpPr>
          <p:cNvPr id="7" name="Text 4"/>
          <p:cNvSpPr/>
          <p:nvPr/>
        </p:nvSpPr>
        <p:spPr>
          <a:xfrm>
            <a:off x="704088" y="17099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667512" y="2194560"/>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QA/QC</a:t>
            </a:r>
            <a:endParaRPr lang="en-US" sz="1250" dirty="0"/>
          </a:p>
        </p:txBody>
      </p:sp>
      <p:sp>
        <p:nvSpPr>
          <p:cNvPr id="9" name="Text 6"/>
          <p:cNvSpPr/>
          <p:nvPr/>
        </p:nvSpPr>
        <p:spPr>
          <a:xfrm>
            <a:off x="667512" y="2606040"/>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Verifies interface compliance, inspects zones before handover, issues and closes NCRs.</a:t>
            </a:r>
            <a:endParaRPr lang="en-US" sz="1000" dirty="0"/>
          </a:p>
        </p:txBody>
      </p:sp>
      <p:sp>
        <p:nvSpPr>
          <p:cNvPr id="10" name="Shape 7"/>
          <p:cNvSpPr/>
          <p:nvPr/>
        </p:nvSpPr>
        <p:spPr>
          <a:xfrm>
            <a:off x="3255264" y="1508760"/>
            <a:ext cx="2624328" cy="1965960"/>
          </a:xfrm>
          <a:prstGeom prst="roundRect">
            <a:avLst>
              <a:gd name="adj" fmla="val 3256"/>
            </a:avLst>
          </a:prstGeom>
          <a:solidFill>
            <a:srgbClr val="D9ECE7"/>
          </a:solidFill>
          <a:ln/>
        </p:spPr>
        <p:txBody>
          <a:bodyPr/>
          <a:lstStyle/>
          <a:p>
            <a:endParaRPr lang="en-US"/>
          </a:p>
        </p:txBody>
      </p:sp>
      <p:sp>
        <p:nvSpPr>
          <p:cNvPr id="11" name="Shape 8"/>
          <p:cNvSpPr/>
          <p:nvPr/>
        </p:nvSpPr>
        <p:spPr>
          <a:xfrm>
            <a:off x="3456432" y="1709928"/>
            <a:ext cx="384048" cy="384048"/>
          </a:xfrm>
          <a:prstGeom prst="ellipse">
            <a:avLst/>
          </a:prstGeom>
          <a:solidFill>
            <a:srgbClr val="43A99A"/>
          </a:solidFill>
          <a:ln/>
        </p:spPr>
        <p:txBody>
          <a:bodyPr/>
          <a:lstStyle/>
          <a:p>
            <a:endParaRPr lang="en-US"/>
          </a:p>
        </p:txBody>
      </p:sp>
      <p:sp>
        <p:nvSpPr>
          <p:cNvPr id="12" name="Text 9"/>
          <p:cNvSpPr/>
          <p:nvPr/>
        </p:nvSpPr>
        <p:spPr>
          <a:xfrm>
            <a:off x="3456432" y="17099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3419856" y="2194560"/>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HSE</a:t>
            </a:r>
            <a:endParaRPr lang="en-US" sz="1250" dirty="0"/>
          </a:p>
        </p:txBody>
      </p:sp>
      <p:sp>
        <p:nvSpPr>
          <p:cNvPr id="14" name="Text 11"/>
          <p:cNvSpPr/>
          <p:nvPr/>
        </p:nvSpPr>
        <p:spPr>
          <a:xfrm>
            <a:off x="3419856" y="2606040"/>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Controls safety where operations overlap; delivers awareness sessions and records.</a:t>
            </a:r>
            <a:endParaRPr lang="en-US" sz="1000" dirty="0"/>
          </a:p>
        </p:txBody>
      </p:sp>
      <p:sp>
        <p:nvSpPr>
          <p:cNvPr id="15" name="Shape 12"/>
          <p:cNvSpPr/>
          <p:nvPr/>
        </p:nvSpPr>
        <p:spPr>
          <a:xfrm>
            <a:off x="6007608" y="1508760"/>
            <a:ext cx="2624328" cy="1965960"/>
          </a:xfrm>
          <a:prstGeom prst="roundRect">
            <a:avLst>
              <a:gd name="adj" fmla="val 3256"/>
            </a:avLst>
          </a:prstGeom>
          <a:solidFill>
            <a:srgbClr val="D9ECE7"/>
          </a:solidFill>
          <a:ln/>
        </p:spPr>
        <p:txBody>
          <a:bodyPr/>
          <a:lstStyle/>
          <a:p>
            <a:endParaRPr lang="en-US"/>
          </a:p>
        </p:txBody>
      </p:sp>
      <p:sp>
        <p:nvSpPr>
          <p:cNvPr id="16" name="Shape 13"/>
          <p:cNvSpPr/>
          <p:nvPr/>
        </p:nvSpPr>
        <p:spPr>
          <a:xfrm>
            <a:off x="6208776" y="1709928"/>
            <a:ext cx="384048" cy="384048"/>
          </a:xfrm>
          <a:prstGeom prst="ellipse">
            <a:avLst/>
          </a:prstGeom>
          <a:solidFill>
            <a:srgbClr val="43A99A"/>
          </a:solidFill>
          <a:ln/>
        </p:spPr>
        <p:txBody>
          <a:bodyPr/>
          <a:lstStyle/>
          <a:p>
            <a:endParaRPr lang="en-US"/>
          </a:p>
        </p:txBody>
      </p:sp>
      <p:sp>
        <p:nvSpPr>
          <p:cNvPr id="17" name="Text 14"/>
          <p:cNvSpPr/>
          <p:nvPr/>
        </p:nvSpPr>
        <p:spPr>
          <a:xfrm>
            <a:off x="6208776" y="17099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p:nvPr/>
        </p:nvSpPr>
        <p:spPr>
          <a:xfrm>
            <a:off x="6172200" y="2194560"/>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Surveying Team</a:t>
            </a:r>
            <a:endParaRPr lang="en-US" sz="1250" dirty="0"/>
          </a:p>
        </p:txBody>
      </p:sp>
      <p:sp>
        <p:nvSpPr>
          <p:cNvPr id="19" name="Text 16"/>
          <p:cNvSpPr/>
          <p:nvPr/>
        </p:nvSpPr>
        <p:spPr>
          <a:xfrm>
            <a:off x="6172200" y="2606040"/>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Verifies boundaries and control points; joint surveys and as-built data for closure.</a:t>
            </a:r>
            <a:endParaRPr lang="en-US" sz="1000" dirty="0"/>
          </a:p>
        </p:txBody>
      </p:sp>
      <p:sp>
        <p:nvSpPr>
          <p:cNvPr id="20" name="Shape 17"/>
          <p:cNvSpPr/>
          <p:nvPr/>
        </p:nvSpPr>
        <p:spPr>
          <a:xfrm>
            <a:off x="8759952" y="1508760"/>
            <a:ext cx="2624328" cy="1965960"/>
          </a:xfrm>
          <a:prstGeom prst="roundRect">
            <a:avLst>
              <a:gd name="adj" fmla="val 3256"/>
            </a:avLst>
          </a:prstGeom>
          <a:solidFill>
            <a:srgbClr val="D9ECE7"/>
          </a:solidFill>
          <a:ln/>
        </p:spPr>
        <p:txBody>
          <a:bodyPr/>
          <a:lstStyle/>
          <a:p>
            <a:endParaRPr lang="en-US"/>
          </a:p>
        </p:txBody>
      </p:sp>
      <p:sp>
        <p:nvSpPr>
          <p:cNvPr id="21" name="Shape 18"/>
          <p:cNvSpPr/>
          <p:nvPr/>
        </p:nvSpPr>
        <p:spPr>
          <a:xfrm>
            <a:off x="8961120" y="1709928"/>
            <a:ext cx="384048" cy="384048"/>
          </a:xfrm>
          <a:prstGeom prst="ellipse">
            <a:avLst/>
          </a:prstGeom>
          <a:solidFill>
            <a:srgbClr val="43A99A"/>
          </a:solidFill>
          <a:ln/>
        </p:spPr>
        <p:txBody>
          <a:bodyPr/>
          <a:lstStyle/>
          <a:p>
            <a:endParaRPr lang="en-US"/>
          </a:p>
        </p:txBody>
      </p:sp>
      <p:sp>
        <p:nvSpPr>
          <p:cNvPr id="22" name="Text 19"/>
          <p:cNvSpPr/>
          <p:nvPr/>
        </p:nvSpPr>
        <p:spPr>
          <a:xfrm>
            <a:off x="8961120" y="17099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p:nvPr/>
        </p:nvSpPr>
        <p:spPr>
          <a:xfrm>
            <a:off x="8924544" y="2194560"/>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Procurement</a:t>
            </a:r>
            <a:endParaRPr lang="en-US" sz="1250" dirty="0"/>
          </a:p>
        </p:txBody>
      </p:sp>
      <p:sp>
        <p:nvSpPr>
          <p:cNvPr id="24" name="Text 21"/>
          <p:cNvSpPr/>
          <p:nvPr/>
        </p:nvSpPr>
        <p:spPr>
          <a:xfrm>
            <a:off x="8924544" y="2606040"/>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Aligns deliveries with resolution plans; defines handover points in packages.</a:t>
            </a:r>
            <a:endParaRPr lang="en-US" sz="1000" dirty="0"/>
          </a:p>
        </p:txBody>
      </p:sp>
      <p:sp>
        <p:nvSpPr>
          <p:cNvPr id="25" name="Shape 22"/>
          <p:cNvSpPr/>
          <p:nvPr/>
        </p:nvSpPr>
        <p:spPr>
          <a:xfrm>
            <a:off x="502920" y="3675888"/>
            <a:ext cx="2624328" cy="1965960"/>
          </a:xfrm>
          <a:prstGeom prst="roundRect">
            <a:avLst>
              <a:gd name="adj" fmla="val 3256"/>
            </a:avLst>
          </a:prstGeom>
          <a:solidFill>
            <a:srgbClr val="D9ECE7"/>
          </a:solidFill>
          <a:ln/>
        </p:spPr>
        <p:txBody>
          <a:bodyPr/>
          <a:lstStyle/>
          <a:p>
            <a:endParaRPr lang="en-US"/>
          </a:p>
        </p:txBody>
      </p:sp>
      <p:sp>
        <p:nvSpPr>
          <p:cNvPr id="26" name="Shape 23"/>
          <p:cNvSpPr/>
          <p:nvPr/>
        </p:nvSpPr>
        <p:spPr>
          <a:xfrm>
            <a:off x="704088" y="3877056"/>
            <a:ext cx="384048" cy="384048"/>
          </a:xfrm>
          <a:prstGeom prst="ellipse">
            <a:avLst/>
          </a:prstGeom>
          <a:solidFill>
            <a:srgbClr val="43A99A"/>
          </a:solidFill>
          <a:ln/>
        </p:spPr>
        <p:txBody>
          <a:bodyPr/>
          <a:lstStyle/>
          <a:p>
            <a:endParaRPr lang="en-US"/>
          </a:p>
        </p:txBody>
      </p:sp>
      <p:sp>
        <p:nvSpPr>
          <p:cNvPr id="27" name="Text 24"/>
          <p:cNvSpPr/>
          <p:nvPr/>
        </p:nvSpPr>
        <p:spPr>
          <a:xfrm>
            <a:off x="704088" y="3877056"/>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5"/>
          <p:cNvSpPr/>
          <p:nvPr/>
        </p:nvSpPr>
        <p:spPr>
          <a:xfrm>
            <a:off x="667512" y="4361688"/>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Commercial / Contracts</a:t>
            </a:r>
            <a:endParaRPr lang="en-US" sz="1250" dirty="0"/>
          </a:p>
        </p:txBody>
      </p:sp>
      <p:sp>
        <p:nvSpPr>
          <p:cNvPr id="29" name="Text 26"/>
          <p:cNvSpPr/>
          <p:nvPr/>
        </p:nvSpPr>
        <p:spPr>
          <a:xfrm>
            <a:off x="667512" y="4773168"/>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Supports VOs and claims; issues timely contractual notices.</a:t>
            </a:r>
            <a:endParaRPr lang="en-US" sz="1000" dirty="0"/>
          </a:p>
        </p:txBody>
      </p:sp>
      <p:sp>
        <p:nvSpPr>
          <p:cNvPr id="30" name="Shape 27"/>
          <p:cNvSpPr/>
          <p:nvPr/>
        </p:nvSpPr>
        <p:spPr>
          <a:xfrm>
            <a:off x="3255264" y="3675888"/>
            <a:ext cx="2624328" cy="1965960"/>
          </a:xfrm>
          <a:prstGeom prst="roundRect">
            <a:avLst>
              <a:gd name="adj" fmla="val 3256"/>
            </a:avLst>
          </a:prstGeom>
          <a:solidFill>
            <a:srgbClr val="D9ECE7"/>
          </a:solidFill>
          <a:ln/>
        </p:spPr>
        <p:txBody>
          <a:bodyPr/>
          <a:lstStyle/>
          <a:p>
            <a:endParaRPr lang="en-US"/>
          </a:p>
        </p:txBody>
      </p:sp>
      <p:sp>
        <p:nvSpPr>
          <p:cNvPr id="31" name="Shape 28"/>
          <p:cNvSpPr/>
          <p:nvPr/>
        </p:nvSpPr>
        <p:spPr>
          <a:xfrm>
            <a:off x="3456432" y="3877056"/>
            <a:ext cx="384048" cy="384048"/>
          </a:xfrm>
          <a:prstGeom prst="ellipse">
            <a:avLst/>
          </a:prstGeom>
          <a:solidFill>
            <a:srgbClr val="43A99A"/>
          </a:solidFill>
          <a:ln/>
        </p:spPr>
        <p:txBody>
          <a:bodyPr/>
          <a:lstStyle/>
          <a:p>
            <a:endParaRPr lang="en-US"/>
          </a:p>
        </p:txBody>
      </p:sp>
      <p:sp>
        <p:nvSpPr>
          <p:cNvPr id="32" name="Text 29"/>
          <p:cNvSpPr/>
          <p:nvPr/>
        </p:nvSpPr>
        <p:spPr>
          <a:xfrm>
            <a:off x="3456432" y="3877056"/>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0"/>
          <p:cNvSpPr/>
          <p:nvPr/>
        </p:nvSpPr>
        <p:spPr>
          <a:xfrm>
            <a:off x="3419856" y="4361688"/>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Government Relations (GRO)</a:t>
            </a:r>
            <a:endParaRPr lang="en-US" sz="1250" dirty="0"/>
          </a:p>
        </p:txBody>
      </p:sp>
      <p:sp>
        <p:nvSpPr>
          <p:cNvPr id="34" name="Text 31"/>
          <p:cNvSpPr/>
          <p:nvPr/>
        </p:nvSpPr>
        <p:spPr>
          <a:xfrm>
            <a:off x="3419856" y="4773168"/>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Liaises with MOT, Municipality, SEC, NWC, Civil Defense for permits and NOCs.</a:t>
            </a:r>
            <a:endParaRPr lang="en-US" sz="1000" dirty="0"/>
          </a:p>
        </p:txBody>
      </p:sp>
      <p:sp>
        <p:nvSpPr>
          <p:cNvPr id="35" name="Shape 32"/>
          <p:cNvSpPr/>
          <p:nvPr/>
        </p:nvSpPr>
        <p:spPr>
          <a:xfrm>
            <a:off x="6007608" y="3675888"/>
            <a:ext cx="2624328" cy="1965960"/>
          </a:xfrm>
          <a:prstGeom prst="roundRect">
            <a:avLst>
              <a:gd name="adj" fmla="val 3256"/>
            </a:avLst>
          </a:prstGeom>
          <a:solidFill>
            <a:srgbClr val="D9ECE7"/>
          </a:solidFill>
          <a:ln/>
        </p:spPr>
        <p:txBody>
          <a:bodyPr/>
          <a:lstStyle/>
          <a:p>
            <a:endParaRPr lang="en-US"/>
          </a:p>
        </p:txBody>
      </p:sp>
      <p:sp>
        <p:nvSpPr>
          <p:cNvPr id="36" name="Shape 33"/>
          <p:cNvSpPr/>
          <p:nvPr/>
        </p:nvSpPr>
        <p:spPr>
          <a:xfrm>
            <a:off x="6208776" y="3877056"/>
            <a:ext cx="384048" cy="384048"/>
          </a:xfrm>
          <a:prstGeom prst="ellipse">
            <a:avLst/>
          </a:prstGeom>
          <a:solidFill>
            <a:srgbClr val="43A99A"/>
          </a:solidFill>
          <a:ln/>
        </p:spPr>
        <p:txBody>
          <a:bodyPr/>
          <a:lstStyle/>
          <a:p>
            <a:endParaRPr lang="en-US"/>
          </a:p>
        </p:txBody>
      </p:sp>
      <p:sp>
        <p:nvSpPr>
          <p:cNvPr id="37" name="Text 34"/>
          <p:cNvSpPr/>
          <p:nvPr/>
        </p:nvSpPr>
        <p:spPr>
          <a:xfrm>
            <a:off x="6208776" y="3877056"/>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8" name="Text 35"/>
          <p:cNvSpPr/>
          <p:nvPr/>
        </p:nvSpPr>
        <p:spPr>
          <a:xfrm>
            <a:off x="6172200" y="4361688"/>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Subcontractors / Vendors</a:t>
            </a:r>
            <a:endParaRPr lang="en-US" sz="1250" dirty="0"/>
          </a:p>
        </p:txBody>
      </p:sp>
      <p:sp>
        <p:nvSpPr>
          <p:cNvPr id="39" name="Text 36"/>
          <p:cNvSpPr/>
          <p:nvPr/>
        </p:nvSpPr>
        <p:spPr>
          <a:xfrm>
            <a:off x="6172200" y="4773168"/>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Attend meetings, submit shop drawings of connection points, keep to boundaries.</a:t>
            </a:r>
            <a:endParaRPr lang="en-US" sz="1000" dirty="0"/>
          </a:p>
        </p:txBody>
      </p:sp>
      <p:sp>
        <p:nvSpPr>
          <p:cNvPr id="40" name="Shape 37"/>
          <p:cNvSpPr/>
          <p:nvPr/>
        </p:nvSpPr>
        <p:spPr>
          <a:xfrm>
            <a:off x="8759952" y="3675888"/>
            <a:ext cx="2624328" cy="1965960"/>
          </a:xfrm>
          <a:prstGeom prst="roundRect">
            <a:avLst>
              <a:gd name="adj" fmla="val 3256"/>
            </a:avLst>
          </a:prstGeom>
          <a:solidFill>
            <a:srgbClr val="D9ECE7"/>
          </a:solidFill>
          <a:ln/>
        </p:spPr>
        <p:txBody>
          <a:bodyPr/>
          <a:lstStyle/>
          <a:p>
            <a:endParaRPr lang="en-US"/>
          </a:p>
        </p:txBody>
      </p:sp>
      <p:sp>
        <p:nvSpPr>
          <p:cNvPr id="41" name="Shape 38"/>
          <p:cNvSpPr/>
          <p:nvPr/>
        </p:nvSpPr>
        <p:spPr>
          <a:xfrm>
            <a:off x="8961120" y="3877056"/>
            <a:ext cx="384048" cy="384048"/>
          </a:xfrm>
          <a:prstGeom prst="ellipse">
            <a:avLst/>
          </a:prstGeom>
          <a:solidFill>
            <a:srgbClr val="43A99A"/>
          </a:solidFill>
          <a:ln/>
        </p:spPr>
        <p:txBody>
          <a:bodyPr/>
          <a:lstStyle/>
          <a:p>
            <a:endParaRPr lang="en-US"/>
          </a:p>
        </p:txBody>
      </p:sp>
      <p:sp>
        <p:nvSpPr>
          <p:cNvPr id="42" name="Text 39"/>
          <p:cNvSpPr/>
          <p:nvPr/>
        </p:nvSpPr>
        <p:spPr>
          <a:xfrm>
            <a:off x="8961120" y="3877056"/>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3" name="Text 40"/>
          <p:cNvSpPr/>
          <p:nvPr/>
        </p:nvSpPr>
        <p:spPr>
          <a:xfrm>
            <a:off x="8924544" y="4361688"/>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Consultant / PMC &amp; Client</a:t>
            </a:r>
            <a:endParaRPr lang="en-US" sz="1250" dirty="0"/>
          </a:p>
        </p:txBody>
      </p:sp>
      <p:sp>
        <p:nvSpPr>
          <p:cNvPr id="44" name="Text 41"/>
          <p:cNvSpPr/>
          <p:nvPr/>
        </p:nvSpPr>
        <p:spPr>
          <a:xfrm>
            <a:off x="8924544" y="4773168"/>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Approve resolutions and major decisions; review monthly interface reports.</a:t>
            </a:r>
            <a:endParaRPr lang="en-US" sz="1000" dirty="0"/>
          </a:p>
        </p:txBody>
      </p:sp>
      <p:sp>
        <p:nvSpPr>
          <p:cNvPr id="46" name="Text 42"/>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83766" y="35290"/>
            <a:ext cx="12191695" cy="6858000"/>
          </a:xfrm>
          <a:prstGeom prst="rect">
            <a:avLst/>
          </a:prstGeom>
        </p:spPr>
      </p:pic>
      <p:sp>
        <p:nvSpPr>
          <p:cNvPr id="16" name="Shape 13"/>
          <p:cNvSpPr/>
          <p:nvPr/>
        </p:nvSpPr>
        <p:spPr>
          <a:xfrm>
            <a:off x="6478285" y="4600382"/>
            <a:ext cx="559408" cy="1068693"/>
          </a:xfrm>
          <a:prstGeom prst="line">
            <a:avLst/>
          </a:prstGeom>
          <a:noFill/>
          <a:ln w="19050">
            <a:solidFill>
              <a:srgbClr val="8FCFC3"/>
            </a:solidFill>
            <a:prstDash val="solid"/>
          </a:ln>
        </p:spPr>
        <p:txBody>
          <a:bodyPr/>
          <a:lstStyle/>
          <a:p>
            <a:endParaRPr lang="en-US"/>
          </a:p>
        </p:txBody>
      </p:sp>
      <p:sp>
        <p:nvSpPr>
          <p:cNvPr id="19" name="Shape 16"/>
          <p:cNvSpPr/>
          <p:nvPr/>
        </p:nvSpPr>
        <p:spPr>
          <a:xfrm flipH="1">
            <a:off x="5093651" y="4600383"/>
            <a:ext cx="559408" cy="940882"/>
          </a:xfrm>
          <a:prstGeom prst="line">
            <a:avLst/>
          </a:prstGeom>
          <a:noFill/>
          <a:ln w="19050">
            <a:solidFill>
              <a:srgbClr val="8FCFC3"/>
            </a:solidFill>
            <a:prstDash val="solid"/>
          </a:ln>
        </p:spPr>
        <p:txBody>
          <a:bodyPr/>
          <a:lstStyle/>
          <a:p>
            <a:endParaRPr lang="en-US"/>
          </a:p>
        </p:txBody>
      </p:sp>
      <p:sp>
        <p:nvSpPr>
          <p:cNvPr id="30" name="Shape 10">
            <a:extLst>
              <a:ext uri="{FF2B5EF4-FFF2-40B4-BE49-F238E27FC236}">
                <a16:creationId xmlns:a16="http://schemas.microsoft.com/office/drawing/2014/main" id="{FEF0FE44-49E5-A825-BAA1-C3AC51E743BA}"/>
              </a:ext>
            </a:extLst>
          </p:cNvPr>
          <p:cNvSpPr/>
          <p:nvPr/>
        </p:nvSpPr>
        <p:spPr>
          <a:xfrm flipV="1">
            <a:off x="6686924" y="2559199"/>
            <a:ext cx="1116108" cy="588314"/>
          </a:xfrm>
          <a:prstGeom prst="line">
            <a:avLst/>
          </a:prstGeom>
          <a:noFill/>
          <a:ln w="19050">
            <a:solidFill>
              <a:srgbClr val="8FCFC3"/>
            </a:solidFill>
            <a:prstDash val="solid"/>
          </a:ln>
        </p:spPr>
        <p:txBody>
          <a:bodyPr/>
          <a:lstStyle/>
          <a:p>
            <a:endParaRPr lang="en-US"/>
          </a:p>
        </p:txBody>
      </p:sp>
      <p:sp>
        <p:nvSpPr>
          <p:cNvPr id="32" name="Shape 19">
            <a:extLst>
              <a:ext uri="{FF2B5EF4-FFF2-40B4-BE49-F238E27FC236}">
                <a16:creationId xmlns:a16="http://schemas.microsoft.com/office/drawing/2014/main" id="{5522B3C0-6F65-2D23-048A-E572AA0AEF96}"/>
              </a:ext>
            </a:extLst>
          </p:cNvPr>
          <p:cNvSpPr/>
          <p:nvPr/>
        </p:nvSpPr>
        <p:spPr>
          <a:xfrm flipH="1" flipV="1">
            <a:off x="4328310" y="2641188"/>
            <a:ext cx="993857" cy="576215"/>
          </a:xfrm>
          <a:prstGeom prst="line">
            <a:avLst/>
          </a:prstGeom>
          <a:noFill/>
          <a:ln w="19050">
            <a:solidFill>
              <a:srgbClr val="8FCFC3"/>
            </a:solidFill>
            <a:prstDash val="solid"/>
          </a:ln>
        </p:spPr>
        <p:txBody>
          <a:bodyPr/>
          <a:lstStyle/>
          <a:p>
            <a:endParaRPr lang="en-US"/>
          </a:p>
        </p:txBody>
      </p:sp>
      <p:sp>
        <p:nvSpPr>
          <p:cNvPr id="34" name="Shape 19">
            <a:extLst>
              <a:ext uri="{FF2B5EF4-FFF2-40B4-BE49-F238E27FC236}">
                <a16:creationId xmlns:a16="http://schemas.microsoft.com/office/drawing/2014/main" id="{3C800D64-A129-D9F1-E526-66435C7C1FEC}"/>
              </a:ext>
            </a:extLst>
          </p:cNvPr>
          <p:cNvSpPr/>
          <p:nvPr/>
        </p:nvSpPr>
        <p:spPr>
          <a:xfrm flipV="1">
            <a:off x="6065672" y="1803196"/>
            <a:ext cx="15088" cy="1134029"/>
          </a:xfrm>
          <a:prstGeom prst="line">
            <a:avLst/>
          </a:prstGeom>
          <a:noFill/>
          <a:ln w="19050">
            <a:solidFill>
              <a:srgbClr val="8FCFC3"/>
            </a:solidFill>
            <a:prstDash val="solid"/>
          </a:ln>
        </p:spPr>
        <p:txBody>
          <a:bodyPr/>
          <a:lstStyle/>
          <a:p>
            <a:endParaRPr lang="en-US"/>
          </a:p>
        </p:txBody>
      </p:sp>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RELATIONS WITH OTHER PARTIES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Interface Manager Relations</a:t>
            </a:r>
            <a:endParaRPr lang="en-US" sz="3000" dirty="0"/>
          </a:p>
        </p:txBody>
      </p:sp>
      <p:sp>
        <p:nvSpPr>
          <p:cNvPr id="5" name="Shape 2"/>
          <p:cNvSpPr/>
          <p:nvPr/>
        </p:nvSpPr>
        <p:spPr>
          <a:xfrm>
            <a:off x="5148072" y="2862072"/>
            <a:ext cx="1865376" cy="1865376"/>
          </a:xfrm>
          <a:prstGeom prst="ellipse">
            <a:avLst/>
          </a:prstGeom>
          <a:solidFill>
            <a:srgbClr val="004549"/>
          </a:solidFill>
          <a:ln/>
        </p:spPr>
        <p:txBody>
          <a:bodyPr/>
          <a:lstStyle/>
          <a:p>
            <a:endParaRPr lang="en-US" dirty="0"/>
          </a:p>
        </p:txBody>
      </p:sp>
      <p:sp>
        <p:nvSpPr>
          <p:cNvPr id="6" name="Text 3"/>
          <p:cNvSpPr/>
          <p:nvPr/>
        </p:nvSpPr>
        <p:spPr>
          <a:xfrm>
            <a:off x="5148072" y="2862072"/>
            <a:ext cx="1865376" cy="1865376"/>
          </a:xfrm>
          <a:prstGeom prst="rect">
            <a:avLst/>
          </a:prstGeom>
          <a:noFill/>
          <a:ln/>
        </p:spPr>
        <p:txBody>
          <a:bodyPr wrap="square" rtlCol="0" anchor="ctr"/>
          <a:lstStyle/>
          <a:p>
            <a:pPr marL="0" indent="0" algn="ctr">
              <a:lnSpc>
                <a:spcPts val="1700"/>
              </a:lnSpc>
              <a:buNone/>
            </a:pPr>
            <a:r>
              <a:rPr lang="en-US" sz="1500" b="1" dirty="0">
                <a:solidFill>
                  <a:srgbClr val="FFFFFF"/>
                </a:solidFill>
                <a:latin typeface="Calibri" pitchFamily="34" charset="0"/>
                <a:ea typeface="Calibri" pitchFamily="34" charset="-122"/>
                <a:cs typeface="Calibri" pitchFamily="34" charset="-120"/>
              </a:rPr>
              <a:t>INTERFACE</a:t>
            </a:r>
            <a:endParaRPr lang="en-US" sz="1500" dirty="0"/>
          </a:p>
          <a:p>
            <a:pPr marL="0" indent="0" algn="ctr">
              <a:lnSpc>
                <a:spcPts val="1700"/>
              </a:lnSpc>
              <a:buNone/>
            </a:pPr>
            <a:r>
              <a:rPr lang="en-US" sz="1500" b="1" dirty="0">
                <a:solidFill>
                  <a:srgbClr val="FFFFFF"/>
                </a:solidFill>
                <a:latin typeface="Calibri" pitchFamily="34" charset="0"/>
                <a:ea typeface="Calibri" pitchFamily="34" charset="-122"/>
                <a:cs typeface="Calibri" pitchFamily="34" charset="-120"/>
              </a:rPr>
              <a:t>MANAGER</a:t>
            </a:r>
            <a:endParaRPr lang="en-US" sz="1500" dirty="0"/>
          </a:p>
        </p:txBody>
      </p:sp>
      <p:sp>
        <p:nvSpPr>
          <p:cNvPr id="7" name="Shape 4"/>
          <p:cNvSpPr/>
          <p:nvPr/>
        </p:nvSpPr>
        <p:spPr>
          <a:xfrm>
            <a:off x="6080760" y="2919862"/>
            <a:ext cx="0" cy="0"/>
          </a:xfrm>
          <a:prstGeom prst="line">
            <a:avLst/>
          </a:prstGeom>
          <a:noFill/>
          <a:ln w="19050">
            <a:solidFill>
              <a:srgbClr val="8FCFC3"/>
            </a:solidFill>
            <a:prstDash val="solid"/>
          </a:ln>
        </p:spPr>
        <p:txBody>
          <a:bodyPr/>
          <a:lstStyle/>
          <a:p>
            <a:endParaRPr lang="en-US"/>
          </a:p>
        </p:txBody>
      </p:sp>
      <p:sp>
        <p:nvSpPr>
          <p:cNvPr id="8" name="Shape 5"/>
          <p:cNvSpPr/>
          <p:nvPr/>
        </p:nvSpPr>
        <p:spPr>
          <a:xfrm>
            <a:off x="5422392" y="486461"/>
            <a:ext cx="1316736" cy="1316736"/>
          </a:xfrm>
          <a:prstGeom prst="ellipse">
            <a:avLst/>
          </a:prstGeom>
          <a:solidFill>
            <a:srgbClr val="D9ECE7"/>
          </a:solidFill>
          <a:ln w="15875">
            <a:solidFill>
              <a:srgbClr val="43A99A"/>
            </a:solidFill>
            <a:prstDash val="solid"/>
          </a:ln>
        </p:spPr>
        <p:txBody>
          <a:bodyPr/>
          <a:lstStyle/>
          <a:p>
            <a:endParaRPr lang="en-US"/>
          </a:p>
        </p:txBody>
      </p:sp>
      <p:sp>
        <p:nvSpPr>
          <p:cNvPr id="9" name="Text 6"/>
          <p:cNvSpPr/>
          <p:nvPr/>
        </p:nvSpPr>
        <p:spPr>
          <a:xfrm>
            <a:off x="5422392" y="486461"/>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Client / Employer</a:t>
            </a:r>
            <a:endParaRPr lang="en-US" sz="1050" dirty="0"/>
          </a:p>
        </p:txBody>
      </p:sp>
      <p:sp>
        <p:nvSpPr>
          <p:cNvPr id="11" name="Shape 8"/>
          <p:cNvSpPr/>
          <p:nvPr/>
        </p:nvSpPr>
        <p:spPr>
          <a:xfrm>
            <a:off x="7674348" y="1484187"/>
            <a:ext cx="1316736" cy="1316736"/>
          </a:xfrm>
          <a:prstGeom prst="ellipse">
            <a:avLst/>
          </a:prstGeom>
          <a:solidFill>
            <a:srgbClr val="D9ECE7"/>
          </a:solidFill>
          <a:ln w="15875">
            <a:solidFill>
              <a:srgbClr val="43A99A"/>
            </a:solidFill>
            <a:prstDash val="solid"/>
          </a:ln>
        </p:spPr>
        <p:txBody>
          <a:bodyPr/>
          <a:lstStyle/>
          <a:p>
            <a:endParaRPr lang="en-US"/>
          </a:p>
        </p:txBody>
      </p:sp>
      <p:sp>
        <p:nvSpPr>
          <p:cNvPr id="12" name="Text 9"/>
          <p:cNvSpPr/>
          <p:nvPr/>
        </p:nvSpPr>
        <p:spPr>
          <a:xfrm>
            <a:off x="7674348" y="1484187"/>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PMC /</a:t>
            </a:r>
            <a:endParaRPr lang="en-US" sz="1050" dirty="0"/>
          </a:p>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Consultant</a:t>
            </a:r>
            <a:endParaRPr lang="en-US" sz="1050" dirty="0"/>
          </a:p>
        </p:txBody>
      </p:sp>
      <p:sp>
        <p:nvSpPr>
          <p:cNvPr id="13" name="Shape 10"/>
          <p:cNvSpPr/>
          <p:nvPr/>
        </p:nvSpPr>
        <p:spPr>
          <a:xfrm>
            <a:off x="7007893" y="3989443"/>
            <a:ext cx="1256978" cy="263945"/>
          </a:xfrm>
          <a:prstGeom prst="line">
            <a:avLst/>
          </a:prstGeom>
          <a:noFill/>
          <a:ln w="19050">
            <a:solidFill>
              <a:srgbClr val="8FCFC3"/>
            </a:solidFill>
            <a:prstDash val="solid"/>
          </a:ln>
        </p:spPr>
        <p:txBody>
          <a:bodyPr/>
          <a:lstStyle/>
          <a:p>
            <a:endParaRPr lang="en-US"/>
          </a:p>
        </p:txBody>
      </p:sp>
      <p:sp>
        <p:nvSpPr>
          <p:cNvPr id="14" name="Shape 11"/>
          <p:cNvSpPr/>
          <p:nvPr/>
        </p:nvSpPr>
        <p:spPr>
          <a:xfrm>
            <a:off x="8230535" y="3726057"/>
            <a:ext cx="1316736" cy="1316736"/>
          </a:xfrm>
          <a:prstGeom prst="ellipse">
            <a:avLst/>
          </a:prstGeom>
          <a:solidFill>
            <a:srgbClr val="D9ECE7"/>
          </a:solidFill>
          <a:ln w="15875">
            <a:solidFill>
              <a:srgbClr val="43A99A"/>
            </a:solidFill>
            <a:prstDash val="solid"/>
          </a:ln>
        </p:spPr>
        <p:txBody>
          <a:bodyPr/>
          <a:lstStyle/>
          <a:p>
            <a:endParaRPr lang="en-US"/>
          </a:p>
        </p:txBody>
      </p:sp>
      <p:sp>
        <p:nvSpPr>
          <p:cNvPr id="15" name="Text 12"/>
          <p:cNvSpPr/>
          <p:nvPr/>
        </p:nvSpPr>
        <p:spPr>
          <a:xfrm>
            <a:off x="8230535" y="3726057"/>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Authorities</a:t>
            </a:r>
            <a:endParaRPr lang="en-US" sz="1050" dirty="0"/>
          </a:p>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(via GRO)</a:t>
            </a:r>
            <a:endParaRPr lang="en-US" sz="1050" dirty="0"/>
          </a:p>
        </p:txBody>
      </p:sp>
      <p:sp>
        <p:nvSpPr>
          <p:cNvPr id="17" name="Shape 14"/>
          <p:cNvSpPr/>
          <p:nvPr/>
        </p:nvSpPr>
        <p:spPr>
          <a:xfrm>
            <a:off x="6672133" y="5523898"/>
            <a:ext cx="1316736" cy="1316736"/>
          </a:xfrm>
          <a:prstGeom prst="ellipse">
            <a:avLst/>
          </a:prstGeom>
          <a:solidFill>
            <a:srgbClr val="D9ECE7"/>
          </a:solidFill>
          <a:ln w="15875">
            <a:solidFill>
              <a:srgbClr val="43A99A"/>
            </a:solidFill>
            <a:prstDash val="solid"/>
          </a:ln>
        </p:spPr>
        <p:txBody>
          <a:bodyPr/>
          <a:lstStyle/>
          <a:p>
            <a:endParaRPr lang="en-US"/>
          </a:p>
        </p:txBody>
      </p:sp>
      <p:sp>
        <p:nvSpPr>
          <p:cNvPr id="18" name="Text 15"/>
          <p:cNvSpPr/>
          <p:nvPr/>
        </p:nvSpPr>
        <p:spPr>
          <a:xfrm>
            <a:off x="6672133" y="5523898"/>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Subcontractors</a:t>
            </a:r>
            <a:endParaRPr lang="en-US" sz="1050" dirty="0"/>
          </a:p>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&amp; Vendors</a:t>
            </a:r>
            <a:endParaRPr lang="en-US" sz="1050" dirty="0"/>
          </a:p>
        </p:txBody>
      </p:sp>
      <p:sp>
        <p:nvSpPr>
          <p:cNvPr id="20" name="Shape 17"/>
          <p:cNvSpPr/>
          <p:nvPr/>
        </p:nvSpPr>
        <p:spPr>
          <a:xfrm>
            <a:off x="4172651" y="5523898"/>
            <a:ext cx="1316736" cy="1316736"/>
          </a:xfrm>
          <a:prstGeom prst="ellipse">
            <a:avLst/>
          </a:prstGeom>
          <a:solidFill>
            <a:srgbClr val="D9ECE7"/>
          </a:solidFill>
          <a:ln w="15875">
            <a:solidFill>
              <a:srgbClr val="43A99A"/>
            </a:solidFill>
            <a:prstDash val="solid"/>
          </a:ln>
        </p:spPr>
        <p:txBody>
          <a:bodyPr/>
          <a:lstStyle/>
          <a:p>
            <a:endParaRPr lang="en-US"/>
          </a:p>
        </p:txBody>
      </p:sp>
      <p:sp>
        <p:nvSpPr>
          <p:cNvPr id="21" name="Text 18"/>
          <p:cNvSpPr/>
          <p:nvPr/>
        </p:nvSpPr>
        <p:spPr>
          <a:xfrm>
            <a:off x="4172651" y="5523898"/>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Utilities</a:t>
            </a:r>
            <a:endParaRPr lang="en-US" sz="1050" dirty="0"/>
          </a:p>
        </p:txBody>
      </p:sp>
      <p:sp>
        <p:nvSpPr>
          <p:cNvPr id="22" name="Shape 19"/>
          <p:cNvSpPr/>
          <p:nvPr/>
        </p:nvSpPr>
        <p:spPr>
          <a:xfrm flipH="1">
            <a:off x="3930985" y="3989443"/>
            <a:ext cx="1222642" cy="263945"/>
          </a:xfrm>
          <a:prstGeom prst="line">
            <a:avLst/>
          </a:prstGeom>
          <a:noFill/>
          <a:ln w="19050">
            <a:solidFill>
              <a:srgbClr val="8FCFC3"/>
            </a:solidFill>
            <a:prstDash val="solid"/>
          </a:ln>
        </p:spPr>
        <p:txBody>
          <a:bodyPr/>
          <a:lstStyle/>
          <a:p>
            <a:endParaRPr lang="en-US"/>
          </a:p>
        </p:txBody>
      </p:sp>
      <p:sp>
        <p:nvSpPr>
          <p:cNvPr id="23" name="Shape 20"/>
          <p:cNvSpPr/>
          <p:nvPr/>
        </p:nvSpPr>
        <p:spPr>
          <a:xfrm>
            <a:off x="2614249" y="3726057"/>
            <a:ext cx="1316736" cy="1316736"/>
          </a:xfrm>
          <a:prstGeom prst="ellipse">
            <a:avLst/>
          </a:prstGeom>
          <a:solidFill>
            <a:srgbClr val="D9ECE7"/>
          </a:solidFill>
          <a:ln w="15875">
            <a:solidFill>
              <a:srgbClr val="43A99A"/>
            </a:solidFill>
            <a:prstDash val="solid"/>
          </a:ln>
        </p:spPr>
        <p:txBody>
          <a:bodyPr/>
          <a:lstStyle/>
          <a:p>
            <a:endParaRPr lang="en-US"/>
          </a:p>
        </p:txBody>
      </p:sp>
      <p:sp>
        <p:nvSpPr>
          <p:cNvPr id="24" name="Text 21"/>
          <p:cNvSpPr/>
          <p:nvPr/>
        </p:nvSpPr>
        <p:spPr>
          <a:xfrm>
            <a:off x="2614249" y="3726057"/>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Third Parties &amp;</a:t>
            </a:r>
            <a:endParaRPr lang="en-US" sz="1050" dirty="0"/>
          </a:p>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Adjacent Contractors</a:t>
            </a:r>
            <a:endParaRPr lang="en-US" sz="1050" dirty="0"/>
          </a:p>
        </p:txBody>
      </p:sp>
      <p:sp>
        <p:nvSpPr>
          <p:cNvPr id="25" name="Shape 22"/>
          <p:cNvSpPr/>
          <p:nvPr/>
        </p:nvSpPr>
        <p:spPr>
          <a:xfrm>
            <a:off x="5337257" y="3249270"/>
            <a:ext cx="0" cy="0"/>
          </a:xfrm>
          <a:prstGeom prst="line">
            <a:avLst/>
          </a:prstGeom>
          <a:noFill/>
          <a:ln w="19050">
            <a:solidFill>
              <a:srgbClr val="8FCFC3"/>
            </a:solidFill>
            <a:prstDash val="solid"/>
          </a:ln>
        </p:spPr>
        <p:txBody>
          <a:bodyPr/>
          <a:lstStyle/>
          <a:p>
            <a:endParaRPr lang="en-US"/>
          </a:p>
        </p:txBody>
      </p:sp>
      <p:sp>
        <p:nvSpPr>
          <p:cNvPr id="26" name="Shape 23"/>
          <p:cNvSpPr/>
          <p:nvPr/>
        </p:nvSpPr>
        <p:spPr>
          <a:xfrm>
            <a:off x="3170436" y="1484187"/>
            <a:ext cx="1316736" cy="1316736"/>
          </a:xfrm>
          <a:prstGeom prst="ellipse">
            <a:avLst/>
          </a:prstGeom>
          <a:solidFill>
            <a:srgbClr val="D9ECE7"/>
          </a:solidFill>
          <a:ln w="15875">
            <a:solidFill>
              <a:srgbClr val="43A99A"/>
            </a:solidFill>
            <a:prstDash val="solid"/>
          </a:ln>
        </p:spPr>
        <p:txBody>
          <a:bodyPr/>
          <a:lstStyle/>
          <a:p>
            <a:endParaRPr lang="en-US"/>
          </a:p>
        </p:txBody>
      </p:sp>
      <p:sp>
        <p:nvSpPr>
          <p:cNvPr id="27" name="Text 24"/>
          <p:cNvSpPr/>
          <p:nvPr/>
        </p:nvSpPr>
        <p:spPr>
          <a:xfrm>
            <a:off x="3170436" y="1484187"/>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Project Team</a:t>
            </a:r>
            <a:endParaRPr lang="en-US" sz="1050" dirty="0"/>
          </a:p>
        </p:txBody>
      </p:sp>
      <p:sp>
        <p:nvSpPr>
          <p:cNvPr id="29" name="Text 25"/>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RACI</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Interface Management RACI Matrix</a:t>
            </a:r>
            <a:endParaRPr lang="en-US" sz="300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15</a:t>
            </a:r>
            <a:endParaRPr lang="en-US" sz="1100" dirty="0"/>
          </a:p>
        </p:txBody>
      </p:sp>
      <p:graphicFrame>
        <p:nvGraphicFramePr>
          <p:cNvPr id="40" name="RACI Table"/>
          <p:cNvGraphicFramePr>
            <a:graphicFrameLocks noGrp="1"/>
          </p:cNvGraphicFramePr>
          <p:nvPr/>
        </p:nvGraphicFramePr>
        <p:xfrm>
          <a:off x="457200" y="1330000"/>
          <a:ext cx="11277600" cy="4308000"/>
        </p:xfrm>
        <a:graphic>
          <a:graphicData uri="http://schemas.openxmlformats.org/drawingml/2006/table">
            <a:tbl>
              <a:tblPr firstRow="1"/>
              <a:tblGrid>
                <a:gridCol w="3350000">
                  <a:extLst>
                    <a:ext uri="{9D8B030D-6E8A-4147-A177-3AD203B41FA5}">
                      <a16:colId xmlns:a16="http://schemas.microsoft.com/office/drawing/2014/main" val="20000"/>
                    </a:ext>
                  </a:extLst>
                </a:gridCol>
                <a:gridCol w="609815">
                  <a:extLst>
                    <a:ext uri="{9D8B030D-6E8A-4147-A177-3AD203B41FA5}">
                      <a16:colId xmlns:a16="http://schemas.microsoft.com/office/drawing/2014/main" val="20001"/>
                    </a:ext>
                  </a:extLst>
                </a:gridCol>
                <a:gridCol w="609815">
                  <a:extLst>
                    <a:ext uri="{9D8B030D-6E8A-4147-A177-3AD203B41FA5}">
                      <a16:colId xmlns:a16="http://schemas.microsoft.com/office/drawing/2014/main" val="20002"/>
                    </a:ext>
                  </a:extLst>
                </a:gridCol>
                <a:gridCol w="609815">
                  <a:extLst>
                    <a:ext uri="{9D8B030D-6E8A-4147-A177-3AD203B41FA5}">
                      <a16:colId xmlns:a16="http://schemas.microsoft.com/office/drawing/2014/main" val="20003"/>
                    </a:ext>
                  </a:extLst>
                </a:gridCol>
                <a:gridCol w="609815">
                  <a:extLst>
                    <a:ext uri="{9D8B030D-6E8A-4147-A177-3AD203B41FA5}">
                      <a16:colId xmlns:a16="http://schemas.microsoft.com/office/drawing/2014/main" val="20004"/>
                    </a:ext>
                  </a:extLst>
                </a:gridCol>
                <a:gridCol w="609815">
                  <a:extLst>
                    <a:ext uri="{9D8B030D-6E8A-4147-A177-3AD203B41FA5}">
                      <a16:colId xmlns:a16="http://schemas.microsoft.com/office/drawing/2014/main" val="20005"/>
                    </a:ext>
                  </a:extLst>
                </a:gridCol>
                <a:gridCol w="609815">
                  <a:extLst>
                    <a:ext uri="{9D8B030D-6E8A-4147-A177-3AD203B41FA5}">
                      <a16:colId xmlns:a16="http://schemas.microsoft.com/office/drawing/2014/main" val="20006"/>
                    </a:ext>
                  </a:extLst>
                </a:gridCol>
                <a:gridCol w="609815">
                  <a:extLst>
                    <a:ext uri="{9D8B030D-6E8A-4147-A177-3AD203B41FA5}">
                      <a16:colId xmlns:a16="http://schemas.microsoft.com/office/drawing/2014/main" val="20007"/>
                    </a:ext>
                  </a:extLst>
                </a:gridCol>
                <a:gridCol w="609815">
                  <a:extLst>
                    <a:ext uri="{9D8B030D-6E8A-4147-A177-3AD203B41FA5}">
                      <a16:colId xmlns:a16="http://schemas.microsoft.com/office/drawing/2014/main" val="20008"/>
                    </a:ext>
                  </a:extLst>
                </a:gridCol>
                <a:gridCol w="609815">
                  <a:extLst>
                    <a:ext uri="{9D8B030D-6E8A-4147-A177-3AD203B41FA5}">
                      <a16:colId xmlns:a16="http://schemas.microsoft.com/office/drawing/2014/main" val="20009"/>
                    </a:ext>
                  </a:extLst>
                </a:gridCol>
                <a:gridCol w="609815">
                  <a:extLst>
                    <a:ext uri="{9D8B030D-6E8A-4147-A177-3AD203B41FA5}">
                      <a16:colId xmlns:a16="http://schemas.microsoft.com/office/drawing/2014/main" val="20010"/>
                    </a:ext>
                  </a:extLst>
                </a:gridCol>
                <a:gridCol w="609815">
                  <a:extLst>
                    <a:ext uri="{9D8B030D-6E8A-4147-A177-3AD203B41FA5}">
                      <a16:colId xmlns:a16="http://schemas.microsoft.com/office/drawing/2014/main" val="20011"/>
                    </a:ext>
                  </a:extLst>
                </a:gridCol>
                <a:gridCol w="609815">
                  <a:extLst>
                    <a:ext uri="{9D8B030D-6E8A-4147-A177-3AD203B41FA5}">
                      <a16:colId xmlns:a16="http://schemas.microsoft.com/office/drawing/2014/main" val="20012"/>
                    </a:ext>
                  </a:extLst>
                </a:gridCol>
                <a:gridCol w="609820">
                  <a:extLst>
                    <a:ext uri="{9D8B030D-6E8A-4147-A177-3AD203B41FA5}">
                      <a16:colId xmlns:a16="http://schemas.microsoft.com/office/drawing/2014/main" val="20013"/>
                    </a:ext>
                  </a:extLst>
                </a:gridCol>
              </a:tblGrid>
              <a:tr h="500000">
                <a:tc>
                  <a:txBody>
                    <a:bodyPr/>
                    <a:lstStyle/>
                    <a:p>
                      <a:pPr algn="l"/>
                      <a:r>
                        <a:rPr lang="en-US" sz="900" b="1" dirty="0">
                          <a:solidFill>
                            <a:srgbClr val="FFFFFF"/>
                          </a:solidFill>
                          <a:latin typeface="Calibri"/>
                          <a:cs typeface="Calibri"/>
                        </a:rPr>
                        <a:t>Activity / Process</a:t>
                      </a:r>
                      <a:endParaRPr lang="en-US" sz="9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Interface Manager</a:t>
                      </a:r>
                      <a:endParaRPr lang="en-US" sz="7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Project Manager</a:t>
                      </a:r>
                      <a:endParaRPr lang="en-US" sz="7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Projects Director</a:t>
                      </a:r>
                      <a:endParaRPr lang="en-US" sz="7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E.C. VP</a:t>
                      </a:r>
                      <a:endParaRPr lang="en-US" sz="7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Discipline Leads</a:t>
                      </a:r>
                      <a:endParaRPr lang="en-US" sz="7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Technical Engineer</a:t>
                      </a:r>
                      <a:endParaRPr lang="en-US" sz="7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Sub-contractor</a:t>
                      </a:r>
                      <a:endParaRPr lang="en-US" sz="7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Document Controller</a:t>
                      </a:r>
                      <a:endParaRPr lang="en-US" sz="7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QA/QC Manager</a:t>
                      </a:r>
                      <a:endParaRPr lang="en-US" sz="7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Safety Manager</a:t>
                      </a:r>
                      <a:endParaRPr lang="en-US" sz="7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Commercial Manager</a:t>
                      </a:r>
                      <a:endParaRPr lang="en-US" sz="7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Contract Engineer</a:t>
                      </a:r>
                      <a:endParaRPr lang="en-US" sz="7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Risk Manager</a:t>
                      </a:r>
                      <a:endParaRPr lang="en-US" sz="7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extLst>
                  <a:ext uri="{0D108BD9-81ED-4DB2-BD59-A6C34878D82A}">
                    <a16:rowId xmlns:a16="http://schemas.microsoft.com/office/drawing/2014/main" val="10000"/>
                  </a:ext>
                </a:extLst>
              </a:tr>
              <a:tr h="238000">
                <a:tc gridSpan="14">
                  <a:txBody>
                    <a:bodyPr/>
                    <a:lstStyle/>
                    <a:p>
                      <a:pPr algn="l"/>
                      <a:r>
                        <a:rPr lang="en-US" sz="750" b="1" dirty="0">
                          <a:solidFill>
                            <a:srgbClr val="004549"/>
                          </a:solidFill>
                          <a:latin typeface="Calibri"/>
                          <a:cs typeface="Calibri"/>
                        </a:rPr>
                        <a:t>SECTOR LEVEL</a:t>
                      </a:r>
                      <a:endParaRPr lang="en-US" sz="75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extLst>
                  <a:ext uri="{0D108BD9-81ED-4DB2-BD59-A6C34878D82A}">
                    <a16:rowId xmlns:a16="http://schemas.microsoft.com/office/drawing/2014/main" val="10001"/>
                  </a:ext>
                </a:extLst>
              </a:tr>
              <a:tr h="238000">
                <a:tc>
                  <a:txBody>
                    <a:bodyPr/>
                    <a:lstStyle/>
                    <a:p>
                      <a:pPr algn="l"/>
                      <a:r>
                        <a:rPr lang="en-US" sz="800" b="0" dirty="0">
                          <a:solidFill>
                            <a:srgbClr val="004549"/>
                          </a:solidFill>
                          <a:latin typeface="Calibri"/>
                          <a:cs typeface="Calibri"/>
                        </a:rPr>
                        <a:t>Establish interface policy &amp; governance framework</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FFFFFF"/>
                          </a:solidFill>
                          <a:latin typeface="Calibri"/>
                          <a:cs typeface="Calibri"/>
                        </a:rPr>
                        <a:t>A</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extLst>
                  <a:ext uri="{0D108BD9-81ED-4DB2-BD59-A6C34878D82A}">
                    <a16:rowId xmlns:a16="http://schemas.microsoft.com/office/drawing/2014/main" val="10002"/>
                  </a:ext>
                </a:extLst>
              </a:tr>
              <a:tr h="238000">
                <a:tc>
                  <a:txBody>
                    <a:bodyPr/>
                    <a:lstStyle/>
                    <a:p>
                      <a:pPr algn="l"/>
                      <a:r>
                        <a:rPr lang="en-US" sz="800" b="0" dirty="0">
                          <a:solidFill>
                            <a:srgbClr val="004549"/>
                          </a:solidFill>
                          <a:latin typeface="Calibri"/>
                          <a:cs typeface="Calibri"/>
                        </a:rPr>
                        <a:t>Approve sector interface KPIs &amp; reporting structure</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FFFFFF"/>
                          </a:solidFill>
                          <a:latin typeface="Calibri"/>
                          <a:cs typeface="Calibri"/>
                        </a:rPr>
                        <a:t>A</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extLst>
                  <a:ext uri="{0D108BD9-81ED-4DB2-BD59-A6C34878D82A}">
                    <a16:rowId xmlns:a16="http://schemas.microsoft.com/office/drawing/2014/main" val="10003"/>
                  </a:ext>
                </a:extLst>
              </a:tr>
              <a:tr h="238000">
                <a:tc>
                  <a:txBody>
                    <a:bodyPr/>
                    <a:lstStyle/>
                    <a:p>
                      <a:pPr algn="l"/>
                      <a:r>
                        <a:rPr lang="en-US" sz="800" b="0" dirty="0">
                          <a:solidFill>
                            <a:srgbClr val="004549"/>
                          </a:solidFill>
                          <a:latin typeface="Calibri"/>
                          <a:cs typeface="Calibri"/>
                        </a:rPr>
                        <a:t>Monitor interface performance &amp; compliance</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FFFFFF"/>
                          </a:solidFill>
                          <a:latin typeface="Calibri"/>
                          <a:cs typeface="Calibri"/>
                        </a:rPr>
                        <a:t>A</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extLst>
                  <a:ext uri="{0D108BD9-81ED-4DB2-BD59-A6C34878D82A}">
                    <a16:rowId xmlns:a16="http://schemas.microsoft.com/office/drawing/2014/main" val="10004"/>
                  </a:ext>
                </a:extLst>
              </a:tr>
              <a:tr h="238000">
                <a:tc gridSpan="14">
                  <a:txBody>
                    <a:bodyPr/>
                    <a:lstStyle/>
                    <a:p>
                      <a:pPr algn="l"/>
                      <a:r>
                        <a:rPr lang="en-US" sz="750" b="1" dirty="0">
                          <a:solidFill>
                            <a:srgbClr val="004549"/>
                          </a:solidFill>
                          <a:latin typeface="Calibri"/>
                          <a:cs typeface="Calibri"/>
                        </a:rPr>
                        <a:t>BUSINESS UNIT LEVEL</a:t>
                      </a:r>
                      <a:endParaRPr lang="en-US" sz="75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extLst>
                  <a:ext uri="{0D108BD9-81ED-4DB2-BD59-A6C34878D82A}">
                    <a16:rowId xmlns:a16="http://schemas.microsoft.com/office/drawing/2014/main" val="10005"/>
                  </a:ext>
                </a:extLst>
              </a:tr>
              <a:tr h="238000">
                <a:tc>
                  <a:txBody>
                    <a:bodyPr/>
                    <a:lstStyle/>
                    <a:p>
                      <a:pPr algn="l"/>
                      <a:r>
                        <a:rPr lang="en-US" sz="800" b="0" dirty="0">
                          <a:solidFill>
                            <a:srgbClr val="004549"/>
                          </a:solidFill>
                          <a:latin typeface="Calibri"/>
                          <a:cs typeface="Calibri"/>
                        </a:rPr>
                        <a:t>Develop &amp; implement Interface Management Plans</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FFFFFF"/>
                          </a:solidFill>
                          <a:latin typeface="Calibri"/>
                          <a:cs typeface="Calibri"/>
                        </a:rPr>
                        <a:t>A</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6"/>
                  </a:ext>
                </a:extLst>
              </a:tr>
              <a:tr h="238000">
                <a:tc>
                  <a:txBody>
                    <a:bodyPr/>
                    <a:lstStyle/>
                    <a:p>
                      <a:pPr algn="l"/>
                      <a:r>
                        <a:rPr lang="en-US" sz="800" b="0" dirty="0">
                          <a:solidFill>
                            <a:srgbClr val="004549"/>
                          </a:solidFill>
                          <a:latin typeface="Calibri"/>
                          <a:cs typeface="Calibri"/>
                        </a:rPr>
                        <a:t>Conduct interface coordination meetings</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FFFFFF"/>
                          </a:solidFill>
                          <a:latin typeface="Calibri"/>
                          <a:cs typeface="Calibri"/>
                        </a:rPr>
                        <a:t>A</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7"/>
                  </a:ext>
                </a:extLst>
              </a:tr>
              <a:tr h="238000">
                <a:tc>
                  <a:txBody>
                    <a:bodyPr/>
                    <a:lstStyle/>
                    <a:p>
                      <a:pPr algn="l"/>
                      <a:r>
                        <a:rPr lang="en-US" sz="800" b="0" dirty="0">
                          <a:solidFill>
                            <a:srgbClr val="004549"/>
                          </a:solidFill>
                          <a:latin typeface="Calibri"/>
                          <a:cs typeface="Calibri"/>
                        </a:rPr>
                        <a:t>Review &amp; approve Interface Registers and Issue Logs</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FFFFFF"/>
                          </a:solidFill>
                          <a:latin typeface="Calibri"/>
                          <a:cs typeface="Calibri"/>
                        </a:rPr>
                        <a:t>A</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8"/>
                  </a:ext>
                </a:extLst>
              </a:tr>
              <a:tr h="238000">
                <a:tc>
                  <a:txBody>
                    <a:bodyPr/>
                    <a:lstStyle/>
                    <a:p>
                      <a:pPr algn="l"/>
                      <a:r>
                        <a:rPr lang="en-US" sz="800" b="0" dirty="0">
                          <a:solidFill>
                            <a:srgbClr val="004549"/>
                          </a:solidFill>
                          <a:latin typeface="Calibri"/>
                          <a:cs typeface="Calibri"/>
                        </a:rPr>
                        <a:t>Escalate major conflicts to executive management</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8FCFC3"/>
                          </a:solidFill>
                          <a:latin typeface="Calibri"/>
                          <a:cs typeface="Calibri"/>
                        </a:rPr>
                        <a:t>A/R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FFFFFF"/>
                          </a:solidFill>
                          <a:latin typeface="Calibri"/>
                          <a:cs typeface="Calibri"/>
                        </a:rPr>
                        <a:t>A</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9"/>
                  </a:ext>
                </a:extLst>
              </a:tr>
              <a:tr h="238000">
                <a:tc gridSpan="14">
                  <a:txBody>
                    <a:bodyPr/>
                    <a:lstStyle/>
                    <a:p>
                      <a:pPr algn="l"/>
                      <a:r>
                        <a:rPr lang="en-US" sz="750" b="1" dirty="0">
                          <a:solidFill>
                            <a:srgbClr val="004549"/>
                          </a:solidFill>
                          <a:latin typeface="Calibri"/>
                          <a:cs typeface="Calibri"/>
                        </a:rPr>
                        <a:t>PROJECT LEVEL</a:t>
                      </a:r>
                      <a:endParaRPr lang="en-US" sz="75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extLst>
                  <a:ext uri="{0D108BD9-81ED-4DB2-BD59-A6C34878D82A}">
                    <a16:rowId xmlns:a16="http://schemas.microsoft.com/office/drawing/2014/main" val="10010"/>
                  </a:ext>
                </a:extLst>
              </a:tr>
              <a:tr h="238000">
                <a:tc>
                  <a:txBody>
                    <a:bodyPr/>
                    <a:lstStyle/>
                    <a:p>
                      <a:pPr algn="l"/>
                      <a:r>
                        <a:rPr lang="en-US" sz="800" b="0" dirty="0">
                          <a:solidFill>
                            <a:srgbClr val="004549"/>
                          </a:solidFill>
                          <a:latin typeface="Calibri"/>
                          <a:cs typeface="Calibri"/>
                        </a:rPr>
                        <a:t>Identify internal &amp; external interface points + owners</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FFFFFF"/>
                          </a:solidFill>
                          <a:latin typeface="Calibri"/>
                          <a:cs typeface="Calibri"/>
                        </a:rPr>
                        <a:t>A</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11"/>
                  </a:ext>
                </a:extLst>
              </a:tr>
              <a:tr h="238000">
                <a:tc>
                  <a:txBody>
                    <a:bodyPr/>
                    <a:lstStyle/>
                    <a:p>
                      <a:pPr algn="l"/>
                      <a:r>
                        <a:rPr lang="en-US" sz="800" b="0" dirty="0">
                          <a:solidFill>
                            <a:srgbClr val="004549"/>
                          </a:solidFill>
                          <a:latin typeface="Calibri"/>
                          <a:cs typeface="Calibri"/>
                        </a:rPr>
                        <a:t>Coordinate with stakeholders to resolve issues on site</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FFFFFF"/>
                          </a:solidFill>
                          <a:latin typeface="Calibri"/>
                          <a:cs typeface="Calibri"/>
                        </a:rPr>
                        <a:t>A</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8FCFC3"/>
                          </a:solidFill>
                          <a:latin typeface="Calibri"/>
                          <a:cs typeface="Calibri"/>
                        </a:rPr>
                        <a:t>A/R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12"/>
                  </a:ext>
                </a:extLst>
              </a:tr>
              <a:tr h="238000">
                <a:tc>
                  <a:txBody>
                    <a:bodyPr/>
                    <a:lstStyle/>
                    <a:p>
                      <a:pPr algn="l"/>
                      <a:r>
                        <a:rPr lang="en-US" sz="800" b="0" dirty="0">
                          <a:solidFill>
                            <a:srgbClr val="004549"/>
                          </a:solidFill>
                          <a:latin typeface="Calibri"/>
                          <a:cs typeface="Calibri"/>
                        </a:rPr>
                        <a:t>Update &amp; track issues in Interface Log and Matrix</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FFFFFF"/>
                          </a:solidFill>
                          <a:latin typeface="Calibri"/>
                          <a:cs typeface="Calibri"/>
                        </a:rPr>
                        <a:t>A</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13"/>
                  </a:ext>
                </a:extLst>
              </a:tr>
              <a:tr h="238000">
                <a:tc>
                  <a:txBody>
                    <a:bodyPr/>
                    <a:lstStyle/>
                    <a:p>
                      <a:pPr algn="l"/>
                      <a:r>
                        <a:rPr lang="en-US" sz="800" b="0" dirty="0">
                          <a:solidFill>
                            <a:srgbClr val="004549"/>
                          </a:solidFill>
                          <a:latin typeface="Calibri"/>
                          <a:cs typeface="Calibri"/>
                        </a:rPr>
                        <a:t>Verify closure with all parties' sign-off</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FFFFFF"/>
                          </a:solidFill>
                          <a:latin typeface="Calibri"/>
                          <a:cs typeface="Calibri"/>
                        </a:rPr>
                        <a:t>A</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14"/>
                  </a:ext>
                </a:extLst>
              </a:tr>
              <a:tr h="238000">
                <a:tc>
                  <a:txBody>
                    <a:bodyPr/>
                    <a:lstStyle/>
                    <a:p>
                      <a:pPr algn="l"/>
                      <a:r>
                        <a:rPr lang="en-US" sz="800" b="0" dirty="0">
                          <a:solidFill>
                            <a:srgbClr val="004549"/>
                          </a:solidFill>
                          <a:latin typeface="Calibri"/>
                          <a:cs typeface="Calibri"/>
                        </a:rPr>
                        <a:t>Upload final documents &amp; closure evidence to Aconex</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FFFFFF"/>
                          </a:solidFill>
                          <a:latin typeface="Calibri"/>
                          <a:cs typeface="Calibri"/>
                        </a:rPr>
                        <a:t>A</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8FCFC3"/>
                          </a:solidFill>
                          <a:latin typeface="Calibri"/>
                          <a:cs typeface="Calibri"/>
                        </a:rPr>
                        <a:t>A/R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extLst>
                  <a:ext uri="{0D108BD9-81ED-4DB2-BD59-A6C34878D82A}">
                    <a16:rowId xmlns:a16="http://schemas.microsoft.com/office/drawing/2014/main" val="10015"/>
                  </a:ext>
                </a:extLst>
              </a:tr>
              <a:tr h="238000">
                <a:tc>
                  <a:txBody>
                    <a:bodyPr/>
                    <a:lstStyle/>
                    <a:p>
                      <a:pPr algn="l"/>
                      <a:r>
                        <a:rPr lang="en-US" sz="800" b="0" dirty="0">
                          <a:solidFill>
                            <a:srgbClr val="004549"/>
                          </a:solidFill>
                          <a:latin typeface="Calibri"/>
                          <a:cs typeface="Calibri"/>
                        </a:rPr>
                        <a:t>Capture &amp; document lessons learned</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FFFFFF"/>
                          </a:solidFill>
                          <a:latin typeface="Calibri"/>
                          <a:cs typeface="Calibri"/>
                        </a:rPr>
                        <a:t>A</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FFFFFF"/>
                          </a:solidFill>
                          <a:latin typeface="Calibri"/>
                          <a:cs typeface="Calibri"/>
                        </a:rPr>
                        <a:t>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8FCFC3"/>
                          </a:solidFill>
                          <a:latin typeface="Calibri"/>
                          <a:cs typeface="Calibri"/>
                        </a:rPr>
                        <a:t>A/R</a:t>
                      </a:r>
                      <a:endParaRPr lang="en-US" sz="800" dirty="0"/>
                    </a:p>
                  </a:txBody>
                  <a:tcPr marL="54864" marR="54864"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extLst>
                  <a:ext uri="{0D108BD9-81ED-4DB2-BD59-A6C34878D82A}">
                    <a16:rowId xmlns:a16="http://schemas.microsoft.com/office/drawing/2014/main" val="10016"/>
                  </a:ext>
                </a:extLst>
              </a:tr>
            </a:tbl>
          </a:graphicData>
        </a:graphic>
      </p:graphicFrame>
      <p:sp>
        <p:nvSpPr>
          <p:cNvPr id="41" name="RACI Legend"/>
          <p:cNvSpPr txBox="1"/>
          <p:nvPr/>
        </p:nvSpPr>
        <p:spPr>
          <a:xfrm>
            <a:off x="1557200" y="5728000"/>
            <a:ext cx="10177600" cy="260000"/>
          </a:xfrm>
          <a:prstGeom prst="rect">
            <a:avLst/>
          </a:prstGeom>
          <a:noFill/>
        </p:spPr>
        <p:txBody>
          <a:bodyPr wrap="square" lIns="0" tIns="0" rIns="0" bIns="0" anchor="ctr"/>
          <a:lstStyle/>
          <a:p>
            <a:r>
              <a:rPr lang="en-US" sz="1000" i="1" dirty="0">
                <a:solidFill>
                  <a:srgbClr val="5A626E"/>
                </a:solidFill>
                <a:latin typeface="Calibri"/>
              </a:rPr>
              <a:t>R Responsible · A Accountable · C Consulted · I Informed · A/R Accountable &amp; Responsible  —  Source: MAH-ENC-CNS-PM-TMP-001 Interface Management RACI Matrix</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04</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Process Flow, Meetings &amp; Tools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How every interface point moves from identification to verified closure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04 · PROCESS FLOW</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Interface Management Process Flow</a:t>
            </a:r>
            <a:endParaRPr lang="en-US" sz="3000" dirty="0"/>
          </a:p>
        </p:txBody>
      </p:sp>
      <p:sp>
        <p:nvSpPr>
          <p:cNvPr id="5" name="Shape 2"/>
          <p:cNvSpPr/>
          <p:nvPr/>
        </p:nvSpPr>
        <p:spPr>
          <a:xfrm>
            <a:off x="502920" y="1691640"/>
            <a:ext cx="1709928" cy="1828800"/>
          </a:xfrm>
          <a:prstGeom prst="roundRect">
            <a:avLst>
              <a:gd name="adj" fmla="val 3743"/>
            </a:avLst>
          </a:prstGeom>
          <a:solidFill>
            <a:srgbClr val="D9ECE7"/>
          </a:solidFill>
          <a:ln/>
        </p:spPr>
        <p:txBody>
          <a:bodyPr/>
          <a:lstStyle/>
          <a:p>
            <a:endParaRPr lang="en-US"/>
          </a:p>
        </p:txBody>
      </p:sp>
      <p:sp>
        <p:nvSpPr>
          <p:cNvPr id="6" name="Text 3"/>
          <p:cNvSpPr/>
          <p:nvPr/>
        </p:nvSpPr>
        <p:spPr>
          <a:xfrm>
            <a:off x="502920"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Step 1</a:t>
            </a:r>
            <a:endParaRPr lang="en-US" sz="1300" dirty="0"/>
          </a:p>
        </p:txBody>
      </p:sp>
      <p:sp>
        <p:nvSpPr>
          <p:cNvPr id="7" name="Text 4"/>
          <p:cNvSpPr/>
          <p:nvPr/>
        </p:nvSpPr>
        <p:spPr>
          <a:xfrm>
            <a:off x="576072"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Identify &amp;</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Classify</a:t>
            </a:r>
            <a:endParaRPr lang="en-US" sz="1100" dirty="0"/>
          </a:p>
        </p:txBody>
      </p:sp>
      <p:sp>
        <p:nvSpPr>
          <p:cNvPr id="8" name="Text 5"/>
          <p:cNvSpPr/>
          <p:nvPr/>
        </p:nvSpPr>
        <p:spPr>
          <a:xfrm>
            <a:off x="576072"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All parties / IM</a:t>
            </a:r>
            <a:endParaRPr lang="en-US" sz="850" dirty="0"/>
          </a:p>
        </p:txBody>
      </p:sp>
      <p:sp>
        <p:nvSpPr>
          <p:cNvPr id="9" name="Text 6"/>
          <p:cNvSpPr/>
          <p:nvPr/>
        </p:nvSpPr>
        <p:spPr>
          <a:xfrm>
            <a:off x="2212848"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10" name="Shape 7"/>
          <p:cNvSpPr/>
          <p:nvPr/>
        </p:nvSpPr>
        <p:spPr>
          <a:xfrm>
            <a:off x="2340864" y="1691640"/>
            <a:ext cx="1709928" cy="1828800"/>
          </a:xfrm>
          <a:prstGeom prst="roundRect">
            <a:avLst>
              <a:gd name="adj" fmla="val 3743"/>
            </a:avLst>
          </a:prstGeom>
          <a:solidFill>
            <a:srgbClr val="D9ECE7"/>
          </a:solidFill>
          <a:ln/>
        </p:spPr>
        <p:txBody>
          <a:bodyPr/>
          <a:lstStyle/>
          <a:p>
            <a:endParaRPr lang="en-US"/>
          </a:p>
        </p:txBody>
      </p:sp>
      <p:sp>
        <p:nvSpPr>
          <p:cNvPr id="11" name="Text 8"/>
          <p:cNvSpPr/>
          <p:nvPr/>
        </p:nvSpPr>
        <p:spPr>
          <a:xfrm>
            <a:off x="2340864"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Step 2</a:t>
            </a:r>
            <a:endParaRPr lang="en-US" sz="1300" dirty="0"/>
          </a:p>
        </p:txBody>
      </p:sp>
      <p:sp>
        <p:nvSpPr>
          <p:cNvPr id="12" name="Text 9"/>
          <p:cNvSpPr/>
          <p:nvPr/>
        </p:nvSpPr>
        <p:spPr>
          <a:xfrm>
            <a:off x="2414016"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Register &amp;</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Assign Owner</a:t>
            </a:r>
            <a:endParaRPr lang="en-US" sz="1100" dirty="0"/>
          </a:p>
        </p:txBody>
      </p:sp>
      <p:sp>
        <p:nvSpPr>
          <p:cNvPr id="13" name="Text 10"/>
          <p:cNvSpPr/>
          <p:nvPr/>
        </p:nvSpPr>
        <p:spPr>
          <a:xfrm>
            <a:off x="2414016"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Interface Manager</a:t>
            </a:r>
            <a:endParaRPr lang="en-US" sz="850" dirty="0"/>
          </a:p>
        </p:txBody>
      </p:sp>
      <p:sp>
        <p:nvSpPr>
          <p:cNvPr id="14" name="Text 11"/>
          <p:cNvSpPr/>
          <p:nvPr/>
        </p:nvSpPr>
        <p:spPr>
          <a:xfrm>
            <a:off x="4050792"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15" name="Shape 12"/>
          <p:cNvSpPr/>
          <p:nvPr/>
        </p:nvSpPr>
        <p:spPr>
          <a:xfrm>
            <a:off x="4178808" y="1691640"/>
            <a:ext cx="1709928" cy="1828800"/>
          </a:xfrm>
          <a:prstGeom prst="roundRect">
            <a:avLst>
              <a:gd name="adj" fmla="val 3743"/>
            </a:avLst>
          </a:prstGeom>
          <a:solidFill>
            <a:srgbClr val="D9ECE7"/>
          </a:solidFill>
          <a:ln/>
        </p:spPr>
        <p:txBody>
          <a:bodyPr/>
          <a:lstStyle/>
          <a:p>
            <a:endParaRPr lang="en-US"/>
          </a:p>
        </p:txBody>
      </p:sp>
      <p:sp>
        <p:nvSpPr>
          <p:cNvPr id="16" name="Text 13"/>
          <p:cNvSpPr/>
          <p:nvPr/>
        </p:nvSpPr>
        <p:spPr>
          <a:xfrm>
            <a:off x="4178808"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Step 3</a:t>
            </a:r>
            <a:endParaRPr lang="en-US" sz="1300" dirty="0"/>
          </a:p>
        </p:txBody>
      </p:sp>
      <p:sp>
        <p:nvSpPr>
          <p:cNvPr id="17" name="Text 14"/>
          <p:cNvSpPr/>
          <p:nvPr/>
        </p:nvSpPr>
        <p:spPr>
          <a:xfrm>
            <a:off x="4251960"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Coordinate</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Meeting / RFI</a:t>
            </a:r>
            <a:endParaRPr lang="en-US" sz="1100" dirty="0"/>
          </a:p>
        </p:txBody>
      </p:sp>
      <p:sp>
        <p:nvSpPr>
          <p:cNvPr id="18" name="Text 15"/>
          <p:cNvSpPr/>
          <p:nvPr/>
        </p:nvSpPr>
        <p:spPr>
          <a:xfrm>
            <a:off x="4251960"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IM / Disciplines</a:t>
            </a:r>
            <a:endParaRPr lang="en-US" sz="850" dirty="0"/>
          </a:p>
        </p:txBody>
      </p:sp>
      <p:sp>
        <p:nvSpPr>
          <p:cNvPr id="19" name="Text 16"/>
          <p:cNvSpPr/>
          <p:nvPr/>
        </p:nvSpPr>
        <p:spPr>
          <a:xfrm>
            <a:off x="5888736"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20" name="Shape 17"/>
          <p:cNvSpPr/>
          <p:nvPr/>
        </p:nvSpPr>
        <p:spPr>
          <a:xfrm>
            <a:off x="6016752" y="1691640"/>
            <a:ext cx="1709928" cy="1828800"/>
          </a:xfrm>
          <a:prstGeom prst="roundRect">
            <a:avLst>
              <a:gd name="adj" fmla="val 3743"/>
            </a:avLst>
          </a:prstGeom>
          <a:solidFill>
            <a:srgbClr val="D9ECE7"/>
          </a:solidFill>
          <a:ln/>
        </p:spPr>
        <p:txBody>
          <a:bodyPr/>
          <a:lstStyle/>
          <a:p>
            <a:endParaRPr lang="en-US"/>
          </a:p>
        </p:txBody>
      </p:sp>
      <p:sp>
        <p:nvSpPr>
          <p:cNvPr id="21" name="Text 18"/>
          <p:cNvSpPr/>
          <p:nvPr/>
        </p:nvSpPr>
        <p:spPr>
          <a:xfrm>
            <a:off x="6016752"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Step 4</a:t>
            </a:r>
            <a:endParaRPr lang="en-US" sz="1300" dirty="0"/>
          </a:p>
        </p:txBody>
      </p:sp>
      <p:sp>
        <p:nvSpPr>
          <p:cNvPr id="22" name="Text 19"/>
          <p:cNvSpPr/>
          <p:nvPr/>
        </p:nvSpPr>
        <p:spPr>
          <a:xfrm>
            <a:off x="6089904"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Resolve</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Agreed Action</a:t>
            </a:r>
            <a:endParaRPr lang="en-US" sz="1100" dirty="0"/>
          </a:p>
        </p:txBody>
      </p:sp>
      <p:sp>
        <p:nvSpPr>
          <p:cNvPr id="23" name="Text 20"/>
          <p:cNvSpPr/>
          <p:nvPr/>
        </p:nvSpPr>
        <p:spPr>
          <a:xfrm>
            <a:off x="6089904"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Owner / Construction</a:t>
            </a:r>
            <a:endParaRPr lang="en-US" sz="850" dirty="0"/>
          </a:p>
        </p:txBody>
      </p:sp>
      <p:sp>
        <p:nvSpPr>
          <p:cNvPr id="24" name="Text 21"/>
          <p:cNvSpPr/>
          <p:nvPr/>
        </p:nvSpPr>
        <p:spPr>
          <a:xfrm>
            <a:off x="7726680"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25" name="Shape 22"/>
          <p:cNvSpPr/>
          <p:nvPr/>
        </p:nvSpPr>
        <p:spPr>
          <a:xfrm>
            <a:off x="7854696" y="1691640"/>
            <a:ext cx="1709928" cy="1828800"/>
          </a:xfrm>
          <a:prstGeom prst="roundRect">
            <a:avLst>
              <a:gd name="adj" fmla="val 3743"/>
            </a:avLst>
          </a:prstGeom>
          <a:solidFill>
            <a:srgbClr val="D9ECE7"/>
          </a:solidFill>
          <a:ln/>
        </p:spPr>
        <p:txBody>
          <a:bodyPr/>
          <a:lstStyle/>
          <a:p>
            <a:endParaRPr lang="en-US"/>
          </a:p>
        </p:txBody>
      </p:sp>
      <p:sp>
        <p:nvSpPr>
          <p:cNvPr id="26" name="Text 23"/>
          <p:cNvSpPr/>
          <p:nvPr/>
        </p:nvSpPr>
        <p:spPr>
          <a:xfrm>
            <a:off x="7854696"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Step 5</a:t>
            </a:r>
            <a:endParaRPr lang="en-US" sz="1300" dirty="0"/>
          </a:p>
        </p:txBody>
      </p:sp>
      <p:sp>
        <p:nvSpPr>
          <p:cNvPr id="27" name="Text 24"/>
          <p:cNvSpPr/>
          <p:nvPr/>
        </p:nvSpPr>
        <p:spPr>
          <a:xfrm>
            <a:off x="7927848"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Verify</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Evidence</a:t>
            </a:r>
            <a:endParaRPr lang="en-US" sz="1100" dirty="0"/>
          </a:p>
        </p:txBody>
      </p:sp>
      <p:sp>
        <p:nvSpPr>
          <p:cNvPr id="28" name="Text 25"/>
          <p:cNvSpPr/>
          <p:nvPr/>
        </p:nvSpPr>
        <p:spPr>
          <a:xfrm>
            <a:off x="7927848"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QA/QC / Survey / IM</a:t>
            </a:r>
            <a:endParaRPr lang="en-US" sz="850" dirty="0"/>
          </a:p>
        </p:txBody>
      </p:sp>
      <p:sp>
        <p:nvSpPr>
          <p:cNvPr id="29" name="Text 26"/>
          <p:cNvSpPr/>
          <p:nvPr/>
        </p:nvSpPr>
        <p:spPr>
          <a:xfrm>
            <a:off x="9564624"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30" name="Shape 27"/>
          <p:cNvSpPr/>
          <p:nvPr/>
        </p:nvSpPr>
        <p:spPr>
          <a:xfrm>
            <a:off x="9692640" y="1691640"/>
            <a:ext cx="1709928" cy="1828800"/>
          </a:xfrm>
          <a:prstGeom prst="roundRect">
            <a:avLst>
              <a:gd name="adj" fmla="val 3743"/>
            </a:avLst>
          </a:prstGeom>
          <a:solidFill>
            <a:srgbClr val="004549"/>
          </a:solidFill>
          <a:ln/>
        </p:spPr>
        <p:txBody>
          <a:bodyPr/>
          <a:lstStyle/>
          <a:p>
            <a:endParaRPr lang="en-US"/>
          </a:p>
        </p:txBody>
      </p:sp>
      <p:sp>
        <p:nvSpPr>
          <p:cNvPr id="31" name="Text 28"/>
          <p:cNvSpPr/>
          <p:nvPr/>
        </p:nvSpPr>
        <p:spPr>
          <a:xfrm>
            <a:off x="9692640" y="1819656"/>
            <a:ext cx="1709928" cy="320040"/>
          </a:xfrm>
          <a:prstGeom prst="rect">
            <a:avLst/>
          </a:prstGeom>
          <a:noFill/>
          <a:ln/>
        </p:spPr>
        <p:txBody>
          <a:bodyPr wrap="square" rtlCol="0" anchor="ctr"/>
          <a:lstStyle/>
          <a:p>
            <a:pPr marL="0" indent="0" algn="ctr">
              <a:buNone/>
            </a:pPr>
            <a:r>
              <a:rPr lang="en-US" sz="1300" b="1" dirty="0">
                <a:solidFill>
                  <a:srgbClr val="8FCFC3"/>
                </a:solidFill>
                <a:latin typeface="Calibri" pitchFamily="34" charset="0"/>
                <a:ea typeface="Calibri" pitchFamily="34" charset="-122"/>
                <a:cs typeface="Calibri" pitchFamily="34" charset="-120"/>
              </a:rPr>
              <a:t>Step 6</a:t>
            </a:r>
            <a:endParaRPr lang="en-US" sz="1300" dirty="0"/>
          </a:p>
        </p:txBody>
      </p:sp>
      <p:sp>
        <p:nvSpPr>
          <p:cNvPr id="32" name="Text 29"/>
          <p:cNvSpPr/>
          <p:nvPr/>
        </p:nvSpPr>
        <p:spPr>
          <a:xfrm>
            <a:off x="9765792" y="2194560"/>
            <a:ext cx="1563624" cy="822960"/>
          </a:xfrm>
          <a:prstGeom prst="rect">
            <a:avLst/>
          </a:prstGeom>
          <a:noFill/>
          <a:ln/>
        </p:spPr>
        <p:txBody>
          <a:bodyPr wrap="square" rtlCol="0" anchor="t"/>
          <a:lstStyle/>
          <a:p>
            <a:pPr marL="0" indent="0" algn="ctr">
              <a:lnSpc>
                <a:spcPts val="1200"/>
              </a:lnSpc>
              <a:buNone/>
            </a:pPr>
            <a:r>
              <a:rPr lang="en-US" sz="1100" b="1" dirty="0">
                <a:solidFill>
                  <a:srgbClr val="FFFFFF"/>
                </a:solidFill>
                <a:latin typeface="Calibri" pitchFamily="34" charset="0"/>
                <a:ea typeface="Calibri" pitchFamily="34" charset="-122"/>
                <a:cs typeface="Calibri" pitchFamily="34" charset="-120"/>
              </a:rPr>
              <a:t>Close &amp;</a:t>
            </a:r>
            <a:endParaRPr lang="en-US" sz="1100" dirty="0"/>
          </a:p>
          <a:p>
            <a:pPr marL="0" indent="0" algn="ctr">
              <a:lnSpc>
                <a:spcPts val="1200"/>
              </a:lnSpc>
              <a:buNone/>
            </a:pPr>
            <a:r>
              <a:rPr lang="en-US" sz="1100" b="1" dirty="0">
                <a:solidFill>
                  <a:srgbClr val="FFFFFF"/>
                </a:solidFill>
                <a:latin typeface="Calibri" pitchFamily="34" charset="0"/>
                <a:ea typeface="Calibri" pitchFamily="34" charset="-122"/>
                <a:cs typeface="Calibri" pitchFamily="34" charset="-120"/>
              </a:rPr>
              <a:t>Sign-off</a:t>
            </a:r>
            <a:endParaRPr lang="en-US" sz="1100" dirty="0"/>
          </a:p>
        </p:txBody>
      </p:sp>
      <p:sp>
        <p:nvSpPr>
          <p:cNvPr id="33" name="Text 30"/>
          <p:cNvSpPr/>
          <p:nvPr/>
        </p:nvSpPr>
        <p:spPr>
          <a:xfrm>
            <a:off x="9765792" y="3063240"/>
            <a:ext cx="1563624" cy="411480"/>
          </a:xfrm>
          <a:prstGeom prst="rect">
            <a:avLst/>
          </a:prstGeom>
          <a:noFill/>
          <a:ln/>
        </p:spPr>
        <p:txBody>
          <a:bodyPr wrap="square" rtlCol="0" anchor="ctr"/>
          <a:lstStyle/>
          <a:p>
            <a:pPr marL="0" indent="0" algn="ctr">
              <a:buNone/>
            </a:pPr>
            <a:r>
              <a:rPr lang="en-US" sz="850" dirty="0">
                <a:solidFill>
                  <a:srgbClr val="BFE3DC"/>
                </a:solidFill>
                <a:latin typeface="Calibri" pitchFamily="34" charset="0"/>
                <a:ea typeface="Calibri" pitchFamily="34" charset="-122"/>
                <a:cs typeface="Calibri" pitchFamily="34" charset="-120"/>
              </a:rPr>
              <a:t>All parties / PM</a:t>
            </a:r>
            <a:endParaRPr lang="en-US" sz="850" dirty="0"/>
          </a:p>
        </p:txBody>
      </p:sp>
      <p:sp>
        <p:nvSpPr>
          <p:cNvPr id="34" name="Text 31"/>
          <p:cNvSpPr/>
          <p:nvPr/>
        </p:nvSpPr>
        <p:spPr>
          <a:xfrm>
            <a:off x="502920" y="3977640"/>
            <a:ext cx="10607040" cy="548640"/>
          </a:xfrm>
          <a:prstGeom prst="rect">
            <a:avLst/>
          </a:prstGeom>
          <a:noFill/>
          <a:ln/>
        </p:spPr>
        <p:txBody>
          <a:bodyPr wrap="square" rtlCol="0" anchor="ctr"/>
          <a:lstStyle/>
          <a:p>
            <a:pPr marL="0" indent="0">
              <a:buNone/>
            </a:pPr>
            <a:r>
              <a:rPr lang="en-US" sz="1250" i="1" dirty="0">
                <a:solidFill>
                  <a:srgbClr val="5A626E"/>
                </a:solidFill>
                <a:latin typeface="Calibri" pitchFamily="34" charset="0"/>
                <a:ea typeface="Calibri" pitchFamily="34" charset="-122"/>
                <a:cs typeface="Calibri" pitchFamily="34" charset="-120"/>
              </a:rPr>
              <a:t>An interface point stays open until it is verified and signed off by all concerned stakeholders. Closure evidence is filed in Aconex; points past their target date are formally escalated.</a:t>
            </a:r>
            <a:endParaRPr lang="en-US" sz="1250" dirty="0"/>
          </a:p>
        </p:txBody>
      </p:sp>
      <p:sp>
        <p:nvSpPr>
          <p:cNvPr id="35" name="Text 32"/>
          <p:cNvSpPr/>
          <p:nvPr/>
        </p:nvSpPr>
        <p:spPr>
          <a:xfrm>
            <a:off x="502920" y="4709160"/>
            <a:ext cx="7315200" cy="36576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Required Interface Management Records (MAH-ENC-CNS-PM series)</a:t>
            </a:r>
            <a:endParaRPr lang="en-US" sz="1400" dirty="0"/>
          </a:p>
        </p:txBody>
      </p:sp>
      <p:sp>
        <p:nvSpPr>
          <p:cNvPr id="36" name="Shape 33"/>
          <p:cNvSpPr/>
          <p:nvPr/>
        </p:nvSpPr>
        <p:spPr>
          <a:xfrm>
            <a:off x="502920" y="5221224"/>
            <a:ext cx="82296" cy="82296"/>
          </a:xfrm>
          <a:prstGeom prst="ellipse">
            <a:avLst/>
          </a:prstGeom>
          <a:solidFill>
            <a:srgbClr val="43A99A"/>
          </a:solidFill>
          <a:ln/>
        </p:spPr>
        <p:txBody>
          <a:bodyPr/>
          <a:lstStyle/>
          <a:p>
            <a:endParaRPr lang="en-US"/>
          </a:p>
        </p:txBody>
      </p:sp>
      <p:sp>
        <p:nvSpPr>
          <p:cNvPr id="37" name="Text 34"/>
          <p:cNvSpPr/>
          <p:nvPr/>
        </p:nvSpPr>
        <p:spPr>
          <a:xfrm>
            <a:off x="704088" y="5093208"/>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Interface Points Register (FRM-001)</a:t>
            </a:r>
            <a:endParaRPr lang="en-US" sz="1100" dirty="0"/>
          </a:p>
        </p:txBody>
      </p:sp>
      <p:sp>
        <p:nvSpPr>
          <p:cNvPr id="38" name="Shape 35"/>
          <p:cNvSpPr/>
          <p:nvPr/>
        </p:nvSpPr>
        <p:spPr>
          <a:xfrm>
            <a:off x="4114800" y="5221224"/>
            <a:ext cx="82296" cy="82296"/>
          </a:xfrm>
          <a:prstGeom prst="ellipse">
            <a:avLst/>
          </a:prstGeom>
          <a:solidFill>
            <a:srgbClr val="43A99A"/>
          </a:solidFill>
          <a:ln/>
        </p:spPr>
        <p:txBody>
          <a:bodyPr/>
          <a:lstStyle/>
          <a:p>
            <a:endParaRPr lang="en-US"/>
          </a:p>
        </p:txBody>
      </p:sp>
      <p:sp>
        <p:nvSpPr>
          <p:cNvPr id="39" name="Text 36"/>
          <p:cNvSpPr/>
          <p:nvPr/>
        </p:nvSpPr>
        <p:spPr>
          <a:xfrm>
            <a:off x="4315968" y="5093208"/>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Interface Issue Log (FRM-002)</a:t>
            </a:r>
            <a:endParaRPr lang="en-US" sz="1100" dirty="0"/>
          </a:p>
        </p:txBody>
      </p:sp>
      <p:sp>
        <p:nvSpPr>
          <p:cNvPr id="40" name="Shape 37"/>
          <p:cNvSpPr/>
          <p:nvPr/>
        </p:nvSpPr>
        <p:spPr>
          <a:xfrm>
            <a:off x="7726680" y="5221224"/>
            <a:ext cx="82296" cy="82296"/>
          </a:xfrm>
          <a:prstGeom prst="ellipse">
            <a:avLst/>
          </a:prstGeom>
          <a:solidFill>
            <a:srgbClr val="43A99A"/>
          </a:solidFill>
          <a:ln/>
        </p:spPr>
        <p:txBody>
          <a:bodyPr/>
          <a:lstStyle/>
          <a:p>
            <a:endParaRPr lang="en-US"/>
          </a:p>
        </p:txBody>
      </p:sp>
      <p:sp>
        <p:nvSpPr>
          <p:cNvPr id="41" name="Text 38"/>
          <p:cNvSpPr/>
          <p:nvPr/>
        </p:nvSpPr>
        <p:spPr>
          <a:xfrm>
            <a:off x="7927848" y="5093208"/>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Interface Meeting Minutes (FRM-003)</a:t>
            </a:r>
            <a:endParaRPr lang="en-US" sz="1100" dirty="0"/>
          </a:p>
        </p:txBody>
      </p:sp>
      <p:sp>
        <p:nvSpPr>
          <p:cNvPr id="42" name="Shape 39"/>
          <p:cNvSpPr/>
          <p:nvPr/>
        </p:nvSpPr>
        <p:spPr>
          <a:xfrm>
            <a:off x="502920" y="5605272"/>
            <a:ext cx="82296" cy="82296"/>
          </a:xfrm>
          <a:prstGeom prst="ellipse">
            <a:avLst/>
          </a:prstGeom>
          <a:solidFill>
            <a:srgbClr val="43A99A"/>
          </a:solidFill>
          <a:ln/>
        </p:spPr>
        <p:txBody>
          <a:bodyPr/>
          <a:lstStyle/>
          <a:p>
            <a:endParaRPr lang="en-US"/>
          </a:p>
        </p:txBody>
      </p:sp>
      <p:sp>
        <p:nvSpPr>
          <p:cNvPr id="43" name="Text 40"/>
          <p:cNvSpPr/>
          <p:nvPr/>
        </p:nvSpPr>
        <p:spPr>
          <a:xfrm>
            <a:off x="704088" y="5477256"/>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Interface Management Process Map (FRM-004)</a:t>
            </a:r>
            <a:endParaRPr lang="en-US" sz="1100" dirty="0"/>
          </a:p>
        </p:txBody>
      </p:sp>
      <p:sp>
        <p:nvSpPr>
          <p:cNvPr id="44" name="Shape 41"/>
          <p:cNvSpPr/>
          <p:nvPr/>
        </p:nvSpPr>
        <p:spPr>
          <a:xfrm>
            <a:off x="4114800" y="5605272"/>
            <a:ext cx="82296" cy="82296"/>
          </a:xfrm>
          <a:prstGeom prst="ellipse">
            <a:avLst/>
          </a:prstGeom>
          <a:solidFill>
            <a:srgbClr val="43A99A"/>
          </a:solidFill>
          <a:ln/>
        </p:spPr>
        <p:txBody>
          <a:bodyPr/>
          <a:lstStyle/>
          <a:p>
            <a:endParaRPr lang="en-US"/>
          </a:p>
        </p:txBody>
      </p:sp>
      <p:sp>
        <p:nvSpPr>
          <p:cNvPr id="45" name="Text 42"/>
          <p:cNvSpPr/>
          <p:nvPr/>
        </p:nvSpPr>
        <p:spPr>
          <a:xfrm>
            <a:off x="4315968" y="5477256"/>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Interface Matrix Sheet (FRM-005)</a:t>
            </a:r>
            <a:endParaRPr lang="en-US" sz="1100" dirty="0"/>
          </a:p>
        </p:txBody>
      </p:sp>
      <p:sp>
        <p:nvSpPr>
          <p:cNvPr id="46" name="Shape 43"/>
          <p:cNvSpPr/>
          <p:nvPr/>
        </p:nvSpPr>
        <p:spPr>
          <a:xfrm>
            <a:off x="7726680" y="5605272"/>
            <a:ext cx="82296" cy="82296"/>
          </a:xfrm>
          <a:prstGeom prst="ellipse">
            <a:avLst/>
          </a:prstGeom>
          <a:solidFill>
            <a:srgbClr val="43A99A"/>
          </a:solidFill>
          <a:ln/>
        </p:spPr>
        <p:txBody>
          <a:bodyPr/>
          <a:lstStyle/>
          <a:p>
            <a:endParaRPr lang="en-US"/>
          </a:p>
        </p:txBody>
      </p:sp>
      <p:sp>
        <p:nvSpPr>
          <p:cNvPr id="47" name="Text 44"/>
          <p:cNvSpPr/>
          <p:nvPr/>
        </p:nvSpPr>
        <p:spPr>
          <a:xfrm>
            <a:off x="7927848" y="5477256"/>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Meeting Log (FRM-006) &amp; RACI (TMP-001)</a:t>
            </a:r>
            <a:endParaRPr lang="en-US" sz="1100" dirty="0"/>
          </a:p>
        </p:txBody>
      </p:sp>
      <p:sp>
        <p:nvSpPr>
          <p:cNvPr id="49" name="Text 45"/>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04 · COMMUNICATION</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Meetings &amp; Interface Points Register</a:t>
            </a:r>
            <a:endParaRPr lang="en-US" sz="3000" dirty="0"/>
          </a:p>
        </p:txBody>
      </p:sp>
      <p:sp>
        <p:nvSpPr>
          <p:cNvPr id="5" name="Text 2"/>
          <p:cNvSpPr/>
          <p:nvPr/>
        </p:nvSpPr>
        <p:spPr>
          <a:xfrm>
            <a:off x="502920" y="1417320"/>
            <a:ext cx="5486400" cy="365760"/>
          </a:xfrm>
          <a:prstGeom prst="rect">
            <a:avLst/>
          </a:prstGeom>
          <a:noFill/>
          <a:ln/>
        </p:spPr>
        <p:txBody>
          <a:bodyPr wrap="square" rtlCol="0" anchor="ctr"/>
          <a:lstStyle/>
          <a:p>
            <a:pPr marL="0" indent="0">
              <a:buNone/>
            </a:pPr>
            <a:r>
              <a:rPr lang="en-US" sz="1500" b="1" dirty="0">
                <a:solidFill>
                  <a:srgbClr val="004549"/>
                </a:solidFill>
                <a:latin typeface="Calibri" pitchFamily="34" charset="0"/>
                <a:ea typeface="Calibri" pitchFamily="34" charset="-122"/>
                <a:cs typeface="Calibri" pitchFamily="34" charset="-120"/>
              </a:rPr>
              <a:t>Meeting Cadence</a:t>
            </a:r>
            <a:endParaRPr lang="en-US" sz="1500" dirty="0"/>
          </a:p>
        </p:txBody>
      </p:sp>
      <p:sp>
        <p:nvSpPr>
          <p:cNvPr id="6" name="Shape 3"/>
          <p:cNvSpPr/>
          <p:nvPr/>
        </p:nvSpPr>
        <p:spPr>
          <a:xfrm>
            <a:off x="502920" y="1920240"/>
            <a:ext cx="1417320" cy="566928"/>
          </a:xfrm>
          <a:prstGeom prst="roundRect">
            <a:avLst>
              <a:gd name="adj" fmla="val 48387"/>
            </a:avLst>
          </a:prstGeom>
          <a:solidFill>
            <a:srgbClr val="43A99A"/>
          </a:solidFill>
          <a:ln/>
        </p:spPr>
        <p:txBody>
          <a:bodyPr/>
          <a:lstStyle/>
          <a:p>
            <a:endParaRPr lang="en-US"/>
          </a:p>
        </p:txBody>
      </p:sp>
      <p:sp>
        <p:nvSpPr>
          <p:cNvPr id="7" name="Text 4"/>
          <p:cNvSpPr/>
          <p:nvPr/>
        </p:nvSpPr>
        <p:spPr>
          <a:xfrm>
            <a:off x="502920" y="1920240"/>
            <a:ext cx="14173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Kick-off</a:t>
            </a:r>
            <a:endParaRPr lang="en-US" sz="1150" dirty="0"/>
          </a:p>
        </p:txBody>
      </p:sp>
      <p:sp>
        <p:nvSpPr>
          <p:cNvPr id="8" name="Text 5"/>
          <p:cNvSpPr/>
          <p:nvPr/>
        </p:nvSpPr>
        <p:spPr>
          <a:xfrm>
            <a:off x="2103120" y="1947672"/>
            <a:ext cx="3520440" cy="530352"/>
          </a:xfrm>
          <a:prstGeom prst="rect">
            <a:avLst/>
          </a:prstGeom>
          <a:noFill/>
          <a:ln/>
        </p:spPr>
        <p:txBody>
          <a:bodyPr wrap="square" rtlCol="0" anchor="ctr"/>
          <a:lstStyle/>
          <a:p>
            <a:pPr marL="0" indent="0">
              <a:buNone/>
            </a:pPr>
            <a:r>
              <a:rPr lang="en-US" sz="1080" dirty="0">
                <a:solidFill>
                  <a:srgbClr val="2F3235"/>
                </a:solidFill>
                <a:latin typeface="Calibri" pitchFamily="34" charset="0"/>
                <a:ea typeface="Calibri" pitchFamily="34" charset="-122"/>
                <a:cs typeface="Calibri" pitchFamily="34" charset="-120"/>
              </a:rPr>
              <a:t>Once — agree roles, templates, reporting and communication flow</a:t>
            </a:r>
            <a:endParaRPr lang="en-US" sz="1080" dirty="0"/>
          </a:p>
        </p:txBody>
      </p:sp>
      <p:sp>
        <p:nvSpPr>
          <p:cNvPr id="9" name="Shape 6"/>
          <p:cNvSpPr/>
          <p:nvPr/>
        </p:nvSpPr>
        <p:spPr>
          <a:xfrm>
            <a:off x="502920" y="2633472"/>
            <a:ext cx="1417320" cy="566928"/>
          </a:xfrm>
          <a:prstGeom prst="roundRect">
            <a:avLst>
              <a:gd name="adj" fmla="val 48387"/>
            </a:avLst>
          </a:prstGeom>
          <a:solidFill>
            <a:srgbClr val="43A99A"/>
          </a:solidFill>
          <a:ln/>
        </p:spPr>
        <p:txBody>
          <a:bodyPr/>
          <a:lstStyle/>
          <a:p>
            <a:endParaRPr lang="en-US"/>
          </a:p>
        </p:txBody>
      </p:sp>
      <p:sp>
        <p:nvSpPr>
          <p:cNvPr id="10" name="Text 7"/>
          <p:cNvSpPr/>
          <p:nvPr/>
        </p:nvSpPr>
        <p:spPr>
          <a:xfrm>
            <a:off x="502920" y="2633472"/>
            <a:ext cx="14173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Weekly</a:t>
            </a:r>
            <a:endParaRPr lang="en-US" sz="1150" dirty="0"/>
          </a:p>
        </p:txBody>
      </p:sp>
      <p:sp>
        <p:nvSpPr>
          <p:cNvPr id="11" name="Text 8"/>
          <p:cNvSpPr/>
          <p:nvPr/>
        </p:nvSpPr>
        <p:spPr>
          <a:xfrm>
            <a:off x="2103120" y="2660904"/>
            <a:ext cx="3520440" cy="530352"/>
          </a:xfrm>
          <a:prstGeom prst="rect">
            <a:avLst/>
          </a:prstGeom>
          <a:noFill/>
          <a:ln/>
        </p:spPr>
        <p:txBody>
          <a:bodyPr wrap="square" rtlCol="0" anchor="ctr"/>
          <a:lstStyle/>
          <a:p>
            <a:pPr marL="0" indent="0">
              <a:buNone/>
            </a:pPr>
            <a:r>
              <a:rPr lang="en-US" sz="1080" dirty="0">
                <a:solidFill>
                  <a:srgbClr val="2F3235"/>
                </a:solidFill>
                <a:latin typeface="Calibri" pitchFamily="34" charset="0"/>
                <a:ea typeface="Calibri" pitchFamily="34" charset="-122"/>
                <a:cs typeface="Calibri" pitchFamily="34" charset="-120"/>
              </a:rPr>
              <a:t>Coordination: review new, open and closed points; agree actions</a:t>
            </a:r>
            <a:endParaRPr lang="en-US" sz="1080" dirty="0"/>
          </a:p>
        </p:txBody>
      </p:sp>
      <p:sp>
        <p:nvSpPr>
          <p:cNvPr id="12" name="Shape 9"/>
          <p:cNvSpPr/>
          <p:nvPr/>
        </p:nvSpPr>
        <p:spPr>
          <a:xfrm>
            <a:off x="502920" y="3346704"/>
            <a:ext cx="1417320" cy="566928"/>
          </a:xfrm>
          <a:prstGeom prst="roundRect">
            <a:avLst>
              <a:gd name="adj" fmla="val 48387"/>
            </a:avLst>
          </a:prstGeom>
          <a:solidFill>
            <a:srgbClr val="43A99A"/>
          </a:solidFill>
          <a:ln/>
        </p:spPr>
        <p:txBody>
          <a:bodyPr/>
          <a:lstStyle/>
          <a:p>
            <a:endParaRPr lang="en-US"/>
          </a:p>
        </p:txBody>
      </p:sp>
      <p:sp>
        <p:nvSpPr>
          <p:cNvPr id="13" name="Text 10"/>
          <p:cNvSpPr/>
          <p:nvPr/>
        </p:nvSpPr>
        <p:spPr>
          <a:xfrm>
            <a:off x="502920" y="3346704"/>
            <a:ext cx="14173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Monthly</a:t>
            </a:r>
            <a:endParaRPr lang="en-US" sz="1150" dirty="0"/>
          </a:p>
        </p:txBody>
      </p:sp>
      <p:sp>
        <p:nvSpPr>
          <p:cNvPr id="14" name="Text 11"/>
          <p:cNvSpPr/>
          <p:nvPr/>
        </p:nvSpPr>
        <p:spPr>
          <a:xfrm>
            <a:off x="2103120" y="3374136"/>
            <a:ext cx="3520440" cy="530352"/>
          </a:xfrm>
          <a:prstGeom prst="rect">
            <a:avLst/>
          </a:prstGeom>
          <a:noFill/>
          <a:ln/>
        </p:spPr>
        <p:txBody>
          <a:bodyPr wrap="square" rtlCol="0" anchor="ctr"/>
          <a:lstStyle/>
          <a:p>
            <a:pPr marL="0" indent="0">
              <a:buNone/>
            </a:pPr>
            <a:r>
              <a:rPr lang="en-US" sz="1080" dirty="0">
                <a:solidFill>
                  <a:srgbClr val="2F3235"/>
                </a:solidFill>
                <a:latin typeface="Calibri" pitchFamily="34" charset="0"/>
                <a:ea typeface="Calibri" pitchFamily="34" charset="-122"/>
                <a:cs typeface="Calibri" pitchFamily="34" charset="-120"/>
              </a:rPr>
              <a:t>Interface review: closure rate and key risks with management / Client</a:t>
            </a:r>
            <a:endParaRPr lang="en-US" sz="1080" dirty="0"/>
          </a:p>
        </p:txBody>
      </p:sp>
      <p:sp>
        <p:nvSpPr>
          <p:cNvPr id="15" name="Shape 12"/>
          <p:cNvSpPr/>
          <p:nvPr/>
        </p:nvSpPr>
        <p:spPr>
          <a:xfrm>
            <a:off x="502920" y="4059936"/>
            <a:ext cx="1417320" cy="566928"/>
          </a:xfrm>
          <a:prstGeom prst="roundRect">
            <a:avLst>
              <a:gd name="adj" fmla="val 48387"/>
            </a:avLst>
          </a:prstGeom>
          <a:solidFill>
            <a:srgbClr val="43A99A"/>
          </a:solidFill>
          <a:ln/>
        </p:spPr>
        <p:txBody>
          <a:bodyPr/>
          <a:lstStyle/>
          <a:p>
            <a:endParaRPr lang="en-US"/>
          </a:p>
        </p:txBody>
      </p:sp>
      <p:sp>
        <p:nvSpPr>
          <p:cNvPr id="16" name="Text 13"/>
          <p:cNvSpPr/>
          <p:nvPr/>
        </p:nvSpPr>
        <p:spPr>
          <a:xfrm>
            <a:off x="502920" y="4059936"/>
            <a:ext cx="14173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As needed</a:t>
            </a:r>
            <a:endParaRPr lang="en-US" sz="1150" dirty="0"/>
          </a:p>
        </p:txBody>
      </p:sp>
      <p:sp>
        <p:nvSpPr>
          <p:cNvPr id="17" name="Text 14"/>
          <p:cNvSpPr/>
          <p:nvPr/>
        </p:nvSpPr>
        <p:spPr>
          <a:xfrm>
            <a:off x="2103120" y="4087368"/>
            <a:ext cx="3520440" cy="530352"/>
          </a:xfrm>
          <a:prstGeom prst="rect">
            <a:avLst/>
          </a:prstGeom>
          <a:noFill/>
          <a:ln/>
        </p:spPr>
        <p:txBody>
          <a:bodyPr wrap="square" rtlCol="0" anchor="ctr"/>
          <a:lstStyle/>
          <a:p>
            <a:pPr marL="0" indent="0">
              <a:buNone/>
            </a:pPr>
            <a:r>
              <a:rPr lang="en-US" sz="1080" dirty="0">
                <a:solidFill>
                  <a:srgbClr val="2F3235"/>
                </a:solidFill>
                <a:latin typeface="Calibri" pitchFamily="34" charset="0"/>
                <a:ea typeface="Calibri" pitchFamily="34" charset="-122"/>
                <a:cs typeface="Calibri" pitchFamily="34" charset="-120"/>
              </a:rPr>
              <a:t>Special meeting for urgent items affecting progress, approvals or safety</a:t>
            </a:r>
            <a:endParaRPr lang="en-US" sz="1080" dirty="0"/>
          </a:p>
        </p:txBody>
      </p:sp>
      <p:sp>
        <p:nvSpPr>
          <p:cNvPr id="18" name="Text 15"/>
          <p:cNvSpPr/>
          <p:nvPr/>
        </p:nvSpPr>
        <p:spPr>
          <a:xfrm>
            <a:off x="5989320" y="1417320"/>
            <a:ext cx="5486400" cy="365760"/>
          </a:xfrm>
          <a:prstGeom prst="rect">
            <a:avLst/>
          </a:prstGeom>
          <a:noFill/>
          <a:ln/>
        </p:spPr>
        <p:txBody>
          <a:bodyPr wrap="square" rtlCol="0" anchor="ctr"/>
          <a:lstStyle/>
          <a:p>
            <a:pPr marL="0" indent="0">
              <a:buNone/>
            </a:pPr>
            <a:r>
              <a:rPr lang="en-US" sz="1500" b="1" dirty="0">
                <a:solidFill>
                  <a:srgbClr val="004549"/>
                </a:solidFill>
                <a:latin typeface="Calibri" pitchFamily="34" charset="0"/>
                <a:ea typeface="Calibri" pitchFamily="34" charset="-122"/>
                <a:cs typeface="Calibri" pitchFamily="34" charset="-120"/>
              </a:rPr>
              <a:t>Interface Register — Status Flow</a:t>
            </a:r>
            <a:endParaRPr lang="en-US" sz="1500" dirty="0"/>
          </a:p>
        </p:txBody>
      </p:sp>
      <p:sp>
        <p:nvSpPr>
          <p:cNvPr id="19" name="Shape 16"/>
          <p:cNvSpPr/>
          <p:nvPr/>
        </p:nvSpPr>
        <p:spPr>
          <a:xfrm>
            <a:off x="5989320" y="2039112"/>
            <a:ext cx="292608" cy="292608"/>
          </a:xfrm>
          <a:prstGeom prst="ellipse">
            <a:avLst/>
          </a:prstGeom>
          <a:solidFill>
            <a:srgbClr val="2E9E5B"/>
          </a:solidFill>
          <a:ln/>
        </p:spPr>
        <p:txBody>
          <a:bodyPr/>
          <a:lstStyle/>
          <a:p>
            <a:endParaRPr lang="en-US"/>
          </a:p>
        </p:txBody>
      </p:sp>
      <p:sp>
        <p:nvSpPr>
          <p:cNvPr id="20" name="Text 17"/>
          <p:cNvSpPr/>
          <p:nvPr/>
        </p:nvSpPr>
        <p:spPr>
          <a:xfrm>
            <a:off x="6446520" y="1965960"/>
            <a:ext cx="1005840" cy="438912"/>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Closed</a:t>
            </a:r>
            <a:endParaRPr lang="en-US" sz="1250" dirty="0"/>
          </a:p>
        </p:txBody>
      </p:sp>
      <p:sp>
        <p:nvSpPr>
          <p:cNvPr id="21" name="Text 18"/>
          <p:cNvSpPr/>
          <p:nvPr/>
        </p:nvSpPr>
        <p:spPr>
          <a:xfrm>
            <a:off x="7452360" y="1965960"/>
            <a:ext cx="4206240" cy="438912"/>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Verified and signed off by all parties; evidence in Aconex.</a:t>
            </a:r>
            <a:endParaRPr lang="en-US" sz="1100" dirty="0"/>
          </a:p>
        </p:txBody>
      </p:sp>
      <p:sp>
        <p:nvSpPr>
          <p:cNvPr id="22" name="Shape 19"/>
          <p:cNvSpPr/>
          <p:nvPr/>
        </p:nvSpPr>
        <p:spPr>
          <a:xfrm>
            <a:off x="5989320" y="3187115"/>
            <a:ext cx="292608" cy="292608"/>
          </a:xfrm>
          <a:prstGeom prst="ellipse">
            <a:avLst/>
          </a:prstGeom>
          <a:solidFill>
            <a:srgbClr val="D69A1F"/>
          </a:solidFill>
          <a:ln/>
        </p:spPr>
        <p:txBody>
          <a:bodyPr/>
          <a:lstStyle/>
          <a:p>
            <a:endParaRPr lang="en-US"/>
          </a:p>
        </p:txBody>
      </p:sp>
      <p:sp>
        <p:nvSpPr>
          <p:cNvPr id="23" name="Text 20"/>
          <p:cNvSpPr/>
          <p:nvPr/>
        </p:nvSpPr>
        <p:spPr>
          <a:xfrm>
            <a:off x="6446520" y="3113963"/>
            <a:ext cx="1005840" cy="438912"/>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Review</a:t>
            </a:r>
            <a:endParaRPr lang="en-US" sz="1250" dirty="0"/>
          </a:p>
        </p:txBody>
      </p:sp>
      <p:sp>
        <p:nvSpPr>
          <p:cNvPr id="24" name="Text 21"/>
          <p:cNvSpPr/>
          <p:nvPr/>
        </p:nvSpPr>
        <p:spPr>
          <a:xfrm>
            <a:off x="7452360" y="3113963"/>
            <a:ext cx="4206240" cy="438912"/>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Under review: resolution agreed — awaiting verification and sign-off.</a:t>
            </a:r>
            <a:endParaRPr lang="en-US" sz="1100" dirty="0"/>
          </a:p>
        </p:txBody>
      </p:sp>
      <p:sp>
        <p:nvSpPr>
          <p:cNvPr id="25" name="Shape 22"/>
          <p:cNvSpPr/>
          <p:nvPr/>
        </p:nvSpPr>
        <p:spPr>
          <a:xfrm>
            <a:off x="5989320" y="3808907"/>
            <a:ext cx="292608" cy="292608"/>
          </a:xfrm>
          <a:prstGeom prst="ellipse">
            <a:avLst/>
          </a:prstGeom>
          <a:solidFill>
            <a:srgbClr val="C0392B"/>
          </a:solidFill>
          <a:ln/>
        </p:spPr>
        <p:txBody>
          <a:bodyPr/>
          <a:lstStyle/>
          <a:p>
            <a:endParaRPr lang="en-US"/>
          </a:p>
        </p:txBody>
      </p:sp>
      <p:sp>
        <p:nvSpPr>
          <p:cNvPr id="26" name="Text 23"/>
          <p:cNvSpPr/>
          <p:nvPr/>
        </p:nvSpPr>
        <p:spPr>
          <a:xfrm>
            <a:off x="6446520" y="3735755"/>
            <a:ext cx="1005840" cy="438912"/>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Open</a:t>
            </a:r>
            <a:endParaRPr lang="en-US" sz="1250" dirty="0"/>
          </a:p>
        </p:txBody>
      </p:sp>
      <p:sp>
        <p:nvSpPr>
          <p:cNvPr id="27" name="Text 24"/>
          <p:cNvSpPr/>
          <p:nvPr/>
        </p:nvSpPr>
        <p:spPr>
          <a:xfrm>
            <a:off x="7452360" y="3735755"/>
            <a:ext cx="4206240" cy="438912"/>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Action pending with owner and target date; escalate if overdue.</a:t>
            </a:r>
            <a:endParaRPr lang="en-US" sz="1100" dirty="0"/>
          </a:p>
        </p:txBody>
      </p:sp>
      <p:sp>
        <p:nvSpPr>
          <p:cNvPr id="28" name="Text 25"/>
          <p:cNvSpPr/>
          <p:nvPr/>
        </p:nvSpPr>
        <p:spPr>
          <a:xfrm>
            <a:off x="457200" y="4937760"/>
            <a:ext cx="10607040" cy="502920"/>
          </a:xfrm>
          <a:prstGeom prst="rect">
            <a:avLst/>
          </a:prstGeom>
          <a:noFill/>
          <a:ln/>
        </p:spPr>
        <p:txBody>
          <a:bodyPr wrap="square" rtlCol="0" anchor="ctr"/>
          <a:lstStyle/>
          <a:p>
            <a:pPr marL="0" indent="0">
              <a:buNone/>
            </a:pPr>
            <a:r>
              <a:rPr lang="en-US" sz="1100" i="1" dirty="0">
                <a:solidFill>
                  <a:srgbClr val="5A626E"/>
                </a:solidFill>
                <a:latin typeface="Calibri" pitchFamily="34" charset="0"/>
                <a:ea typeface="Calibri" pitchFamily="34" charset="-122"/>
                <a:cs typeface="Calibri" pitchFamily="34" charset="-120"/>
              </a:rPr>
              <a:t>Register fields: Interface ID · description · location / zone · originator &amp; receiver discipline · type · required action / responsibility · target date · status · remarks.</a:t>
            </a:r>
            <a:endParaRPr lang="en-US" sz="1100" dirty="0"/>
          </a:p>
        </p:txBody>
      </p:sp>
      <p:sp>
        <p:nvSpPr>
          <p:cNvPr id="30" name="Text 26"/>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18</a:t>
            </a:r>
            <a:endParaRPr lang="en-US" sz="1100" dirty="0"/>
          </a:p>
        </p:txBody>
      </p:sp>
      <p:sp>
        <p:nvSpPr>
          <p:cNvPr id="32" name="Shape 16">
            <a:extLst>
              <a:ext uri="{FF2B5EF4-FFF2-40B4-BE49-F238E27FC236}">
                <a16:creationId xmlns:a16="http://schemas.microsoft.com/office/drawing/2014/main" id="{3B3B71F3-9309-BED1-72C2-58CCFD3C2A4E}"/>
              </a:ext>
            </a:extLst>
          </p:cNvPr>
          <p:cNvSpPr/>
          <p:nvPr/>
        </p:nvSpPr>
        <p:spPr>
          <a:xfrm>
            <a:off x="5995416" y="2595803"/>
            <a:ext cx="292608" cy="292608"/>
          </a:xfrm>
          <a:prstGeom prst="ellipse">
            <a:avLst/>
          </a:prstGeom>
          <a:solidFill>
            <a:schemeClr val="accent1">
              <a:lumMod val="60000"/>
              <a:lumOff val="40000"/>
            </a:schemeClr>
          </a:solidFill>
          <a:ln/>
        </p:spPr>
        <p:txBody>
          <a:bodyPr/>
          <a:lstStyle/>
          <a:p>
            <a:endParaRPr lang="en-US"/>
          </a:p>
        </p:txBody>
      </p:sp>
      <p:sp>
        <p:nvSpPr>
          <p:cNvPr id="34" name="Text 17">
            <a:extLst>
              <a:ext uri="{FF2B5EF4-FFF2-40B4-BE49-F238E27FC236}">
                <a16:creationId xmlns:a16="http://schemas.microsoft.com/office/drawing/2014/main" id="{0D6DEB73-E635-B2B5-8144-427C4AF7BEE0}"/>
              </a:ext>
            </a:extLst>
          </p:cNvPr>
          <p:cNvSpPr/>
          <p:nvPr/>
        </p:nvSpPr>
        <p:spPr>
          <a:xfrm>
            <a:off x="6452616" y="2522651"/>
            <a:ext cx="1005840" cy="438912"/>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Solved</a:t>
            </a:r>
            <a:endParaRPr lang="en-US" sz="1250" dirty="0"/>
          </a:p>
        </p:txBody>
      </p:sp>
      <p:sp>
        <p:nvSpPr>
          <p:cNvPr id="36" name="Text 18">
            <a:extLst>
              <a:ext uri="{FF2B5EF4-FFF2-40B4-BE49-F238E27FC236}">
                <a16:creationId xmlns:a16="http://schemas.microsoft.com/office/drawing/2014/main" id="{100F209A-080E-316B-26AA-102D8ED7ED3B}"/>
              </a:ext>
            </a:extLst>
          </p:cNvPr>
          <p:cNvSpPr/>
          <p:nvPr/>
        </p:nvSpPr>
        <p:spPr>
          <a:xfrm>
            <a:off x="7458456" y="2539961"/>
            <a:ext cx="4206240" cy="438912"/>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Finish in Interface and still not finish for construction work.</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04 · TOOLS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Interface Management Tools</a:t>
            </a:r>
            <a:endParaRPr lang="en-US" sz="3000" dirty="0"/>
          </a:p>
        </p:txBody>
      </p:sp>
      <p:sp>
        <p:nvSpPr>
          <p:cNvPr id="5" name="Shape 2"/>
          <p:cNvSpPr/>
          <p:nvPr/>
        </p:nvSpPr>
        <p:spPr>
          <a:xfrm>
            <a:off x="502920" y="1508760"/>
            <a:ext cx="3538728" cy="4160520"/>
          </a:xfrm>
          <a:prstGeom prst="roundRect">
            <a:avLst>
              <a:gd name="adj" fmla="val 2067"/>
            </a:avLst>
          </a:prstGeom>
          <a:solidFill>
            <a:srgbClr val="D9ECE7"/>
          </a:solidFill>
          <a:ln/>
        </p:spPr>
        <p:txBody>
          <a:bodyPr/>
          <a:lstStyle/>
          <a:p>
            <a:endParaRPr lang="en-US"/>
          </a:p>
        </p:txBody>
      </p:sp>
      <p:sp>
        <p:nvSpPr>
          <p:cNvPr id="6" name="Shape 3"/>
          <p:cNvSpPr/>
          <p:nvPr/>
        </p:nvSpPr>
        <p:spPr>
          <a:xfrm>
            <a:off x="777240" y="1783080"/>
            <a:ext cx="502920" cy="502920"/>
          </a:xfrm>
          <a:prstGeom prst="ellipse">
            <a:avLst/>
          </a:prstGeom>
          <a:solidFill>
            <a:srgbClr val="43A99A"/>
          </a:solidFill>
          <a:ln/>
        </p:spPr>
        <p:txBody>
          <a:bodyPr/>
          <a:lstStyle/>
          <a:p>
            <a:endParaRPr lang="en-US"/>
          </a:p>
        </p:txBody>
      </p:sp>
      <p:sp>
        <p:nvSpPr>
          <p:cNvPr id="7" name="Text 4"/>
          <p:cNvSpPr/>
          <p:nvPr/>
        </p:nvSpPr>
        <p:spPr>
          <a:xfrm>
            <a:off x="77724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5"/>
          <p:cNvSpPr/>
          <p:nvPr/>
        </p:nvSpPr>
        <p:spPr>
          <a:xfrm>
            <a:off x="77724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Interface Matrix</a:t>
            </a:r>
            <a:endParaRPr lang="en-US" sz="1450" dirty="0"/>
          </a:p>
        </p:txBody>
      </p:sp>
      <p:sp>
        <p:nvSpPr>
          <p:cNvPr id="9" name="Text 6"/>
          <p:cNvSpPr/>
          <p:nvPr/>
        </p:nvSpPr>
        <p:spPr>
          <a:xfrm>
            <a:off x="77724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Maps who interfaces with whom, on what scope and where boundaries lie.</a:t>
            </a:r>
            <a:endParaRPr lang="en-US" sz="1150" dirty="0"/>
          </a:p>
        </p:txBody>
      </p:sp>
      <p:sp>
        <p:nvSpPr>
          <p:cNvPr id="10" name="Text 7"/>
          <p:cNvSpPr/>
          <p:nvPr/>
        </p:nvSpPr>
        <p:spPr>
          <a:xfrm>
            <a:off x="77724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Built early; updated monthly or whenever scopes or packages change.</a:t>
            </a:r>
            <a:endParaRPr lang="en-US" sz="1150" dirty="0"/>
          </a:p>
        </p:txBody>
      </p:sp>
      <p:sp>
        <p:nvSpPr>
          <p:cNvPr id="11" name="Shape 8"/>
          <p:cNvSpPr/>
          <p:nvPr/>
        </p:nvSpPr>
        <p:spPr>
          <a:xfrm>
            <a:off x="4297680" y="1508760"/>
            <a:ext cx="3538728" cy="4160520"/>
          </a:xfrm>
          <a:prstGeom prst="roundRect">
            <a:avLst>
              <a:gd name="adj" fmla="val 2067"/>
            </a:avLst>
          </a:prstGeom>
          <a:solidFill>
            <a:srgbClr val="D9ECE7"/>
          </a:solidFill>
          <a:ln/>
        </p:spPr>
        <p:txBody>
          <a:bodyPr/>
          <a:lstStyle/>
          <a:p>
            <a:endParaRPr lang="en-US"/>
          </a:p>
        </p:txBody>
      </p:sp>
      <p:sp>
        <p:nvSpPr>
          <p:cNvPr id="12" name="Shape 9"/>
          <p:cNvSpPr/>
          <p:nvPr/>
        </p:nvSpPr>
        <p:spPr>
          <a:xfrm>
            <a:off x="4572000" y="1783080"/>
            <a:ext cx="502920" cy="502920"/>
          </a:xfrm>
          <a:prstGeom prst="ellipse">
            <a:avLst/>
          </a:prstGeom>
          <a:solidFill>
            <a:srgbClr val="43A99A"/>
          </a:solidFill>
          <a:ln/>
        </p:spPr>
        <p:txBody>
          <a:bodyPr/>
          <a:lstStyle/>
          <a:p>
            <a:endParaRPr lang="en-US"/>
          </a:p>
        </p:txBody>
      </p:sp>
      <p:sp>
        <p:nvSpPr>
          <p:cNvPr id="13" name="Text 10"/>
          <p:cNvSpPr/>
          <p:nvPr/>
        </p:nvSpPr>
        <p:spPr>
          <a:xfrm>
            <a:off x="457200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p:nvPr/>
        </p:nvSpPr>
        <p:spPr>
          <a:xfrm>
            <a:off x="457200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Interface Points Register</a:t>
            </a:r>
            <a:endParaRPr lang="en-US" sz="1450" dirty="0"/>
          </a:p>
        </p:txBody>
      </p:sp>
      <p:sp>
        <p:nvSpPr>
          <p:cNvPr id="15" name="Text 12"/>
          <p:cNvSpPr/>
          <p:nvPr/>
        </p:nvSpPr>
        <p:spPr>
          <a:xfrm>
            <a:off x="457200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Tracks every coordination point: owner, target date and status.</a:t>
            </a:r>
            <a:endParaRPr lang="en-US" sz="1150" dirty="0"/>
          </a:p>
        </p:txBody>
      </p:sp>
      <p:sp>
        <p:nvSpPr>
          <p:cNvPr id="16" name="Text 13"/>
          <p:cNvSpPr/>
          <p:nvPr/>
        </p:nvSpPr>
        <p:spPr>
          <a:xfrm>
            <a:off x="457200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Updated weekly, after every coordination meeting.</a:t>
            </a:r>
            <a:endParaRPr lang="en-US" sz="1150" dirty="0"/>
          </a:p>
        </p:txBody>
      </p:sp>
      <p:sp>
        <p:nvSpPr>
          <p:cNvPr id="17" name="Shape 14"/>
          <p:cNvSpPr/>
          <p:nvPr/>
        </p:nvSpPr>
        <p:spPr>
          <a:xfrm>
            <a:off x="8092440" y="1508760"/>
            <a:ext cx="3538728" cy="4160520"/>
          </a:xfrm>
          <a:prstGeom prst="roundRect">
            <a:avLst>
              <a:gd name="adj" fmla="val 2067"/>
            </a:avLst>
          </a:prstGeom>
          <a:solidFill>
            <a:srgbClr val="D9ECE7"/>
          </a:solidFill>
          <a:ln/>
        </p:spPr>
        <p:txBody>
          <a:bodyPr/>
          <a:lstStyle/>
          <a:p>
            <a:endParaRPr lang="en-US"/>
          </a:p>
        </p:txBody>
      </p:sp>
      <p:sp>
        <p:nvSpPr>
          <p:cNvPr id="18" name="Shape 15"/>
          <p:cNvSpPr/>
          <p:nvPr/>
        </p:nvSpPr>
        <p:spPr>
          <a:xfrm>
            <a:off x="8366760" y="1783080"/>
            <a:ext cx="502920" cy="502920"/>
          </a:xfrm>
          <a:prstGeom prst="ellipse">
            <a:avLst/>
          </a:prstGeom>
          <a:solidFill>
            <a:srgbClr val="43A99A"/>
          </a:solidFill>
          <a:ln/>
        </p:spPr>
        <p:txBody>
          <a:bodyPr/>
          <a:lstStyle/>
          <a:p>
            <a:endParaRPr lang="en-US"/>
          </a:p>
        </p:txBody>
      </p:sp>
      <p:sp>
        <p:nvSpPr>
          <p:cNvPr id="19" name="Text 16"/>
          <p:cNvSpPr/>
          <p:nvPr/>
        </p:nvSpPr>
        <p:spPr>
          <a:xfrm>
            <a:off x="836676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p:nvPr/>
        </p:nvSpPr>
        <p:spPr>
          <a:xfrm>
            <a:off x="836676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Interface Issue Log</a:t>
            </a:r>
            <a:endParaRPr lang="en-US" sz="1450" dirty="0"/>
          </a:p>
        </p:txBody>
      </p:sp>
      <p:sp>
        <p:nvSpPr>
          <p:cNvPr id="21" name="Text 18"/>
          <p:cNvSpPr/>
          <p:nvPr/>
        </p:nvSpPr>
        <p:spPr>
          <a:xfrm>
            <a:off x="836676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Records conflicts affecting progress, cost or safety and how they were resolved.</a:t>
            </a:r>
            <a:endParaRPr lang="en-US" sz="1150" dirty="0"/>
          </a:p>
        </p:txBody>
      </p:sp>
      <p:sp>
        <p:nvSpPr>
          <p:cNvPr id="22" name="Text 19"/>
          <p:cNvSpPr/>
          <p:nvPr/>
        </p:nvSpPr>
        <p:spPr>
          <a:xfrm>
            <a:off x="836676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Basis for contractual notices, claims and risk monitoring.</a:t>
            </a:r>
            <a:endParaRPr lang="en-US" sz="115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05</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Escalation, Integration &amp; KPIs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Time-bound escalation and how we measure interface performance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05 · ESCALATION</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Internal Escalation Mechanism</a:t>
            </a:r>
            <a:endParaRPr lang="en-US" sz="3000" dirty="0"/>
          </a:p>
        </p:txBody>
      </p:sp>
      <p:sp>
        <p:nvSpPr>
          <p:cNvPr id="5" name="Shape 2"/>
          <p:cNvSpPr/>
          <p:nvPr/>
        </p:nvSpPr>
        <p:spPr>
          <a:xfrm>
            <a:off x="502920" y="1459594"/>
            <a:ext cx="10652760" cy="1298448"/>
          </a:xfrm>
          <a:prstGeom prst="roundRect">
            <a:avLst>
              <a:gd name="adj" fmla="val 4930"/>
            </a:avLst>
          </a:prstGeom>
          <a:solidFill>
            <a:srgbClr val="D9ECE7"/>
          </a:solidFill>
          <a:ln/>
        </p:spPr>
        <p:txBody>
          <a:bodyPr/>
          <a:lstStyle/>
          <a:p>
            <a:endParaRPr lang="en-US"/>
          </a:p>
        </p:txBody>
      </p:sp>
      <p:sp>
        <p:nvSpPr>
          <p:cNvPr id="6" name="Shape 3"/>
          <p:cNvSpPr/>
          <p:nvPr/>
        </p:nvSpPr>
        <p:spPr>
          <a:xfrm>
            <a:off x="731520" y="1743058"/>
            <a:ext cx="731520" cy="731520"/>
          </a:xfrm>
          <a:prstGeom prst="ellipse">
            <a:avLst/>
          </a:prstGeom>
          <a:solidFill>
            <a:srgbClr val="004549"/>
          </a:solidFill>
          <a:ln/>
        </p:spPr>
        <p:txBody>
          <a:bodyPr/>
          <a:lstStyle/>
          <a:p>
            <a:endParaRPr lang="en-US"/>
          </a:p>
        </p:txBody>
      </p:sp>
      <p:sp>
        <p:nvSpPr>
          <p:cNvPr id="7" name="Text 4"/>
          <p:cNvSpPr/>
          <p:nvPr/>
        </p:nvSpPr>
        <p:spPr>
          <a:xfrm>
            <a:off x="731520" y="1743058"/>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5"/>
          <p:cNvSpPr/>
          <p:nvPr/>
        </p:nvSpPr>
        <p:spPr>
          <a:xfrm>
            <a:off x="1691640" y="1587610"/>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1 — Project Level</a:t>
            </a:r>
            <a:endParaRPr lang="en-US" sz="1350" dirty="0"/>
          </a:p>
        </p:txBody>
      </p:sp>
      <p:sp>
        <p:nvSpPr>
          <p:cNvPr id="9" name="Text 6"/>
          <p:cNvSpPr/>
          <p:nvPr/>
        </p:nvSpPr>
        <p:spPr>
          <a:xfrm>
            <a:off x="4937760" y="1587610"/>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Issue unresolved after the coordination meeting, or affecting short-term activities. Interface Manager escalates to the Project Manager — response within 2–5 working days.</a:t>
            </a:r>
            <a:endParaRPr lang="en-US" sz="1150" dirty="0"/>
          </a:p>
        </p:txBody>
      </p:sp>
      <p:sp>
        <p:nvSpPr>
          <p:cNvPr id="10" name="Shape 7"/>
          <p:cNvSpPr/>
          <p:nvPr/>
        </p:nvSpPr>
        <p:spPr>
          <a:xfrm>
            <a:off x="502920" y="2940922"/>
            <a:ext cx="10652760" cy="1298448"/>
          </a:xfrm>
          <a:prstGeom prst="roundRect">
            <a:avLst>
              <a:gd name="adj" fmla="val 4930"/>
            </a:avLst>
          </a:prstGeom>
          <a:solidFill>
            <a:srgbClr val="FFFFFF"/>
          </a:solidFill>
          <a:ln w="12700">
            <a:solidFill>
              <a:srgbClr val="DCEAE7"/>
            </a:solidFill>
            <a:prstDash val="solid"/>
          </a:ln>
        </p:spPr>
        <p:txBody>
          <a:bodyPr/>
          <a:lstStyle/>
          <a:p>
            <a:endParaRPr lang="en-US"/>
          </a:p>
        </p:txBody>
      </p:sp>
      <p:sp>
        <p:nvSpPr>
          <p:cNvPr id="11" name="Shape 8"/>
          <p:cNvSpPr/>
          <p:nvPr/>
        </p:nvSpPr>
        <p:spPr>
          <a:xfrm>
            <a:off x="731520" y="3224386"/>
            <a:ext cx="731520" cy="731520"/>
          </a:xfrm>
          <a:prstGeom prst="ellipse">
            <a:avLst/>
          </a:prstGeom>
          <a:solidFill>
            <a:srgbClr val="004549"/>
          </a:solidFill>
          <a:ln/>
        </p:spPr>
        <p:txBody>
          <a:bodyPr/>
          <a:lstStyle/>
          <a:p>
            <a:endParaRPr lang="en-US"/>
          </a:p>
        </p:txBody>
      </p:sp>
      <p:sp>
        <p:nvSpPr>
          <p:cNvPr id="12" name="Text 9"/>
          <p:cNvSpPr/>
          <p:nvPr/>
        </p:nvSpPr>
        <p:spPr>
          <a:xfrm>
            <a:off x="731520" y="3224386"/>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p:nvPr/>
        </p:nvSpPr>
        <p:spPr>
          <a:xfrm>
            <a:off x="1691640" y="3068938"/>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2 — Program Level</a:t>
            </a:r>
            <a:endParaRPr lang="en-US" sz="1350" dirty="0"/>
          </a:p>
        </p:txBody>
      </p:sp>
      <p:sp>
        <p:nvSpPr>
          <p:cNvPr id="14" name="Text 11"/>
          <p:cNvSpPr/>
          <p:nvPr/>
        </p:nvSpPr>
        <p:spPr>
          <a:xfrm>
            <a:off x="4937760" y="3068938"/>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Issue impacting schedule, cost, quality or safety. Project Manager escalates to the Projects Director / Head of Interface — response within 5–8 working days.</a:t>
            </a:r>
            <a:endParaRPr lang="en-US" sz="1150" dirty="0"/>
          </a:p>
        </p:txBody>
      </p:sp>
      <p:sp>
        <p:nvSpPr>
          <p:cNvPr id="15" name="Shape 12"/>
          <p:cNvSpPr/>
          <p:nvPr/>
        </p:nvSpPr>
        <p:spPr>
          <a:xfrm>
            <a:off x="502920" y="4422250"/>
            <a:ext cx="10652760" cy="1298448"/>
          </a:xfrm>
          <a:prstGeom prst="roundRect">
            <a:avLst>
              <a:gd name="adj" fmla="val 4930"/>
            </a:avLst>
          </a:prstGeom>
          <a:solidFill>
            <a:srgbClr val="D9ECE7"/>
          </a:solidFill>
          <a:ln/>
        </p:spPr>
        <p:txBody>
          <a:bodyPr/>
          <a:lstStyle/>
          <a:p>
            <a:endParaRPr lang="en-US"/>
          </a:p>
        </p:txBody>
      </p:sp>
      <p:sp>
        <p:nvSpPr>
          <p:cNvPr id="16" name="Shape 13"/>
          <p:cNvSpPr/>
          <p:nvPr/>
        </p:nvSpPr>
        <p:spPr>
          <a:xfrm>
            <a:off x="731520" y="4705714"/>
            <a:ext cx="731520" cy="731520"/>
          </a:xfrm>
          <a:prstGeom prst="ellipse">
            <a:avLst/>
          </a:prstGeom>
          <a:solidFill>
            <a:srgbClr val="004549"/>
          </a:solidFill>
          <a:ln/>
        </p:spPr>
        <p:txBody>
          <a:bodyPr/>
          <a:lstStyle/>
          <a:p>
            <a:endParaRPr lang="en-US"/>
          </a:p>
        </p:txBody>
      </p:sp>
      <p:sp>
        <p:nvSpPr>
          <p:cNvPr id="17" name="Text 14"/>
          <p:cNvSpPr/>
          <p:nvPr/>
        </p:nvSpPr>
        <p:spPr>
          <a:xfrm>
            <a:off x="731520" y="4705714"/>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5"/>
          <p:cNvSpPr/>
          <p:nvPr/>
        </p:nvSpPr>
        <p:spPr>
          <a:xfrm>
            <a:off x="1691640" y="4550266"/>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3 — E&amp;C Sector</a:t>
            </a:r>
            <a:endParaRPr lang="en-US" sz="1350" dirty="0"/>
          </a:p>
        </p:txBody>
      </p:sp>
      <p:sp>
        <p:nvSpPr>
          <p:cNvPr id="19" name="Text 16"/>
          <p:cNvSpPr/>
          <p:nvPr/>
        </p:nvSpPr>
        <p:spPr>
          <a:xfrm>
            <a:off x="4937760" y="4550266"/>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Critical issue affecting milestones, contract obligations or program objectives. Projects Director escalates to the VP E&amp;C Sector — immediate instructions and decision.</a:t>
            </a:r>
            <a:endParaRPr lang="en-US" sz="1150" dirty="0"/>
          </a:p>
        </p:txBody>
      </p:sp>
      <p:sp>
        <p:nvSpPr>
          <p:cNvPr id="21" name="Text 1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05 · ESCALATION</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External Escalation Mechanism</a:t>
            </a:r>
            <a:endParaRPr lang="en-US" sz="3000" dirty="0"/>
          </a:p>
        </p:txBody>
      </p:sp>
      <p:sp>
        <p:nvSpPr>
          <p:cNvPr id="5" name="Shape 2"/>
          <p:cNvSpPr/>
          <p:nvPr/>
        </p:nvSpPr>
        <p:spPr>
          <a:xfrm>
            <a:off x="502920" y="1459594"/>
            <a:ext cx="10652760" cy="1298448"/>
          </a:xfrm>
          <a:prstGeom prst="roundRect">
            <a:avLst>
              <a:gd name="adj" fmla="val 4930"/>
            </a:avLst>
          </a:prstGeom>
          <a:solidFill>
            <a:srgbClr val="D9ECE7"/>
          </a:solidFill>
          <a:ln/>
        </p:spPr>
        <p:txBody>
          <a:bodyPr/>
          <a:lstStyle/>
          <a:p>
            <a:endParaRPr lang="en-US"/>
          </a:p>
        </p:txBody>
      </p:sp>
      <p:sp>
        <p:nvSpPr>
          <p:cNvPr id="6" name="Shape 3"/>
          <p:cNvSpPr/>
          <p:nvPr/>
        </p:nvSpPr>
        <p:spPr>
          <a:xfrm>
            <a:off x="731520" y="1743058"/>
            <a:ext cx="731520" cy="731520"/>
          </a:xfrm>
          <a:prstGeom prst="ellipse">
            <a:avLst/>
          </a:prstGeom>
          <a:solidFill>
            <a:srgbClr val="004549"/>
          </a:solidFill>
          <a:ln/>
        </p:spPr>
        <p:txBody>
          <a:bodyPr/>
          <a:lstStyle/>
          <a:p>
            <a:endParaRPr lang="en-US"/>
          </a:p>
        </p:txBody>
      </p:sp>
      <p:sp>
        <p:nvSpPr>
          <p:cNvPr id="7" name="Text 4"/>
          <p:cNvSpPr/>
          <p:nvPr/>
        </p:nvSpPr>
        <p:spPr>
          <a:xfrm>
            <a:off x="731520" y="1743058"/>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5"/>
          <p:cNvSpPr/>
          <p:nvPr/>
        </p:nvSpPr>
        <p:spPr>
          <a:xfrm>
            <a:off x="1691640" y="1587610"/>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1 — Coordination Level</a:t>
            </a:r>
            <a:endParaRPr lang="en-US" sz="1350" dirty="0"/>
          </a:p>
        </p:txBody>
      </p:sp>
      <p:sp>
        <p:nvSpPr>
          <p:cNvPr id="9" name="Text 6"/>
          <p:cNvSpPr/>
          <p:nvPr/>
        </p:nvSpPr>
        <p:spPr>
          <a:xfrm>
            <a:off x="4937760" y="1587610"/>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Routine issue: Interface Manager follows up with the Consultant / Subcontractor (3–5 working days); if progress is affected, the PM escalates to the PMC Team Leader.</a:t>
            </a:r>
            <a:endParaRPr lang="en-US" sz="1150" dirty="0"/>
          </a:p>
        </p:txBody>
      </p:sp>
      <p:sp>
        <p:nvSpPr>
          <p:cNvPr id="10" name="Shape 7"/>
          <p:cNvSpPr/>
          <p:nvPr/>
        </p:nvSpPr>
        <p:spPr>
          <a:xfrm>
            <a:off x="502920" y="2940922"/>
            <a:ext cx="10652760" cy="1298448"/>
          </a:xfrm>
          <a:prstGeom prst="roundRect">
            <a:avLst>
              <a:gd name="adj" fmla="val 4930"/>
            </a:avLst>
          </a:prstGeom>
          <a:solidFill>
            <a:srgbClr val="FFFFFF"/>
          </a:solidFill>
          <a:ln w="12700">
            <a:solidFill>
              <a:srgbClr val="DCEAE7"/>
            </a:solidFill>
            <a:prstDash val="solid"/>
          </a:ln>
        </p:spPr>
        <p:txBody>
          <a:bodyPr/>
          <a:lstStyle/>
          <a:p>
            <a:endParaRPr lang="en-US"/>
          </a:p>
        </p:txBody>
      </p:sp>
      <p:sp>
        <p:nvSpPr>
          <p:cNvPr id="11" name="Shape 8"/>
          <p:cNvSpPr/>
          <p:nvPr/>
        </p:nvSpPr>
        <p:spPr>
          <a:xfrm>
            <a:off x="731520" y="3224386"/>
            <a:ext cx="731520" cy="731520"/>
          </a:xfrm>
          <a:prstGeom prst="ellipse">
            <a:avLst/>
          </a:prstGeom>
          <a:solidFill>
            <a:srgbClr val="004549"/>
          </a:solidFill>
          <a:ln/>
        </p:spPr>
        <p:txBody>
          <a:bodyPr/>
          <a:lstStyle/>
          <a:p>
            <a:endParaRPr lang="en-US"/>
          </a:p>
        </p:txBody>
      </p:sp>
      <p:sp>
        <p:nvSpPr>
          <p:cNvPr id="12" name="Text 9"/>
          <p:cNvSpPr/>
          <p:nvPr/>
        </p:nvSpPr>
        <p:spPr>
          <a:xfrm>
            <a:off x="731520" y="3224386"/>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p:nvPr/>
        </p:nvSpPr>
        <p:spPr>
          <a:xfrm>
            <a:off x="1691640" y="3068938"/>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2 — Client Level</a:t>
            </a:r>
            <a:endParaRPr lang="en-US" sz="1350" dirty="0"/>
          </a:p>
        </p:txBody>
      </p:sp>
      <p:sp>
        <p:nvSpPr>
          <p:cNvPr id="14" name="Text 11"/>
          <p:cNvSpPr/>
          <p:nvPr/>
        </p:nvSpPr>
        <p:spPr>
          <a:xfrm>
            <a:off x="4937760" y="3068938"/>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Issue impacting milestones, approvals or permits: the Project Manager escalates to the Client / Employer Representative — response within 7–14 working days.</a:t>
            </a:r>
            <a:endParaRPr lang="en-US" sz="1150" dirty="0"/>
          </a:p>
        </p:txBody>
      </p:sp>
      <p:sp>
        <p:nvSpPr>
          <p:cNvPr id="15" name="Shape 12"/>
          <p:cNvSpPr/>
          <p:nvPr/>
        </p:nvSpPr>
        <p:spPr>
          <a:xfrm>
            <a:off x="502920" y="4422250"/>
            <a:ext cx="10652760" cy="1298448"/>
          </a:xfrm>
          <a:prstGeom prst="roundRect">
            <a:avLst>
              <a:gd name="adj" fmla="val 4930"/>
            </a:avLst>
          </a:prstGeom>
          <a:solidFill>
            <a:srgbClr val="D9ECE7"/>
          </a:solidFill>
          <a:ln/>
        </p:spPr>
        <p:txBody>
          <a:bodyPr/>
          <a:lstStyle/>
          <a:p>
            <a:endParaRPr lang="en-US"/>
          </a:p>
        </p:txBody>
      </p:sp>
      <p:sp>
        <p:nvSpPr>
          <p:cNvPr id="16" name="Shape 13"/>
          <p:cNvSpPr/>
          <p:nvPr/>
        </p:nvSpPr>
        <p:spPr>
          <a:xfrm>
            <a:off x="731520" y="4705714"/>
            <a:ext cx="731520" cy="731520"/>
          </a:xfrm>
          <a:prstGeom prst="ellipse">
            <a:avLst/>
          </a:prstGeom>
          <a:solidFill>
            <a:srgbClr val="004549"/>
          </a:solidFill>
          <a:ln/>
        </p:spPr>
        <p:txBody>
          <a:bodyPr/>
          <a:lstStyle/>
          <a:p>
            <a:endParaRPr lang="en-US"/>
          </a:p>
        </p:txBody>
      </p:sp>
      <p:sp>
        <p:nvSpPr>
          <p:cNvPr id="17" name="Text 14"/>
          <p:cNvSpPr/>
          <p:nvPr/>
        </p:nvSpPr>
        <p:spPr>
          <a:xfrm>
            <a:off x="731520" y="4705714"/>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5"/>
          <p:cNvSpPr/>
          <p:nvPr/>
        </p:nvSpPr>
        <p:spPr>
          <a:xfrm>
            <a:off x="1691640" y="4550266"/>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3 — Authority / Executive Level</a:t>
            </a:r>
            <a:endParaRPr lang="en-US" sz="1350" dirty="0"/>
          </a:p>
        </p:txBody>
      </p:sp>
      <p:sp>
        <p:nvSpPr>
          <p:cNvPr id="19" name="Text 16"/>
          <p:cNvSpPr/>
          <p:nvPr/>
        </p:nvSpPr>
        <p:spPr>
          <a:xfrm>
            <a:off x="4937760" y="4550266"/>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Critical issue on permits, NOCs or statutory compliance: Project Director / GRO escalate to the Authority or Client senior management — immediately / as required.</a:t>
            </a:r>
            <a:endParaRPr lang="en-US" sz="1150" dirty="0"/>
          </a:p>
        </p:txBody>
      </p:sp>
      <p:sp>
        <p:nvSpPr>
          <p:cNvPr id="21" name="Text 1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05 · INTEGRATION</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Links to Schedule, Risk &amp; Contract</a:t>
            </a:r>
            <a:endParaRPr lang="en-US" sz="3000" dirty="0"/>
          </a:p>
        </p:txBody>
      </p:sp>
      <p:sp>
        <p:nvSpPr>
          <p:cNvPr id="5" name="Shape 2"/>
          <p:cNvSpPr/>
          <p:nvPr/>
        </p:nvSpPr>
        <p:spPr>
          <a:xfrm>
            <a:off x="502920" y="1459594"/>
            <a:ext cx="10652760" cy="1298448"/>
          </a:xfrm>
          <a:prstGeom prst="roundRect">
            <a:avLst>
              <a:gd name="adj" fmla="val 4930"/>
            </a:avLst>
          </a:prstGeom>
          <a:solidFill>
            <a:srgbClr val="D9ECE7"/>
          </a:solidFill>
          <a:ln/>
        </p:spPr>
        <p:txBody>
          <a:bodyPr/>
          <a:lstStyle/>
          <a:p>
            <a:endParaRPr lang="en-US"/>
          </a:p>
        </p:txBody>
      </p:sp>
      <p:sp>
        <p:nvSpPr>
          <p:cNvPr id="6" name="Shape 3"/>
          <p:cNvSpPr/>
          <p:nvPr/>
        </p:nvSpPr>
        <p:spPr>
          <a:xfrm>
            <a:off x="731520" y="1743058"/>
            <a:ext cx="731520" cy="731520"/>
          </a:xfrm>
          <a:prstGeom prst="ellipse">
            <a:avLst/>
          </a:prstGeom>
          <a:solidFill>
            <a:srgbClr val="004549"/>
          </a:solidFill>
          <a:ln/>
        </p:spPr>
        <p:txBody>
          <a:bodyPr/>
          <a:lstStyle/>
          <a:p>
            <a:endParaRPr lang="en-US"/>
          </a:p>
        </p:txBody>
      </p:sp>
      <p:sp>
        <p:nvSpPr>
          <p:cNvPr id="7" name="Text 4"/>
          <p:cNvSpPr/>
          <p:nvPr/>
        </p:nvSpPr>
        <p:spPr>
          <a:xfrm>
            <a:off x="731520" y="1743058"/>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5"/>
          <p:cNvSpPr/>
          <p:nvPr/>
        </p:nvSpPr>
        <p:spPr>
          <a:xfrm>
            <a:off x="1691640" y="1587610"/>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Schedule</a:t>
            </a:r>
            <a:endParaRPr lang="en-US" sz="1350" dirty="0"/>
          </a:p>
        </p:txBody>
      </p:sp>
      <p:sp>
        <p:nvSpPr>
          <p:cNvPr id="9" name="Text 6"/>
          <p:cNvSpPr/>
          <p:nvPr/>
        </p:nvSpPr>
        <p:spPr>
          <a:xfrm>
            <a:off x="4937760" y="1587610"/>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Interface milestones sit in the master schedule and look-ahead. Permits, NOCs and third-party dependencies are predecessors of critical activities.</a:t>
            </a:r>
            <a:endParaRPr lang="en-US" sz="1150" dirty="0"/>
          </a:p>
        </p:txBody>
      </p:sp>
      <p:sp>
        <p:nvSpPr>
          <p:cNvPr id="10" name="Shape 7"/>
          <p:cNvSpPr/>
          <p:nvPr/>
        </p:nvSpPr>
        <p:spPr>
          <a:xfrm>
            <a:off x="502920" y="2940922"/>
            <a:ext cx="10652760" cy="1298448"/>
          </a:xfrm>
          <a:prstGeom prst="roundRect">
            <a:avLst>
              <a:gd name="adj" fmla="val 4930"/>
            </a:avLst>
          </a:prstGeom>
          <a:solidFill>
            <a:srgbClr val="FFFFFF"/>
          </a:solidFill>
          <a:ln w="12700">
            <a:solidFill>
              <a:srgbClr val="DCEAE7"/>
            </a:solidFill>
            <a:prstDash val="solid"/>
          </a:ln>
        </p:spPr>
        <p:txBody>
          <a:bodyPr/>
          <a:lstStyle/>
          <a:p>
            <a:endParaRPr lang="en-US"/>
          </a:p>
        </p:txBody>
      </p:sp>
      <p:sp>
        <p:nvSpPr>
          <p:cNvPr id="11" name="Shape 8"/>
          <p:cNvSpPr/>
          <p:nvPr/>
        </p:nvSpPr>
        <p:spPr>
          <a:xfrm>
            <a:off x="731520" y="3224386"/>
            <a:ext cx="731520" cy="731520"/>
          </a:xfrm>
          <a:prstGeom prst="ellipse">
            <a:avLst/>
          </a:prstGeom>
          <a:solidFill>
            <a:srgbClr val="004549"/>
          </a:solidFill>
          <a:ln/>
        </p:spPr>
        <p:txBody>
          <a:bodyPr/>
          <a:lstStyle/>
          <a:p>
            <a:endParaRPr lang="en-US"/>
          </a:p>
        </p:txBody>
      </p:sp>
      <p:sp>
        <p:nvSpPr>
          <p:cNvPr id="12" name="Text 9"/>
          <p:cNvSpPr/>
          <p:nvPr/>
        </p:nvSpPr>
        <p:spPr>
          <a:xfrm>
            <a:off x="731520" y="3224386"/>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p:nvPr/>
        </p:nvSpPr>
        <p:spPr>
          <a:xfrm>
            <a:off x="1691640" y="3068938"/>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Risk</a:t>
            </a:r>
            <a:endParaRPr lang="en-US" sz="1350" dirty="0"/>
          </a:p>
        </p:txBody>
      </p:sp>
      <p:sp>
        <p:nvSpPr>
          <p:cNvPr id="14" name="Text 11"/>
          <p:cNvSpPr/>
          <p:nvPr/>
        </p:nvSpPr>
        <p:spPr>
          <a:xfrm>
            <a:off x="4937760" y="3068938"/>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Every interface point is a potential risk or opportunity (ISO 31000). Critical interfaces are linked to the Risk Register with mitigation actions and owners.</a:t>
            </a:r>
            <a:endParaRPr lang="en-US" sz="1150" dirty="0"/>
          </a:p>
        </p:txBody>
      </p:sp>
      <p:sp>
        <p:nvSpPr>
          <p:cNvPr id="15" name="Shape 12"/>
          <p:cNvSpPr/>
          <p:nvPr/>
        </p:nvSpPr>
        <p:spPr>
          <a:xfrm>
            <a:off x="502920" y="4422250"/>
            <a:ext cx="10652760" cy="1298448"/>
          </a:xfrm>
          <a:prstGeom prst="roundRect">
            <a:avLst>
              <a:gd name="adj" fmla="val 4930"/>
            </a:avLst>
          </a:prstGeom>
          <a:solidFill>
            <a:srgbClr val="D9ECE7"/>
          </a:solidFill>
          <a:ln/>
        </p:spPr>
        <p:txBody>
          <a:bodyPr/>
          <a:lstStyle/>
          <a:p>
            <a:endParaRPr lang="en-US"/>
          </a:p>
        </p:txBody>
      </p:sp>
      <p:sp>
        <p:nvSpPr>
          <p:cNvPr id="16" name="Shape 13"/>
          <p:cNvSpPr/>
          <p:nvPr/>
        </p:nvSpPr>
        <p:spPr>
          <a:xfrm>
            <a:off x="731520" y="4705714"/>
            <a:ext cx="731520" cy="731520"/>
          </a:xfrm>
          <a:prstGeom prst="ellipse">
            <a:avLst/>
          </a:prstGeom>
          <a:solidFill>
            <a:srgbClr val="004549"/>
          </a:solidFill>
          <a:ln/>
        </p:spPr>
        <p:txBody>
          <a:bodyPr/>
          <a:lstStyle/>
          <a:p>
            <a:endParaRPr lang="en-US"/>
          </a:p>
        </p:txBody>
      </p:sp>
      <p:sp>
        <p:nvSpPr>
          <p:cNvPr id="17" name="Text 14"/>
          <p:cNvSpPr/>
          <p:nvPr/>
        </p:nvSpPr>
        <p:spPr>
          <a:xfrm>
            <a:off x="731520" y="4705714"/>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5"/>
          <p:cNvSpPr/>
          <p:nvPr/>
        </p:nvSpPr>
        <p:spPr>
          <a:xfrm>
            <a:off x="1691640" y="4550266"/>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Contract &amp; Escalation Principles</a:t>
            </a:r>
            <a:endParaRPr lang="en-US" sz="1350" dirty="0"/>
          </a:p>
        </p:txBody>
      </p:sp>
      <p:sp>
        <p:nvSpPr>
          <p:cNvPr id="19" name="Text 16"/>
          <p:cNvSpPr/>
          <p:nvPr/>
        </p:nvSpPr>
        <p:spPr>
          <a:xfrm>
            <a:off x="4937760" y="4550266"/>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Escalation is fact-based and time-bound, supported by drawings, schedules and correspondence. The Contract &amp; Claims Manager issues timely notices to protect our rights.</a:t>
            </a:r>
            <a:endParaRPr lang="en-US" sz="1150" dirty="0"/>
          </a:p>
        </p:txBody>
      </p:sp>
      <p:sp>
        <p:nvSpPr>
          <p:cNvPr id="21" name="Text 1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05 · MONITORING</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Interface Performance Indicators (proposed targets)</a:t>
            </a:r>
            <a:endParaRPr lang="en-US" sz="3000" dirty="0"/>
          </a:p>
        </p:txBody>
      </p:sp>
      <p:sp>
        <p:nvSpPr>
          <p:cNvPr id="5" name="Shape 2"/>
          <p:cNvSpPr/>
          <p:nvPr/>
        </p:nvSpPr>
        <p:spPr>
          <a:xfrm>
            <a:off x="502920" y="1600200"/>
            <a:ext cx="3429000" cy="1874520"/>
          </a:xfrm>
          <a:prstGeom prst="roundRect">
            <a:avLst>
              <a:gd name="adj" fmla="val 3902"/>
            </a:avLst>
          </a:prstGeom>
          <a:solidFill>
            <a:srgbClr val="004549"/>
          </a:solidFill>
          <a:ln/>
        </p:spPr>
        <p:txBody>
          <a:bodyPr/>
          <a:lstStyle/>
          <a:p>
            <a:endParaRPr lang="en-US"/>
          </a:p>
        </p:txBody>
      </p:sp>
      <p:sp>
        <p:nvSpPr>
          <p:cNvPr id="6" name="Text 3"/>
          <p:cNvSpPr/>
          <p:nvPr/>
        </p:nvSpPr>
        <p:spPr>
          <a:xfrm>
            <a:off x="502920" y="1764792"/>
            <a:ext cx="3429000" cy="822960"/>
          </a:xfrm>
          <a:prstGeom prst="rect">
            <a:avLst/>
          </a:prstGeom>
          <a:noFill/>
          <a:ln/>
        </p:spPr>
        <p:txBody>
          <a:bodyPr wrap="square" rtlCol="0" anchor="ctr"/>
          <a:lstStyle/>
          <a:p>
            <a:pPr marL="0" indent="0" algn="ctr">
              <a:buNone/>
            </a:pPr>
            <a:r>
              <a:rPr lang="en-US" sz="3200" b="1" dirty="0">
                <a:solidFill>
                  <a:srgbClr val="8FCFC3"/>
                </a:solidFill>
                <a:latin typeface="Calibri" pitchFamily="34" charset="0"/>
                <a:ea typeface="Calibri" pitchFamily="34" charset="-122"/>
                <a:cs typeface="Calibri" pitchFamily="34" charset="-120"/>
              </a:rPr>
              <a:t>100%</a:t>
            </a:r>
            <a:endParaRPr lang="en-US" sz="3200" dirty="0"/>
          </a:p>
        </p:txBody>
      </p:sp>
      <p:sp>
        <p:nvSpPr>
          <p:cNvPr id="7" name="Text 4"/>
          <p:cNvSpPr/>
          <p:nvPr/>
        </p:nvSpPr>
        <p:spPr>
          <a:xfrm>
            <a:off x="685800" y="2606040"/>
            <a:ext cx="3063240" cy="777240"/>
          </a:xfrm>
          <a:prstGeom prst="rect">
            <a:avLst/>
          </a:prstGeom>
          <a:noFill/>
          <a:ln/>
        </p:spPr>
        <p:txBody>
          <a:bodyPr wrap="square" rtlCol="0" anchor="ctr"/>
          <a:lstStyle/>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Interface points with</a:t>
            </a:r>
            <a:endParaRPr lang="en-US" sz="1150" dirty="0"/>
          </a:p>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owner &amp; target date</a:t>
            </a:r>
            <a:endParaRPr lang="en-US" sz="1150" dirty="0"/>
          </a:p>
        </p:txBody>
      </p:sp>
      <p:sp>
        <p:nvSpPr>
          <p:cNvPr id="8" name="Shape 5"/>
          <p:cNvSpPr/>
          <p:nvPr/>
        </p:nvSpPr>
        <p:spPr>
          <a:xfrm>
            <a:off x="4114800" y="1600200"/>
            <a:ext cx="3429000" cy="1874520"/>
          </a:xfrm>
          <a:prstGeom prst="roundRect">
            <a:avLst>
              <a:gd name="adj" fmla="val 3902"/>
            </a:avLst>
          </a:prstGeom>
          <a:solidFill>
            <a:srgbClr val="004549"/>
          </a:solidFill>
          <a:ln/>
        </p:spPr>
        <p:txBody>
          <a:bodyPr/>
          <a:lstStyle/>
          <a:p>
            <a:endParaRPr lang="en-US"/>
          </a:p>
        </p:txBody>
      </p:sp>
      <p:sp>
        <p:nvSpPr>
          <p:cNvPr id="9" name="Text 6"/>
          <p:cNvSpPr/>
          <p:nvPr/>
        </p:nvSpPr>
        <p:spPr>
          <a:xfrm>
            <a:off x="4114800" y="1764792"/>
            <a:ext cx="3429000" cy="822960"/>
          </a:xfrm>
          <a:prstGeom prst="rect">
            <a:avLst/>
          </a:prstGeom>
          <a:noFill/>
          <a:ln/>
        </p:spPr>
        <p:txBody>
          <a:bodyPr wrap="square" rtlCol="0" anchor="ctr"/>
          <a:lstStyle/>
          <a:p>
            <a:pPr marL="0" indent="0" algn="ctr">
              <a:buNone/>
            </a:pPr>
            <a:r>
              <a:rPr lang="en-US" sz="3200" b="1" dirty="0">
                <a:solidFill>
                  <a:srgbClr val="8FCFC3"/>
                </a:solidFill>
                <a:latin typeface="Calibri" pitchFamily="34" charset="0"/>
                <a:ea typeface="Calibri" pitchFamily="34" charset="-122"/>
                <a:cs typeface="Calibri" pitchFamily="34" charset="-120"/>
              </a:rPr>
              <a:t>≥90%</a:t>
            </a:r>
            <a:endParaRPr lang="en-US" sz="3200" dirty="0"/>
          </a:p>
        </p:txBody>
      </p:sp>
      <p:sp>
        <p:nvSpPr>
          <p:cNvPr id="10" name="Text 7"/>
          <p:cNvSpPr/>
          <p:nvPr/>
        </p:nvSpPr>
        <p:spPr>
          <a:xfrm>
            <a:off x="4297680" y="2606040"/>
            <a:ext cx="3063240" cy="777240"/>
          </a:xfrm>
          <a:prstGeom prst="rect">
            <a:avLst/>
          </a:prstGeom>
          <a:noFill/>
          <a:ln/>
        </p:spPr>
        <p:txBody>
          <a:bodyPr wrap="square" rtlCol="0" anchor="ctr"/>
          <a:lstStyle/>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Interface points closed</a:t>
            </a:r>
            <a:endParaRPr lang="en-US" sz="1150" dirty="0"/>
          </a:p>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by target date</a:t>
            </a:r>
            <a:endParaRPr lang="en-US" sz="1150" dirty="0"/>
          </a:p>
        </p:txBody>
      </p:sp>
      <p:sp>
        <p:nvSpPr>
          <p:cNvPr id="11" name="Shape 8"/>
          <p:cNvSpPr/>
          <p:nvPr/>
        </p:nvSpPr>
        <p:spPr>
          <a:xfrm>
            <a:off x="7726680" y="1600200"/>
            <a:ext cx="3429000" cy="1874520"/>
          </a:xfrm>
          <a:prstGeom prst="roundRect">
            <a:avLst>
              <a:gd name="adj" fmla="val 3902"/>
            </a:avLst>
          </a:prstGeom>
          <a:solidFill>
            <a:srgbClr val="004549"/>
          </a:solidFill>
          <a:ln/>
        </p:spPr>
        <p:txBody>
          <a:bodyPr/>
          <a:lstStyle/>
          <a:p>
            <a:endParaRPr lang="en-US"/>
          </a:p>
        </p:txBody>
      </p:sp>
      <p:sp>
        <p:nvSpPr>
          <p:cNvPr id="12" name="Text 9"/>
          <p:cNvSpPr/>
          <p:nvPr/>
        </p:nvSpPr>
        <p:spPr>
          <a:xfrm>
            <a:off x="7726680" y="1764792"/>
            <a:ext cx="3429000" cy="822960"/>
          </a:xfrm>
          <a:prstGeom prst="rect">
            <a:avLst/>
          </a:prstGeom>
          <a:noFill/>
          <a:ln/>
        </p:spPr>
        <p:txBody>
          <a:bodyPr wrap="square" rtlCol="0" anchor="ctr"/>
          <a:lstStyle/>
          <a:p>
            <a:pPr marL="0" indent="0" algn="ctr">
              <a:buNone/>
            </a:pPr>
            <a:r>
              <a:rPr lang="en-US" sz="3200" b="1" dirty="0">
                <a:solidFill>
                  <a:srgbClr val="8FCFC3"/>
                </a:solidFill>
                <a:latin typeface="Calibri" pitchFamily="34" charset="0"/>
                <a:ea typeface="Calibri" pitchFamily="34" charset="-122"/>
                <a:cs typeface="Calibri" pitchFamily="34" charset="-120"/>
              </a:rPr>
              <a:t>100%</a:t>
            </a:r>
            <a:endParaRPr lang="en-US" sz="3200" dirty="0"/>
          </a:p>
        </p:txBody>
      </p:sp>
      <p:sp>
        <p:nvSpPr>
          <p:cNvPr id="13" name="Text 10"/>
          <p:cNvSpPr/>
          <p:nvPr/>
        </p:nvSpPr>
        <p:spPr>
          <a:xfrm>
            <a:off x="7909560" y="2606040"/>
            <a:ext cx="3063240" cy="777240"/>
          </a:xfrm>
          <a:prstGeom prst="rect">
            <a:avLst/>
          </a:prstGeom>
          <a:noFill/>
          <a:ln/>
        </p:spPr>
        <p:txBody>
          <a:bodyPr wrap="square" rtlCol="0" anchor="ctr"/>
          <a:lstStyle/>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MoM issued within</a:t>
            </a:r>
            <a:endParaRPr lang="en-US" sz="1150" dirty="0"/>
          </a:p>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48 hours</a:t>
            </a:r>
            <a:endParaRPr lang="en-US" sz="1150" dirty="0"/>
          </a:p>
        </p:txBody>
      </p:sp>
      <p:sp>
        <p:nvSpPr>
          <p:cNvPr id="14" name="Shape 11"/>
          <p:cNvSpPr/>
          <p:nvPr/>
        </p:nvSpPr>
        <p:spPr>
          <a:xfrm>
            <a:off x="502920" y="3657600"/>
            <a:ext cx="3429000" cy="1874520"/>
          </a:xfrm>
          <a:prstGeom prst="roundRect">
            <a:avLst>
              <a:gd name="adj" fmla="val 3902"/>
            </a:avLst>
          </a:prstGeom>
          <a:solidFill>
            <a:srgbClr val="D9ECE7"/>
          </a:solidFill>
          <a:ln/>
        </p:spPr>
        <p:txBody>
          <a:bodyPr/>
          <a:lstStyle/>
          <a:p>
            <a:endParaRPr lang="en-US"/>
          </a:p>
        </p:txBody>
      </p:sp>
      <p:sp>
        <p:nvSpPr>
          <p:cNvPr id="15" name="Text 12"/>
          <p:cNvSpPr/>
          <p:nvPr/>
        </p:nvSpPr>
        <p:spPr>
          <a:xfrm>
            <a:off x="502920" y="3822192"/>
            <a:ext cx="3429000" cy="822960"/>
          </a:xfrm>
          <a:prstGeom prst="rect">
            <a:avLst/>
          </a:prstGeom>
          <a:noFill/>
          <a:ln/>
        </p:spPr>
        <p:txBody>
          <a:bodyPr wrap="square" rtlCol="0" anchor="ctr"/>
          <a:lstStyle/>
          <a:p>
            <a:pPr marL="0" indent="0" algn="ctr">
              <a:buNone/>
            </a:pPr>
            <a:r>
              <a:rPr lang="en-US" sz="3200" b="1" dirty="0">
                <a:solidFill>
                  <a:srgbClr val="43A99A"/>
                </a:solidFill>
                <a:latin typeface="Calibri" pitchFamily="34" charset="0"/>
                <a:ea typeface="Calibri" pitchFamily="34" charset="-122"/>
                <a:cs typeface="Calibri" pitchFamily="34" charset="-120"/>
              </a:rPr>
              <a:t>100%</a:t>
            </a:r>
            <a:endParaRPr lang="en-US" sz="3200" dirty="0"/>
          </a:p>
        </p:txBody>
      </p:sp>
      <p:sp>
        <p:nvSpPr>
          <p:cNvPr id="16" name="Text 13"/>
          <p:cNvSpPr/>
          <p:nvPr/>
        </p:nvSpPr>
        <p:spPr>
          <a:xfrm>
            <a:off x="685800" y="4663440"/>
            <a:ext cx="3063240" cy="777240"/>
          </a:xfrm>
          <a:prstGeom prst="rect">
            <a:avLst/>
          </a:prstGeom>
          <a:noFill/>
          <a:ln/>
        </p:spPr>
        <p:txBody>
          <a:bodyPr wrap="square" rtlCol="0" anchor="ctr"/>
          <a:lstStyle/>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Closures with evidence</a:t>
            </a:r>
            <a:endParaRPr lang="en-US" sz="1150" dirty="0"/>
          </a:p>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&amp; sign-off in Aconex</a:t>
            </a:r>
            <a:endParaRPr lang="en-US" sz="1150" dirty="0"/>
          </a:p>
        </p:txBody>
      </p:sp>
      <p:sp>
        <p:nvSpPr>
          <p:cNvPr id="17" name="Shape 14"/>
          <p:cNvSpPr/>
          <p:nvPr/>
        </p:nvSpPr>
        <p:spPr>
          <a:xfrm>
            <a:off x="4114800" y="3657600"/>
            <a:ext cx="3429000" cy="1874520"/>
          </a:xfrm>
          <a:prstGeom prst="roundRect">
            <a:avLst>
              <a:gd name="adj" fmla="val 3902"/>
            </a:avLst>
          </a:prstGeom>
          <a:solidFill>
            <a:srgbClr val="D9ECE7"/>
          </a:solidFill>
          <a:ln/>
        </p:spPr>
        <p:txBody>
          <a:bodyPr/>
          <a:lstStyle/>
          <a:p>
            <a:endParaRPr lang="en-US"/>
          </a:p>
        </p:txBody>
      </p:sp>
      <p:sp>
        <p:nvSpPr>
          <p:cNvPr id="18" name="Text 15"/>
          <p:cNvSpPr/>
          <p:nvPr/>
        </p:nvSpPr>
        <p:spPr>
          <a:xfrm>
            <a:off x="4114800" y="3822192"/>
            <a:ext cx="3429000" cy="822960"/>
          </a:xfrm>
          <a:prstGeom prst="rect">
            <a:avLst/>
          </a:prstGeom>
          <a:noFill/>
          <a:ln/>
        </p:spPr>
        <p:txBody>
          <a:bodyPr wrap="square" rtlCol="0" anchor="ctr"/>
          <a:lstStyle/>
          <a:p>
            <a:pPr marL="0" indent="0" algn="ctr">
              <a:buNone/>
            </a:pPr>
            <a:r>
              <a:rPr lang="en-US" sz="3200" b="1" dirty="0">
                <a:solidFill>
                  <a:srgbClr val="43A99A"/>
                </a:solidFill>
                <a:latin typeface="Calibri" pitchFamily="34" charset="0"/>
                <a:ea typeface="Calibri" pitchFamily="34" charset="-122"/>
                <a:cs typeface="Calibri" pitchFamily="34" charset="-120"/>
              </a:rPr>
              <a:t>Zero</a:t>
            </a:r>
            <a:endParaRPr lang="en-US" sz="3200" dirty="0"/>
          </a:p>
        </p:txBody>
      </p:sp>
      <p:sp>
        <p:nvSpPr>
          <p:cNvPr id="19" name="Text 16"/>
          <p:cNvSpPr/>
          <p:nvPr/>
        </p:nvSpPr>
        <p:spPr>
          <a:xfrm>
            <a:off x="4297680" y="4663440"/>
            <a:ext cx="3063240" cy="777240"/>
          </a:xfrm>
          <a:prstGeom prst="rect">
            <a:avLst/>
          </a:prstGeom>
          <a:noFill/>
          <a:ln/>
        </p:spPr>
        <p:txBody>
          <a:bodyPr wrap="square" rtlCol="0" anchor="ctr"/>
          <a:lstStyle/>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Overdue items without</a:t>
            </a:r>
            <a:endParaRPr lang="en-US" sz="1150" dirty="0"/>
          </a:p>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formal escalation</a:t>
            </a:r>
            <a:endParaRPr lang="en-US" sz="1150" dirty="0"/>
          </a:p>
        </p:txBody>
      </p:sp>
      <p:sp>
        <p:nvSpPr>
          <p:cNvPr id="20" name="Shape 17"/>
          <p:cNvSpPr/>
          <p:nvPr/>
        </p:nvSpPr>
        <p:spPr>
          <a:xfrm>
            <a:off x="7726680" y="3657600"/>
            <a:ext cx="3429000" cy="1874520"/>
          </a:xfrm>
          <a:prstGeom prst="roundRect">
            <a:avLst>
              <a:gd name="adj" fmla="val 3902"/>
            </a:avLst>
          </a:prstGeom>
          <a:solidFill>
            <a:srgbClr val="D9ECE7"/>
          </a:solidFill>
          <a:ln/>
        </p:spPr>
        <p:txBody>
          <a:bodyPr/>
          <a:lstStyle/>
          <a:p>
            <a:endParaRPr lang="en-US"/>
          </a:p>
        </p:txBody>
      </p:sp>
      <p:sp>
        <p:nvSpPr>
          <p:cNvPr id="21" name="Text 18"/>
          <p:cNvSpPr/>
          <p:nvPr/>
        </p:nvSpPr>
        <p:spPr>
          <a:xfrm>
            <a:off x="7726680" y="3822192"/>
            <a:ext cx="3429000" cy="822960"/>
          </a:xfrm>
          <a:prstGeom prst="rect">
            <a:avLst/>
          </a:prstGeom>
          <a:noFill/>
          <a:ln/>
        </p:spPr>
        <p:txBody>
          <a:bodyPr wrap="square" rtlCol="0" anchor="ctr"/>
          <a:lstStyle/>
          <a:p>
            <a:pPr marL="0" indent="0" algn="ctr">
              <a:buNone/>
            </a:pPr>
            <a:r>
              <a:rPr lang="en-US" sz="3200" b="1" dirty="0">
                <a:solidFill>
                  <a:srgbClr val="43A99A"/>
                </a:solidFill>
                <a:latin typeface="Calibri" pitchFamily="34" charset="0"/>
                <a:ea typeface="Calibri" pitchFamily="34" charset="-122"/>
                <a:cs typeface="Calibri" pitchFamily="34" charset="-120"/>
              </a:rPr>
              <a:t>4 / yr</a:t>
            </a:r>
            <a:endParaRPr lang="en-US" sz="3200" dirty="0"/>
          </a:p>
        </p:txBody>
      </p:sp>
      <p:sp>
        <p:nvSpPr>
          <p:cNvPr id="22" name="Text 19"/>
          <p:cNvSpPr/>
          <p:nvPr/>
        </p:nvSpPr>
        <p:spPr>
          <a:xfrm>
            <a:off x="7909560" y="4663440"/>
            <a:ext cx="3063240" cy="777240"/>
          </a:xfrm>
          <a:prstGeom prst="rect">
            <a:avLst/>
          </a:prstGeom>
          <a:noFill/>
          <a:ln/>
        </p:spPr>
        <p:txBody>
          <a:bodyPr wrap="square" rtlCol="0" anchor="ctr"/>
          <a:lstStyle/>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Awareness sessions</a:t>
            </a:r>
            <a:endParaRPr lang="en-US" sz="1150" dirty="0"/>
          </a:p>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(quarterly minimum)</a:t>
            </a:r>
            <a:endParaRPr lang="en-US" sz="115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06</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Assets, Awareness &amp; Closeout</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Protecting what is not ours and keeping every team aligned</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06 · THIRD-PARTY ASSETS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Damage to Third-Party Assets — Prevent &amp; Respond</a:t>
            </a:r>
            <a:endParaRPr lang="en-US" sz="3000" dirty="0"/>
          </a:p>
        </p:txBody>
      </p:sp>
      <p:sp>
        <p:nvSpPr>
          <p:cNvPr id="5" name="Shape 2"/>
          <p:cNvSpPr/>
          <p:nvPr/>
        </p:nvSpPr>
        <p:spPr>
          <a:xfrm>
            <a:off x="502920" y="1281888"/>
            <a:ext cx="5212080" cy="4434840"/>
          </a:xfrm>
          <a:prstGeom prst="roundRect">
            <a:avLst>
              <a:gd name="adj" fmla="val 1649"/>
            </a:avLst>
          </a:prstGeom>
          <a:solidFill>
            <a:srgbClr val="D9ECE7"/>
          </a:solidFill>
          <a:ln/>
        </p:spPr>
        <p:txBody>
          <a:bodyPr/>
          <a:lstStyle/>
          <a:p>
            <a:endParaRPr lang="en-US"/>
          </a:p>
        </p:txBody>
      </p:sp>
      <p:sp>
        <p:nvSpPr>
          <p:cNvPr id="6" name="Text 3"/>
          <p:cNvSpPr/>
          <p:nvPr/>
        </p:nvSpPr>
        <p:spPr>
          <a:xfrm>
            <a:off x="777240" y="1464768"/>
            <a:ext cx="4663440" cy="365760"/>
          </a:xfrm>
          <a:prstGeom prst="rect">
            <a:avLst/>
          </a:prstGeom>
          <a:noFill/>
          <a:ln/>
        </p:spPr>
        <p:txBody>
          <a:bodyPr wrap="square" rtlCol="0" anchor="ctr"/>
          <a:lstStyle/>
          <a:p>
            <a:pPr marL="0" indent="0">
              <a:buNone/>
            </a:pPr>
            <a:r>
              <a:rPr lang="en-US" sz="1500" b="1" dirty="0">
                <a:solidFill>
                  <a:srgbClr val="004549"/>
                </a:solidFill>
                <a:latin typeface="Calibri" pitchFamily="34" charset="0"/>
                <a:ea typeface="Calibri" pitchFamily="34" charset="-122"/>
                <a:cs typeface="Calibri" pitchFamily="34" charset="-120"/>
              </a:rPr>
              <a:t>Third-Party Assets at Risk</a:t>
            </a:r>
            <a:endParaRPr lang="en-US" sz="1500" dirty="0"/>
          </a:p>
        </p:txBody>
      </p:sp>
      <p:sp>
        <p:nvSpPr>
          <p:cNvPr id="7" name="Shape 4"/>
          <p:cNvSpPr/>
          <p:nvPr/>
        </p:nvSpPr>
        <p:spPr>
          <a:xfrm>
            <a:off x="822960" y="2040840"/>
            <a:ext cx="82296" cy="82296"/>
          </a:xfrm>
          <a:prstGeom prst="ellipse">
            <a:avLst/>
          </a:prstGeom>
          <a:solidFill>
            <a:srgbClr val="43A99A"/>
          </a:solidFill>
          <a:ln/>
        </p:spPr>
        <p:txBody>
          <a:bodyPr/>
          <a:lstStyle/>
          <a:p>
            <a:endParaRPr lang="en-US"/>
          </a:p>
        </p:txBody>
      </p:sp>
      <p:sp>
        <p:nvSpPr>
          <p:cNvPr id="8" name="Text 5"/>
          <p:cNvSpPr/>
          <p:nvPr/>
        </p:nvSpPr>
        <p:spPr>
          <a:xfrm>
            <a:off x="1051560" y="1912824"/>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Underground power &amp; HV cables</a:t>
            </a:r>
            <a:endParaRPr lang="en-US" sz="1200" dirty="0"/>
          </a:p>
        </p:txBody>
      </p:sp>
      <p:sp>
        <p:nvSpPr>
          <p:cNvPr id="9" name="Shape 6"/>
          <p:cNvSpPr/>
          <p:nvPr/>
        </p:nvSpPr>
        <p:spPr>
          <a:xfrm>
            <a:off x="822960" y="2607768"/>
            <a:ext cx="82296" cy="82296"/>
          </a:xfrm>
          <a:prstGeom prst="ellipse">
            <a:avLst/>
          </a:prstGeom>
          <a:solidFill>
            <a:srgbClr val="43A99A"/>
          </a:solidFill>
          <a:ln/>
        </p:spPr>
        <p:txBody>
          <a:bodyPr/>
          <a:lstStyle/>
          <a:p>
            <a:endParaRPr lang="en-US"/>
          </a:p>
        </p:txBody>
      </p:sp>
      <p:sp>
        <p:nvSpPr>
          <p:cNvPr id="10" name="Text 7"/>
          <p:cNvSpPr/>
          <p:nvPr/>
        </p:nvSpPr>
        <p:spPr>
          <a:xfrm>
            <a:off x="1051560" y="2479752"/>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Water, sewer &amp; stormwater networks</a:t>
            </a:r>
            <a:endParaRPr lang="en-US" sz="1200" dirty="0"/>
          </a:p>
        </p:txBody>
      </p:sp>
      <p:sp>
        <p:nvSpPr>
          <p:cNvPr id="11" name="Shape 8"/>
          <p:cNvSpPr/>
          <p:nvPr/>
        </p:nvSpPr>
        <p:spPr>
          <a:xfrm>
            <a:off x="822960" y="3174696"/>
            <a:ext cx="82296" cy="82296"/>
          </a:xfrm>
          <a:prstGeom prst="ellipse">
            <a:avLst/>
          </a:prstGeom>
          <a:solidFill>
            <a:srgbClr val="43A99A"/>
          </a:solidFill>
          <a:ln/>
        </p:spPr>
        <p:txBody>
          <a:bodyPr/>
          <a:lstStyle/>
          <a:p>
            <a:endParaRPr lang="en-US"/>
          </a:p>
        </p:txBody>
      </p:sp>
      <p:sp>
        <p:nvSpPr>
          <p:cNvPr id="12" name="Text 9"/>
          <p:cNvSpPr/>
          <p:nvPr/>
        </p:nvSpPr>
        <p:spPr>
          <a:xfrm>
            <a:off x="1051560" y="3046680"/>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Telecom &amp; fiber-optic networks</a:t>
            </a:r>
            <a:endParaRPr lang="en-US" sz="1200" dirty="0"/>
          </a:p>
        </p:txBody>
      </p:sp>
      <p:sp>
        <p:nvSpPr>
          <p:cNvPr id="13" name="Shape 10"/>
          <p:cNvSpPr/>
          <p:nvPr/>
        </p:nvSpPr>
        <p:spPr>
          <a:xfrm>
            <a:off x="822960" y="3741624"/>
            <a:ext cx="82296" cy="82296"/>
          </a:xfrm>
          <a:prstGeom prst="ellipse">
            <a:avLst/>
          </a:prstGeom>
          <a:solidFill>
            <a:srgbClr val="43A99A"/>
          </a:solidFill>
          <a:ln/>
        </p:spPr>
        <p:txBody>
          <a:bodyPr/>
          <a:lstStyle/>
          <a:p>
            <a:endParaRPr lang="en-US"/>
          </a:p>
        </p:txBody>
      </p:sp>
      <p:sp>
        <p:nvSpPr>
          <p:cNvPr id="14" name="Text 11"/>
          <p:cNvSpPr/>
          <p:nvPr/>
        </p:nvSpPr>
        <p:spPr>
          <a:xfrm>
            <a:off x="1051560" y="3613608"/>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Gas / fuel pipelines, chambers &amp; valves</a:t>
            </a:r>
            <a:endParaRPr lang="en-US" sz="1200" dirty="0"/>
          </a:p>
        </p:txBody>
      </p:sp>
      <p:sp>
        <p:nvSpPr>
          <p:cNvPr id="15" name="Shape 12"/>
          <p:cNvSpPr/>
          <p:nvPr/>
        </p:nvSpPr>
        <p:spPr>
          <a:xfrm>
            <a:off x="822960" y="4308552"/>
            <a:ext cx="82296" cy="82296"/>
          </a:xfrm>
          <a:prstGeom prst="ellipse">
            <a:avLst/>
          </a:prstGeom>
          <a:solidFill>
            <a:srgbClr val="43A99A"/>
          </a:solidFill>
          <a:ln/>
        </p:spPr>
        <p:txBody>
          <a:bodyPr/>
          <a:lstStyle/>
          <a:p>
            <a:endParaRPr lang="en-US"/>
          </a:p>
        </p:txBody>
      </p:sp>
      <p:sp>
        <p:nvSpPr>
          <p:cNvPr id="16" name="Text 13"/>
          <p:cNvSpPr/>
          <p:nvPr/>
        </p:nvSpPr>
        <p:spPr>
          <a:xfrm>
            <a:off x="1051560" y="4180536"/>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Roads, pavements &amp; public infrastructure</a:t>
            </a:r>
            <a:endParaRPr lang="en-US" sz="1200" dirty="0"/>
          </a:p>
        </p:txBody>
      </p:sp>
      <p:sp>
        <p:nvSpPr>
          <p:cNvPr id="17" name="Shape 14"/>
          <p:cNvSpPr/>
          <p:nvPr/>
        </p:nvSpPr>
        <p:spPr>
          <a:xfrm>
            <a:off x="822960" y="4875480"/>
            <a:ext cx="82296" cy="82296"/>
          </a:xfrm>
          <a:prstGeom prst="ellipse">
            <a:avLst/>
          </a:prstGeom>
          <a:solidFill>
            <a:srgbClr val="43A99A"/>
          </a:solidFill>
          <a:ln/>
        </p:spPr>
        <p:txBody>
          <a:bodyPr/>
          <a:lstStyle/>
          <a:p>
            <a:endParaRPr lang="en-US"/>
          </a:p>
        </p:txBody>
      </p:sp>
      <p:sp>
        <p:nvSpPr>
          <p:cNvPr id="18" name="Text 15"/>
          <p:cNvSpPr/>
          <p:nvPr/>
        </p:nvSpPr>
        <p:spPr>
          <a:xfrm>
            <a:off x="1051560" y="4747464"/>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Adjacent contractor &amp; private property</a:t>
            </a:r>
            <a:endParaRPr lang="en-US" sz="1200" dirty="0"/>
          </a:p>
        </p:txBody>
      </p:sp>
      <p:sp>
        <p:nvSpPr>
          <p:cNvPr id="19" name="Text 16"/>
          <p:cNvSpPr/>
          <p:nvPr/>
        </p:nvSpPr>
        <p:spPr>
          <a:xfrm>
            <a:off x="777240" y="5259528"/>
            <a:ext cx="4663440" cy="457200"/>
          </a:xfrm>
          <a:prstGeom prst="rect">
            <a:avLst/>
          </a:prstGeom>
          <a:noFill/>
          <a:ln/>
        </p:spPr>
        <p:txBody>
          <a:bodyPr wrap="square" rtlCol="0" anchor="ctr"/>
          <a:lstStyle/>
          <a:p>
            <a:pPr marL="0" indent="0">
              <a:buNone/>
            </a:pPr>
            <a:r>
              <a:rPr lang="en-US" sz="1000" i="1" dirty="0">
                <a:solidFill>
                  <a:srgbClr val="5A626E"/>
                </a:solidFill>
                <a:latin typeface="Calibri" pitchFamily="34" charset="0"/>
                <a:ea typeface="Calibri" pitchFamily="34" charset="-122"/>
                <a:cs typeface="Calibri" pitchFamily="34" charset="-120"/>
              </a:rPr>
              <a:t>Prevention: utility detection and trial pits, marking, PTW, RA/JSA, toolbox talks, certified equipment, competent operators, supervision and coordination with utility owners.</a:t>
            </a:r>
            <a:endParaRPr lang="en-US" sz="1000" dirty="0"/>
          </a:p>
        </p:txBody>
      </p:sp>
      <p:sp>
        <p:nvSpPr>
          <p:cNvPr id="20" name="Shape 17"/>
          <p:cNvSpPr/>
          <p:nvPr/>
        </p:nvSpPr>
        <p:spPr>
          <a:xfrm>
            <a:off x="5989320" y="1247380"/>
            <a:ext cx="5715000" cy="4709160"/>
          </a:xfrm>
          <a:prstGeom prst="roundRect">
            <a:avLst>
              <a:gd name="adj" fmla="val 1649"/>
            </a:avLst>
          </a:prstGeom>
          <a:solidFill>
            <a:srgbClr val="FFFFFF"/>
          </a:solidFill>
          <a:ln w="12700">
            <a:solidFill>
              <a:srgbClr val="DCEAE7"/>
            </a:solidFill>
            <a:prstDash val="solid"/>
          </a:ln>
        </p:spPr>
        <p:txBody>
          <a:bodyPr/>
          <a:lstStyle/>
          <a:p>
            <a:endParaRPr lang="en-US"/>
          </a:p>
        </p:txBody>
      </p:sp>
      <p:sp>
        <p:nvSpPr>
          <p:cNvPr id="21" name="Text 18"/>
          <p:cNvSpPr/>
          <p:nvPr/>
        </p:nvSpPr>
        <p:spPr>
          <a:xfrm>
            <a:off x="6263640" y="1430260"/>
            <a:ext cx="5120640" cy="365760"/>
          </a:xfrm>
          <a:prstGeom prst="rect">
            <a:avLst/>
          </a:prstGeom>
          <a:noFill/>
          <a:ln/>
        </p:spPr>
        <p:txBody>
          <a:bodyPr wrap="square" rtlCol="0" anchor="ctr"/>
          <a:lstStyle/>
          <a:p>
            <a:pPr marL="0" indent="0">
              <a:buNone/>
            </a:pPr>
            <a:r>
              <a:rPr lang="en-US" sz="1500" b="1" dirty="0">
                <a:solidFill>
                  <a:srgbClr val="004549"/>
                </a:solidFill>
                <a:latin typeface="Calibri" pitchFamily="34" charset="0"/>
                <a:ea typeface="Calibri" pitchFamily="34" charset="-122"/>
                <a:cs typeface="Calibri" pitchFamily="34" charset="-120"/>
              </a:rPr>
              <a:t>Immediate Response</a:t>
            </a:r>
            <a:endParaRPr lang="en-US" sz="1500" dirty="0"/>
          </a:p>
        </p:txBody>
      </p:sp>
      <p:sp>
        <p:nvSpPr>
          <p:cNvPr id="22" name="Shape 19"/>
          <p:cNvSpPr/>
          <p:nvPr/>
        </p:nvSpPr>
        <p:spPr>
          <a:xfrm>
            <a:off x="6263640" y="1933180"/>
            <a:ext cx="1481328" cy="502920"/>
          </a:xfrm>
          <a:prstGeom prst="roundRect">
            <a:avLst>
              <a:gd name="adj" fmla="val 49091"/>
            </a:avLst>
          </a:prstGeom>
          <a:solidFill>
            <a:srgbClr val="43A99A"/>
          </a:solidFill>
          <a:ln/>
        </p:spPr>
        <p:txBody>
          <a:bodyPr/>
          <a:lstStyle/>
          <a:p>
            <a:endParaRPr lang="en-US"/>
          </a:p>
        </p:txBody>
      </p:sp>
      <p:sp>
        <p:nvSpPr>
          <p:cNvPr id="23" name="Text 20"/>
          <p:cNvSpPr/>
          <p:nvPr/>
        </p:nvSpPr>
        <p:spPr>
          <a:xfrm>
            <a:off x="6263640" y="1933180"/>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Stop</a:t>
            </a:r>
            <a:endParaRPr lang="en-US" sz="1050" dirty="0"/>
          </a:p>
        </p:txBody>
      </p:sp>
      <p:sp>
        <p:nvSpPr>
          <p:cNvPr id="24" name="Shape 21"/>
          <p:cNvSpPr/>
          <p:nvPr/>
        </p:nvSpPr>
        <p:spPr>
          <a:xfrm>
            <a:off x="7891272" y="1933180"/>
            <a:ext cx="1481328" cy="502920"/>
          </a:xfrm>
          <a:prstGeom prst="roundRect">
            <a:avLst>
              <a:gd name="adj" fmla="val 49091"/>
            </a:avLst>
          </a:prstGeom>
          <a:solidFill>
            <a:srgbClr val="43A99A"/>
          </a:solidFill>
          <a:ln/>
        </p:spPr>
        <p:txBody>
          <a:bodyPr/>
          <a:lstStyle/>
          <a:p>
            <a:endParaRPr lang="en-US"/>
          </a:p>
        </p:txBody>
      </p:sp>
      <p:sp>
        <p:nvSpPr>
          <p:cNvPr id="25" name="Text 22"/>
          <p:cNvSpPr/>
          <p:nvPr/>
        </p:nvSpPr>
        <p:spPr>
          <a:xfrm>
            <a:off x="7891272" y="1933180"/>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Secure</a:t>
            </a:r>
            <a:endParaRPr lang="en-US" sz="1050" dirty="0"/>
          </a:p>
        </p:txBody>
      </p:sp>
      <p:sp>
        <p:nvSpPr>
          <p:cNvPr id="26" name="Shape 23"/>
          <p:cNvSpPr/>
          <p:nvPr/>
        </p:nvSpPr>
        <p:spPr>
          <a:xfrm>
            <a:off x="9518904" y="1933180"/>
            <a:ext cx="1481328" cy="502920"/>
          </a:xfrm>
          <a:prstGeom prst="roundRect">
            <a:avLst>
              <a:gd name="adj" fmla="val 49091"/>
            </a:avLst>
          </a:prstGeom>
          <a:solidFill>
            <a:srgbClr val="43A99A"/>
          </a:solidFill>
          <a:ln/>
        </p:spPr>
        <p:txBody>
          <a:bodyPr/>
          <a:lstStyle/>
          <a:p>
            <a:endParaRPr lang="en-US"/>
          </a:p>
        </p:txBody>
      </p:sp>
      <p:sp>
        <p:nvSpPr>
          <p:cNvPr id="27" name="Text 24"/>
          <p:cNvSpPr/>
          <p:nvPr/>
        </p:nvSpPr>
        <p:spPr>
          <a:xfrm>
            <a:off x="9518904" y="1933180"/>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Protect</a:t>
            </a:r>
            <a:endParaRPr lang="en-US" sz="1050" dirty="0"/>
          </a:p>
        </p:txBody>
      </p:sp>
      <p:sp>
        <p:nvSpPr>
          <p:cNvPr id="28" name="Shape 25"/>
          <p:cNvSpPr/>
          <p:nvPr/>
        </p:nvSpPr>
        <p:spPr>
          <a:xfrm>
            <a:off x="6263640" y="2591548"/>
            <a:ext cx="1481328" cy="502920"/>
          </a:xfrm>
          <a:prstGeom prst="roundRect">
            <a:avLst>
              <a:gd name="adj" fmla="val 49091"/>
            </a:avLst>
          </a:prstGeom>
          <a:solidFill>
            <a:srgbClr val="43A99A"/>
          </a:solidFill>
          <a:ln/>
        </p:spPr>
        <p:txBody>
          <a:bodyPr/>
          <a:lstStyle/>
          <a:p>
            <a:endParaRPr lang="en-US"/>
          </a:p>
        </p:txBody>
      </p:sp>
      <p:sp>
        <p:nvSpPr>
          <p:cNvPr id="29" name="Text 26"/>
          <p:cNvSpPr/>
          <p:nvPr/>
        </p:nvSpPr>
        <p:spPr>
          <a:xfrm>
            <a:off x="6263640" y="2591548"/>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Notify</a:t>
            </a:r>
            <a:endParaRPr lang="en-US" sz="1050" dirty="0"/>
          </a:p>
        </p:txBody>
      </p:sp>
      <p:sp>
        <p:nvSpPr>
          <p:cNvPr id="30" name="Shape 27"/>
          <p:cNvSpPr/>
          <p:nvPr/>
        </p:nvSpPr>
        <p:spPr>
          <a:xfrm>
            <a:off x="7891272" y="2591548"/>
            <a:ext cx="1481328" cy="502920"/>
          </a:xfrm>
          <a:prstGeom prst="roundRect">
            <a:avLst>
              <a:gd name="adj" fmla="val 49091"/>
            </a:avLst>
          </a:prstGeom>
          <a:solidFill>
            <a:srgbClr val="43A99A"/>
          </a:solidFill>
          <a:ln/>
        </p:spPr>
        <p:txBody>
          <a:bodyPr/>
          <a:lstStyle/>
          <a:p>
            <a:endParaRPr lang="en-US"/>
          </a:p>
        </p:txBody>
      </p:sp>
      <p:sp>
        <p:nvSpPr>
          <p:cNvPr id="31" name="Text 28"/>
          <p:cNvSpPr/>
          <p:nvPr/>
        </p:nvSpPr>
        <p:spPr>
          <a:xfrm>
            <a:off x="7891272" y="2591548"/>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Record</a:t>
            </a:r>
            <a:endParaRPr lang="en-US" sz="1050" dirty="0"/>
          </a:p>
        </p:txBody>
      </p:sp>
      <p:sp>
        <p:nvSpPr>
          <p:cNvPr id="32" name="Shape 29"/>
          <p:cNvSpPr/>
          <p:nvPr/>
        </p:nvSpPr>
        <p:spPr>
          <a:xfrm>
            <a:off x="9518904" y="2591548"/>
            <a:ext cx="1481328" cy="502920"/>
          </a:xfrm>
          <a:prstGeom prst="roundRect">
            <a:avLst>
              <a:gd name="adj" fmla="val 49091"/>
            </a:avLst>
          </a:prstGeom>
          <a:solidFill>
            <a:srgbClr val="43A99A"/>
          </a:solidFill>
          <a:ln/>
        </p:spPr>
        <p:txBody>
          <a:bodyPr/>
          <a:lstStyle/>
          <a:p>
            <a:endParaRPr lang="en-US"/>
          </a:p>
        </p:txBody>
      </p:sp>
      <p:sp>
        <p:nvSpPr>
          <p:cNvPr id="33" name="Text 30"/>
          <p:cNvSpPr/>
          <p:nvPr/>
        </p:nvSpPr>
        <p:spPr>
          <a:xfrm>
            <a:off x="9518904" y="2591548"/>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Resume*</a:t>
            </a:r>
            <a:endParaRPr lang="en-US" sz="1050" dirty="0"/>
          </a:p>
        </p:txBody>
      </p:sp>
      <p:sp>
        <p:nvSpPr>
          <p:cNvPr id="34" name="Text 31"/>
          <p:cNvSpPr/>
          <p:nvPr/>
        </p:nvSpPr>
        <p:spPr>
          <a:xfrm>
            <a:off x="6263640" y="3304780"/>
            <a:ext cx="5166360" cy="685800"/>
          </a:xfrm>
          <a:prstGeom prst="rect">
            <a:avLst/>
          </a:prstGeom>
          <a:noFill/>
          <a:ln/>
        </p:spPr>
        <p:txBody>
          <a:bodyPr wrap="square" rtlCol="0" anchor="ctr"/>
          <a:lstStyle/>
          <a:p>
            <a:r>
              <a:rPr lang="en-US" sz="1200" dirty="0">
                <a:solidFill>
                  <a:srgbClr val="2F3235"/>
                </a:solidFill>
                <a:latin typeface="Calibri" pitchFamily="34" charset="0"/>
                <a:ea typeface="Calibri" pitchFamily="34" charset="-122"/>
                <a:cs typeface="Calibri" pitchFamily="34" charset="-120"/>
              </a:rPr>
              <a:t>*Work resumes only after written approval from Project Management. External communication (utility owners, authorities, Civil Defense, Police, media) by authorized management only.</a:t>
            </a:r>
            <a:endParaRPr lang="en-US" sz="1200" dirty="0"/>
          </a:p>
        </p:txBody>
      </p:sp>
      <p:sp>
        <p:nvSpPr>
          <p:cNvPr id="35" name="Text 32"/>
          <p:cNvSpPr/>
          <p:nvPr/>
        </p:nvSpPr>
        <p:spPr>
          <a:xfrm>
            <a:off x="6263640" y="4127740"/>
            <a:ext cx="4572000" cy="32004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Damage categories</a:t>
            </a:r>
            <a:endParaRPr lang="en-US" sz="1250" dirty="0"/>
          </a:p>
        </p:txBody>
      </p:sp>
      <p:sp>
        <p:nvSpPr>
          <p:cNvPr id="36" name="Text 33"/>
          <p:cNvSpPr/>
          <p:nvPr/>
        </p:nvSpPr>
        <p:spPr>
          <a:xfrm>
            <a:off x="6263640" y="4539220"/>
            <a:ext cx="516636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  Minor or major asset damage</a:t>
            </a:r>
            <a:endParaRPr lang="en-US" sz="1100" dirty="0"/>
          </a:p>
        </p:txBody>
      </p:sp>
      <p:sp>
        <p:nvSpPr>
          <p:cNvPr id="37" name="Text 34"/>
          <p:cNvSpPr/>
          <p:nvPr/>
        </p:nvSpPr>
        <p:spPr>
          <a:xfrm>
            <a:off x="6263640" y="4877548"/>
            <a:ext cx="516636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  Utility strike</a:t>
            </a:r>
            <a:endParaRPr lang="en-US" sz="1100" dirty="0"/>
          </a:p>
        </p:txBody>
      </p:sp>
      <p:sp>
        <p:nvSpPr>
          <p:cNvPr id="38" name="Text 35"/>
          <p:cNvSpPr/>
          <p:nvPr/>
        </p:nvSpPr>
        <p:spPr>
          <a:xfrm>
            <a:off x="6263640" y="5215876"/>
            <a:ext cx="516636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  Environmental damage</a:t>
            </a:r>
            <a:endParaRPr lang="en-US" sz="1100" dirty="0"/>
          </a:p>
        </p:txBody>
      </p:sp>
      <p:sp>
        <p:nvSpPr>
          <p:cNvPr id="39" name="Text 36"/>
          <p:cNvSpPr/>
          <p:nvPr/>
        </p:nvSpPr>
        <p:spPr>
          <a:xfrm>
            <a:off x="6263640" y="5554204"/>
            <a:ext cx="516636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  Public, private or critical infrastructure damage</a:t>
            </a:r>
            <a:endParaRPr lang="en-US" sz="1100" dirty="0"/>
          </a:p>
        </p:txBody>
      </p:sp>
      <p:sp>
        <p:nvSpPr>
          <p:cNvPr id="41" name="Text 3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06 · AWARENESS &amp; CLOSURE</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Awareness, Lessons Learned &amp; Our Commitment</a:t>
            </a:r>
            <a:endParaRPr lang="en-US" sz="3000" dirty="0"/>
          </a:p>
        </p:txBody>
      </p:sp>
      <p:sp>
        <p:nvSpPr>
          <p:cNvPr id="5" name="Shape 2"/>
          <p:cNvSpPr/>
          <p:nvPr/>
        </p:nvSpPr>
        <p:spPr>
          <a:xfrm>
            <a:off x="502920" y="1581912"/>
            <a:ext cx="100584" cy="100584"/>
          </a:xfrm>
          <a:prstGeom prst="ellipse">
            <a:avLst/>
          </a:prstGeom>
          <a:solidFill>
            <a:srgbClr val="43A99A"/>
          </a:solidFill>
          <a:ln/>
        </p:spPr>
        <p:txBody>
          <a:bodyPr/>
          <a:lstStyle/>
          <a:p>
            <a:endParaRPr lang="en-US"/>
          </a:p>
        </p:txBody>
      </p:sp>
      <p:sp>
        <p:nvSpPr>
          <p:cNvPr id="6" name="Text 3"/>
          <p:cNvSpPr/>
          <p:nvPr/>
        </p:nvSpPr>
        <p:spPr>
          <a:xfrm>
            <a:off x="749808" y="1463040"/>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Quarterly awareness sessions — plus after phase changes, new subcontractors or incidents.</a:t>
            </a:r>
            <a:endParaRPr lang="en-US" sz="1250" dirty="0"/>
          </a:p>
        </p:txBody>
      </p:sp>
      <p:sp>
        <p:nvSpPr>
          <p:cNvPr id="7" name="Shape 4"/>
          <p:cNvSpPr/>
          <p:nvPr/>
        </p:nvSpPr>
        <p:spPr>
          <a:xfrm>
            <a:off x="502920" y="2093976"/>
            <a:ext cx="100584" cy="100584"/>
          </a:xfrm>
          <a:prstGeom prst="ellipse">
            <a:avLst/>
          </a:prstGeom>
          <a:solidFill>
            <a:srgbClr val="43A99A"/>
          </a:solidFill>
          <a:ln/>
        </p:spPr>
        <p:txBody>
          <a:bodyPr/>
          <a:lstStyle/>
          <a:p>
            <a:endParaRPr lang="en-US"/>
          </a:p>
        </p:txBody>
      </p:sp>
      <p:sp>
        <p:nvSpPr>
          <p:cNvPr id="8" name="Text 5"/>
          <p:cNvSpPr/>
          <p:nvPr/>
        </p:nvSpPr>
        <p:spPr>
          <a:xfrm>
            <a:off x="749808" y="1975104"/>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HSE Manager delivers sessions and records attendance; PM ensures full participation.</a:t>
            </a:r>
            <a:endParaRPr lang="en-US" sz="1250" dirty="0"/>
          </a:p>
        </p:txBody>
      </p:sp>
      <p:sp>
        <p:nvSpPr>
          <p:cNvPr id="9" name="Shape 6"/>
          <p:cNvSpPr/>
          <p:nvPr/>
        </p:nvSpPr>
        <p:spPr>
          <a:xfrm>
            <a:off x="502920" y="2606040"/>
            <a:ext cx="100584" cy="100584"/>
          </a:xfrm>
          <a:prstGeom prst="ellipse">
            <a:avLst/>
          </a:prstGeom>
          <a:solidFill>
            <a:srgbClr val="43A99A"/>
          </a:solidFill>
          <a:ln/>
        </p:spPr>
        <p:txBody>
          <a:bodyPr/>
          <a:lstStyle/>
          <a:p>
            <a:endParaRPr lang="en-US"/>
          </a:p>
        </p:txBody>
      </p:sp>
      <p:sp>
        <p:nvSpPr>
          <p:cNvPr id="10" name="Text 7"/>
          <p:cNvSpPr/>
          <p:nvPr/>
        </p:nvSpPr>
        <p:spPr>
          <a:xfrm>
            <a:off x="749808" y="2487168"/>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Avoid: verbal-only coordination, no owner or date, no follow-up, closure without evidence.</a:t>
            </a:r>
            <a:endParaRPr lang="en-US" sz="1250" dirty="0"/>
          </a:p>
        </p:txBody>
      </p:sp>
      <p:sp>
        <p:nvSpPr>
          <p:cNvPr id="11" name="Shape 8"/>
          <p:cNvSpPr/>
          <p:nvPr/>
        </p:nvSpPr>
        <p:spPr>
          <a:xfrm>
            <a:off x="502920" y="3118104"/>
            <a:ext cx="100584" cy="100584"/>
          </a:xfrm>
          <a:prstGeom prst="ellipse">
            <a:avLst/>
          </a:prstGeom>
          <a:solidFill>
            <a:srgbClr val="43A99A"/>
          </a:solidFill>
          <a:ln/>
        </p:spPr>
        <p:txBody>
          <a:bodyPr/>
          <a:lstStyle/>
          <a:p>
            <a:endParaRPr lang="en-US"/>
          </a:p>
        </p:txBody>
      </p:sp>
      <p:sp>
        <p:nvSpPr>
          <p:cNvPr id="12" name="Text 9"/>
          <p:cNvSpPr/>
          <p:nvPr/>
        </p:nvSpPr>
        <p:spPr>
          <a:xfrm>
            <a:off x="749808" y="2999232"/>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Best practice: register at once, assign an owner, update weekly, close with evidence.</a:t>
            </a:r>
            <a:endParaRPr lang="en-US" sz="1250" dirty="0"/>
          </a:p>
        </p:txBody>
      </p:sp>
      <p:sp>
        <p:nvSpPr>
          <p:cNvPr id="13" name="Shape 10"/>
          <p:cNvSpPr/>
          <p:nvPr/>
        </p:nvSpPr>
        <p:spPr>
          <a:xfrm>
            <a:off x="502920" y="3630168"/>
            <a:ext cx="100584" cy="100584"/>
          </a:xfrm>
          <a:prstGeom prst="ellipse">
            <a:avLst/>
          </a:prstGeom>
          <a:solidFill>
            <a:srgbClr val="43A99A"/>
          </a:solidFill>
          <a:ln/>
        </p:spPr>
        <p:txBody>
          <a:bodyPr/>
          <a:lstStyle/>
          <a:p>
            <a:endParaRPr lang="en-US"/>
          </a:p>
        </p:txBody>
      </p:sp>
      <p:sp>
        <p:nvSpPr>
          <p:cNvPr id="14" name="Text 11"/>
          <p:cNvSpPr/>
          <p:nvPr/>
        </p:nvSpPr>
        <p:spPr>
          <a:xfrm>
            <a:off x="749808" y="3511296"/>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Records retained for the contract period or project duration + 1 year.</a:t>
            </a:r>
            <a:endParaRPr lang="en-US" sz="1250" dirty="0"/>
          </a:p>
        </p:txBody>
      </p:sp>
      <p:sp>
        <p:nvSpPr>
          <p:cNvPr id="15" name="Text 12"/>
          <p:cNvSpPr/>
          <p:nvPr/>
        </p:nvSpPr>
        <p:spPr>
          <a:xfrm>
            <a:off x="502920" y="4178808"/>
            <a:ext cx="5577840" cy="548640"/>
          </a:xfrm>
          <a:prstGeom prst="rect">
            <a:avLst/>
          </a:prstGeom>
          <a:noFill/>
          <a:ln/>
        </p:spPr>
        <p:txBody>
          <a:bodyPr wrap="square" rtlCol="0" anchor="ctr"/>
          <a:lstStyle/>
          <a:p>
            <a:pPr marL="0" indent="0">
              <a:buNone/>
            </a:pPr>
            <a:r>
              <a:rPr lang="en-US" sz="1150" i="1" dirty="0">
                <a:solidFill>
                  <a:srgbClr val="5A626E"/>
                </a:solidFill>
                <a:latin typeface="Calibri" pitchFamily="34" charset="0"/>
                <a:ea typeface="Calibri" pitchFamily="34" charset="-122"/>
                <a:cs typeface="Calibri" pitchFamily="34" charset="-120"/>
              </a:rPr>
              <a:t>No interface point is closed until it is verified, evidenced in Aconex and signed off by all parties.</a:t>
            </a:r>
            <a:endParaRPr lang="en-US" sz="1150" dirty="0"/>
          </a:p>
        </p:txBody>
      </p:sp>
      <p:sp>
        <p:nvSpPr>
          <p:cNvPr id="16" name="Shape 13"/>
          <p:cNvSpPr/>
          <p:nvPr/>
        </p:nvSpPr>
        <p:spPr>
          <a:xfrm>
            <a:off x="6446520" y="1508760"/>
            <a:ext cx="5257800" cy="4251960"/>
          </a:xfrm>
          <a:prstGeom prst="roundRect">
            <a:avLst>
              <a:gd name="adj" fmla="val 2151"/>
            </a:avLst>
          </a:prstGeom>
          <a:solidFill>
            <a:srgbClr val="004549"/>
          </a:solidFill>
          <a:ln/>
        </p:spPr>
        <p:txBody>
          <a:bodyPr/>
          <a:lstStyle/>
          <a:p>
            <a:endParaRPr lang="en-US"/>
          </a:p>
        </p:txBody>
      </p:sp>
      <p:sp>
        <p:nvSpPr>
          <p:cNvPr id="17" name="Text 14"/>
          <p:cNvSpPr/>
          <p:nvPr/>
        </p:nvSpPr>
        <p:spPr>
          <a:xfrm>
            <a:off x="6720840" y="1600200"/>
            <a:ext cx="914400" cy="914400"/>
          </a:xfrm>
          <a:prstGeom prst="rect">
            <a:avLst/>
          </a:prstGeom>
          <a:noFill/>
          <a:ln/>
        </p:spPr>
        <p:txBody>
          <a:bodyPr wrap="square" rtlCol="0" anchor="ctr"/>
          <a:lstStyle/>
          <a:p>
            <a:pPr marL="0" indent="0">
              <a:buNone/>
            </a:pPr>
            <a:r>
              <a:rPr lang="en-US" sz="6000" b="1" dirty="0">
                <a:solidFill>
                  <a:srgbClr val="8FCFC3"/>
                </a:solidFill>
                <a:latin typeface="Calibri" pitchFamily="34" charset="0"/>
                <a:ea typeface="Calibri" pitchFamily="34" charset="-122"/>
                <a:cs typeface="Calibri" pitchFamily="34" charset="-120"/>
              </a:rPr>
              <a:t>“</a:t>
            </a:r>
            <a:endParaRPr lang="en-US" sz="6000" dirty="0"/>
          </a:p>
        </p:txBody>
      </p:sp>
      <p:sp>
        <p:nvSpPr>
          <p:cNvPr id="18" name="Text 15"/>
          <p:cNvSpPr/>
          <p:nvPr/>
        </p:nvSpPr>
        <p:spPr>
          <a:xfrm>
            <a:off x="6903720" y="2514600"/>
            <a:ext cx="4572000" cy="1463040"/>
          </a:xfrm>
          <a:prstGeom prst="rect">
            <a:avLst/>
          </a:prstGeom>
          <a:noFill/>
          <a:ln/>
        </p:spPr>
        <p:txBody>
          <a:bodyPr wrap="square" rtlCol="0" anchor="ctr"/>
          <a:lstStyle/>
          <a:p>
            <a:pPr marL="0" indent="0">
              <a:lnSpc>
                <a:spcPts val="2200"/>
              </a:lnSpc>
              <a:buNone/>
            </a:pPr>
            <a:r>
              <a:rPr lang="en-US" sz="1700" b="1" i="1" dirty="0">
                <a:solidFill>
                  <a:srgbClr val="FFFFFF"/>
                </a:solidFill>
                <a:latin typeface="Calibri" pitchFamily="34" charset="0"/>
                <a:ea typeface="Calibri" pitchFamily="34" charset="-122"/>
                <a:cs typeface="Calibri" pitchFamily="34" charset="-120"/>
              </a:rPr>
              <a:t>MAH manages interfaces as an integrated project-control function — identified early, owned, tracked and closed with evidence.</a:t>
            </a:r>
            <a:endParaRPr lang="en-US" sz="1700" dirty="0"/>
          </a:p>
        </p:txBody>
      </p:sp>
      <p:sp>
        <p:nvSpPr>
          <p:cNvPr id="19" name="Text 16"/>
          <p:cNvSpPr/>
          <p:nvPr/>
        </p:nvSpPr>
        <p:spPr>
          <a:xfrm>
            <a:off x="6903720" y="4160520"/>
            <a:ext cx="4572000" cy="1371600"/>
          </a:xfrm>
          <a:prstGeom prst="rect">
            <a:avLst/>
          </a:prstGeom>
          <a:noFill/>
          <a:ln/>
        </p:spPr>
        <p:txBody>
          <a:bodyPr wrap="square" rtlCol="0" anchor="ctr"/>
          <a:lstStyle/>
          <a:p>
            <a:pPr marL="0" indent="0">
              <a:lnSpc>
                <a:spcPts val="1600"/>
              </a:lnSpc>
              <a:buNone/>
            </a:pPr>
            <a:r>
              <a:rPr lang="en-US" sz="1200" dirty="0">
                <a:solidFill>
                  <a:srgbClr val="CFE6E1"/>
                </a:solidFill>
                <a:latin typeface="Calibri" pitchFamily="34" charset="0"/>
                <a:ea typeface="Calibri" pitchFamily="34" charset="-122"/>
                <a:cs typeface="Calibri" pitchFamily="34" charset="-120"/>
              </a:rPr>
              <a:t>Management provides the leadership, resources and guidance to apply this policy on every E&amp;C project — minimizing risks, avoiding delays and optimizing resources.</a:t>
            </a:r>
            <a:endParaRPr lang="en-US" sz="1200" dirty="0"/>
          </a:p>
        </p:txBody>
      </p:sp>
      <p:sp>
        <p:nvSpPr>
          <p:cNvPr id="21" name="Text 1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assets/bg_cover.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3886200"/>
            <a:ext cx="7315200" cy="91440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Thank You</a:t>
            </a:r>
            <a:endParaRPr lang="en-US" sz="3800" dirty="0"/>
          </a:p>
        </p:txBody>
      </p:sp>
      <p:sp>
        <p:nvSpPr>
          <p:cNvPr id="4" name="Text 1"/>
          <p:cNvSpPr/>
          <p:nvPr/>
        </p:nvSpPr>
        <p:spPr>
          <a:xfrm>
            <a:off x="822960" y="4709160"/>
            <a:ext cx="7315200" cy="548640"/>
          </a:xfrm>
          <a:prstGeom prst="rect">
            <a:avLst/>
          </a:prstGeom>
          <a:noFill/>
          <a:ln/>
        </p:spPr>
        <p:txBody>
          <a:bodyPr wrap="square" rtlCol="0" anchor="ctr"/>
          <a:lstStyle/>
          <a:p>
            <a:pPr marL="0" indent="0">
              <a:buNone/>
            </a:pPr>
            <a:r>
              <a:rPr lang="en-US" sz="1600" dirty="0">
                <a:solidFill>
                  <a:srgbClr val="8FCFC3"/>
                </a:solidFill>
                <a:latin typeface="Calibri" pitchFamily="34" charset="0"/>
                <a:ea typeface="Calibri" pitchFamily="34" charset="-122"/>
                <a:cs typeface="Calibri" pitchFamily="34" charset="-120"/>
              </a:rPr>
              <a:t>Questions &amp; Discussion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7B49EA6-D788-4A2F-B966-9F6636B915A7}">
  <we:reference id="WA200010215" version="2.0.0.0" store="Omex" storeType="OMEX"/>
  <we:alternateReferences>
    <we:reference id="WA200010215" version="2.0.0.0" store="WA200010215" storeType="OMEX"/>
  </we:alternateReferences>
  <we:properties>
    <we:property name="bps.codex_control.document_id" value="&quot;1a02bc72-28e1-414d-9158-fdc170f5b15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173</TotalTime>
  <Words>4212</Words>
  <Application>Microsoft Office PowerPoint</Application>
  <PresentationFormat>Widescreen</PresentationFormat>
  <Paragraphs>626</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Ahmed Ashraf Youssef</cp:lastModifiedBy>
  <cp:revision>3</cp:revision>
  <dcterms:created xsi:type="dcterms:W3CDTF">2026-08-22T19:36:30Z</dcterms:created>
  <dcterms:modified xsi:type="dcterms:W3CDTF">2026-09-27T14:42:21Z</dcterms:modified>
</cp:coreProperties>
</file>