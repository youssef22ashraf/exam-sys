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0" r:id="rId5"/>
    <p:sldId id="284" r:id="rId6"/>
    <p:sldId id="285" r:id="rId7"/>
    <p:sldId id="268" r:id="rId8"/>
    <p:sldId id="278" r:id="rId9"/>
    <p:sldId id="26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843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procedure. Open floor now — questions on any role, any gate, any interface we covered. If something wasn't clear or you think a step is missing for your specific project, raise it now so we can fold it into the project-specific LMP rather than finding out on site.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assets/bg_dark.jpe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3127248"/>
            <a:ext cx="9601200" cy="566928"/>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INTERFACE MANAGEMENT</a:t>
            </a:r>
            <a:endParaRPr lang="en-US" sz="3200" dirty="0"/>
          </a:p>
        </p:txBody>
      </p:sp>
      <p:sp>
        <p:nvSpPr>
          <p:cNvPr id="4" name="Text 1"/>
          <p:cNvSpPr txBox="1"/>
          <p:nvPr/>
        </p:nvSpPr>
        <p:spPr>
          <a:xfrm>
            <a:off x="822960" y="3675888"/>
            <a:ext cx="9601200" cy="530352"/>
          </a:xfrm>
          <a:prstGeom prst="rect">
            <a:avLst/>
          </a:prstGeom>
          <a:noFill/>
          <a:ln/>
        </p:spPr>
        <p:txBody>
          <a:bodyPr wrap="square" lIns="0" tIns="0" rIns="0" bIns="0" rtlCol="0" anchor="ctr"/>
          <a:lstStyle/>
          <a:p>
            <a:pPr marL="0" indent="0">
              <a:buNone/>
            </a:pPr>
            <a:r>
              <a:rPr lang="en-US" sz="3200" b="1" dirty="0">
                <a:solidFill>
                  <a:srgbClr val="43A99A"/>
                </a:solidFill>
                <a:latin typeface="Calibri" pitchFamily="34" charset="0"/>
                <a:ea typeface="Calibri" pitchFamily="34" charset="-122"/>
                <a:cs typeface="Calibri" pitchFamily="34" charset="-120"/>
              </a:rPr>
              <a:t>vs. STAKEHOLDER MANAGEMENT</a:t>
            </a:r>
            <a:endParaRPr lang="en-US" sz="3200" dirty="0"/>
          </a:p>
        </p:txBody>
      </p:sp>
      <p:sp>
        <p:nvSpPr>
          <p:cNvPr id="5" name="Shape 2"/>
          <p:cNvSpPr/>
          <p:nvPr/>
        </p:nvSpPr>
        <p:spPr>
          <a:xfrm>
            <a:off x="841248" y="4443984"/>
            <a:ext cx="1234440" cy="0"/>
          </a:xfrm>
          <a:prstGeom prst="line">
            <a:avLst/>
          </a:prstGeom>
          <a:noFill/>
          <a:ln w="38100">
            <a:solidFill>
              <a:srgbClr val="43A99A"/>
            </a:solidFill>
            <a:prstDash val="solid"/>
          </a:ln>
        </p:spPr>
        <p:txBody>
          <a:bodyPr/>
          <a:lstStyle/>
          <a:p>
            <a:endParaRPr lang="en-US"/>
          </a:p>
        </p:txBody>
      </p:sp>
      <p:sp>
        <p:nvSpPr>
          <p:cNvPr id="6" name="Text 3"/>
          <p:cNvSpPr txBox="1"/>
          <p:nvPr/>
        </p:nvSpPr>
        <p:spPr>
          <a:xfrm>
            <a:off x="822960" y="4663440"/>
            <a:ext cx="9052560" cy="4114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 comparative analysis of two complementary MAH governance systems</a:t>
            </a:r>
            <a:endParaRPr lang="en-US" sz="1700" dirty="0"/>
          </a:p>
        </p:txBody>
      </p:sp>
      <p:sp>
        <p:nvSpPr>
          <p:cNvPr id="7" name="Text 4"/>
          <p:cNvSpPr txBox="1"/>
          <p:nvPr/>
        </p:nvSpPr>
        <p:spPr>
          <a:xfrm>
            <a:off x="822960" y="5074920"/>
            <a:ext cx="9052560" cy="457200"/>
          </a:xfrm>
          <a:prstGeom prst="rect">
            <a:avLst/>
          </a:prstGeom>
          <a:noFill/>
          <a:ln/>
        </p:spPr>
        <p:txBody>
          <a:bodyPr wrap="square" lIns="0" tIns="0" rIns="0" bIns="0" rtlCol="0" anchor="ctr"/>
          <a:lstStyle/>
          <a:p>
            <a:pPr marL="0" indent="0">
              <a:lnSpc>
                <a:spcPct val="110000"/>
              </a:lnSpc>
              <a:buNone/>
            </a:pPr>
            <a:r>
              <a:rPr lang="en-US" sz="1250" dirty="0">
                <a:solidFill>
                  <a:srgbClr val="8FCFC3"/>
                </a:solidFill>
                <a:latin typeface="Calibri" pitchFamily="34" charset="0"/>
                <a:ea typeface="Calibri" pitchFamily="34" charset="-122"/>
                <a:cs typeface="Calibri" pitchFamily="34" charset="-120"/>
              </a:rPr>
              <a:t>How the Engineering &amp; Construction Sector coordinates technical connection points and stakeholder relationships across project delivery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work/assets/bg_teal.jpe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1600200"/>
            <a:ext cx="54864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txBox="1"/>
          <p:nvPr/>
        </p:nvSpPr>
        <p:spPr>
          <a:xfrm>
            <a:off x="822960" y="2468880"/>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01</a:t>
            </a:r>
            <a:endParaRPr lang="en-US" sz="1500" dirty="0"/>
          </a:p>
        </p:txBody>
      </p:sp>
      <p:sp>
        <p:nvSpPr>
          <p:cNvPr id="6" name="Text 3"/>
          <p:cNvSpPr txBox="1"/>
          <p:nvPr/>
        </p:nvSpPr>
        <p:spPr>
          <a:xfrm>
            <a:off x="822960" y="2926080"/>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02</a:t>
            </a:r>
            <a:endParaRPr lang="en-US" sz="1500" dirty="0"/>
          </a:p>
        </p:txBody>
      </p:sp>
      <p:sp>
        <p:nvSpPr>
          <p:cNvPr id="7" name="Text 4"/>
          <p:cNvSpPr txBox="1"/>
          <p:nvPr/>
        </p:nvSpPr>
        <p:spPr>
          <a:xfrm>
            <a:off x="1389888" y="2560320"/>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core distinction</a:t>
            </a:r>
            <a:endParaRPr lang="en-US" sz="1400" dirty="0"/>
          </a:p>
        </p:txBody>
      </p:sp>
      <p:sp>
        <p:nvSpPr>
          <p:cNvPr id="8" name="Text 5"/>
          <p:cNvSpPr txBox="1"/>
          <p:nvPr/>
        </p:nvSpPr>
        <p:spPr>
          <a:xfrm>
            <a:off x="822960" y="3383280"/>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03</a:t>
            </a:r>
            <a:endParaRPr lang="en-US" sz="1500" dirty="0"/>
          </a:p>
        </p:txBody>
      </p:sp>
      <p:sp>
        <p:nvSpPr>
          <p:cNvPr id="9" name="Text 6"/>
          <p:cNvSpPr txBox="1"/>
          <p:nvPr/>
        </p:nvSpPr>
        <p:spPr>
          <a:xfrm>
            <a:off x="1389888" y="2990778"/>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Scope and structure, side by side</a:t>
            </a:r>
            <a:endParaRPr lang="en-US" sz="1400" dirty="0"/>
          </a:p>
        </p:txBody>
      </p:sp>
      <p:sp>
        <p:nvSpPr>
          <p:cNvPr id="10" name="Text 7"/>
          <p:cNvSpPr txBox="1"/>
          <p:nvPr/>
        </p:nvSpPr>
        <p:spPr>
          <a:xfrm>
            <a:off x="822960" y="3840480"/>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04</a:t>
            </a:r>
            <a:endParaRPr lang="en-US" sz="1500" dirty="0"/>
          </a:p>
        </p:txBody>
      </p:sp>
      <p:sp>
        <p:nvSpPr>
          <p:cNvPr id="11" name="Text 8"/>
          <p:cNvSpPr txBox="1"/>
          <p:nvPr/>
        </p:nvSpPr>
        <p:spPr>
          <a:xfrm>
            <a:off x="1389888" y="3474720"/>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Roles: shared vs. system-specific</a:t>
            </a:r>
            <a:endParaRPr lang="en-US" sz="1400" dirty="0"/>
          </a:p>
        </p:txBody>
      </p:sp>
      <p:sp>
        <p:nvSpPr>
          <p:cNvPr id="12" name="Text 9"/>
          <p:cNvSpPr txBox="1"/>
          <p:nvPr/>
        </p:nvSpPr>
        <p:spPr>
          <a:xfrm>
            <a:off x="822960" y="4297680"/>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05</a:t>
            </a:r>
            <a:endParaRPr lang="en-US" sz="1500" dirty="0"/>
          </a:p>
        </p:txBody>
      </p:sp>
      <p:sp>
        <p:nvSpPr>
          <p:cNvPr id="14" name="Text 11"/>
          <p:cNvSpPr txBox="1"/>
          <p:nvPr/>
        </p:nvSpPr>
        <p:spPr>
          <a:xfrm>
            <a:off x="800100" y="4709161"/>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06</a:t>
            </a:r>
            <a:endParaRPr lang="en-US" sz="1500" dirty="0"/>
          </a:p>
        </p:txBody>
      </p:sp>
      <p:sp>
        <p:nvSpPr>
          <p:cNvPr id="16" name="Text 13"/>
          <p:cNvSpPr txBox="1"/>
          <p:nvPr/>
        </p:nvSpPr>
        <p:spPr>
          <a:xfrm>
            <a:off x="800100" y="5154284"/>
            <a:ext cx="502920" cy="365760"/>
          </a:xfrm>
          <a:prstGeom prst="rect">
            <a:avLst/>
          </a:prstGeom>
          <a:noFill/>
          <a:ln/>
        </p:spPr>
        <p:txBody>
          <a:bodyPr wrap="square" lIns="0" tIns="0" rIns="0" bIns="0" rtlCol="0" anchor="ctr"/>
          <a:lstStyle/>
          <a:p>
            <a:pPr marL="0" indent="0">
              <a:buNone/>
            </a:pPr>
            <a:r>
              <a:rPr lang="en-US" sz="1500" b="1" dirty="0">
                <a:solidFill>
                  <a:srgbClr val="8FCFC3"/>
                </a:solidFill>
                <a:latin typeface="Calibri" pitchFamily="34" charset="0"/>
                <a:ea typeface="Calibri" pitchFamily="34" charset="-122"/>
                <a:cs typeface="Calibri" pitchFamily="34" charset="-120"/>
              </a:rPr>
              <a:t>07</a:t>
            </a:r>
            <a:endParaRPr lang="en-US" sz="1500" dirty="0"/>
          </a:p>
        </p:txBody>
      </p:sp>
      <p:sp>
        <p:nvSpPr>
          <p:cNvPr id="17" name="Text 14"/>
          <p:cNvSpPr txBox="1"/>
          <p:nvPr/>
        </p:nvSpPr>
        <p:spPr>
          <a:xfrm>
            <a:off x="1389888" y="3931057"/>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Where the two systems intersect</a:t>
            </a:r>
            <a:endParaRPr lang="en-US" sz="1400" dirty="0"/>
          </a:p>
        </p:txBody>
      </p:sp>
      <p:sp>
        <p:nvSpPr>
          <p:cNvPr id="19" name="Text 16"/>
          <p:cNvSpPr txBox="1"/>
          <p:nvPr/>
        </p:nvSpPr>
        <p:spPr>
          <a:xfrm>
            <a:off x="1389888" y="4376181"/>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Organizational separation</a:t>
            </a:r>
            <a:endParaRPr lang="en-US" sz="1400" dirty="0"/>
          </a:p>
        </p:txBody>
      </p:sp>
      <p:sp>
        <p:nvSpPr>
          <p:cNvPr id="23" name="Text 20"/>
          <p:cNvSpPr txBox="1"/>
          <p:nvPr/>
        </p:nvSpPr>
        <p:spPr>
          <a:xfrm>
            <a:off x="1389888" y="4832518"/>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Key takeaways</a:t>
            </a:r>
            <a:endParaRPr lang="en-US" sz="1400" dirty="0"/>
          </a:p>
        </p:txBody>
      </p:sp>
      <p:sp>
        <p:nvSpPr>
          <p:cNvPr id="121" name="Text 118"/>
          <p:cNvSpPr txBox="1"/>
          <p:nvPr/>
        </p:nvSpPr>
        <p:spPr>
          <a:xfrm>
            <a:off x="1389888" y="5287131"/>
            <a:ext cx="4754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Document basis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work/assets/bg_light.jpe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493776" y="274320"/>
            <a:ext cx="7315200" cy="228600"/>
          </a:xfrm>
          <a:prstGeom prst="rect">
            <a:avLst/>
          </a:prstGeom>
          <a:noFill/>
          <a:ln/>
        </p:spPr>
        <p:txBody>
          <a:bodyPr wrap="square" lIns="0" tIns="0" rIns="0" bIns="0" rtlCol="0" anchor="ctr"/>
          <a:lstStyle/>
          <a:p>
            <a:pPr marL="0" indent="0">
              <a:buNone/>
            </a:pPr>
            <a:r>
              <a:rPr lang="en-US" sz="1050" b="1" kern="0" spc="100" dirty="0">
                <a:solidFill>
                  <a:srgbClr val="43A99A"/>
                </a:solidFill>
                <a:latin typeface="Calibri" pitchFamily="34" charset="0"/>
                <a:ea typeface="Calibri" pitchFamily="34" charset="-122"/>
                <a:cs typeface="Calibri" pitchFamily="34" charset="-120"/>
              </a:rPr>
              <a:t>01 · THE CORE DISTINCTION</a:t>
            </a:r>
            <a:endParaRPr lang="en-US" sz="1050" dirty="0"/>
          </a:p>
        </p:txBody>
      </p:sp>
      <p:sp>
        <p:nvSpPr>
          <p:cNvPr id="4" name="Text 1"/>
          <p:cNvSpPr txBox="1"/>
          <p:nvPr/>
        </p:nvSpPr>
        <p:spPr>
          <a:xfrm>
            <a:off x="493776" y="548640"/>
            <a:ext cx="10954512" cy="566928"/>
          </a:xfrm>
          <a:prstGeom prst="rect">
            <a:avLst/>
          </a:prstGeom>
          <a:noFill/>
          <a:ln/>
        </p:spPr>
        <p:txBody>
          <a:bodyPr wrap="square" lIns="0" tIns="0" rIns="0" bIns="0" rtlCol="0" anchor="ctr"/>
          <a:lstStyle/>
          <a:p>
            <a:pPr marL="0" indent="0">
              <a:lnSpc>
                <a:spcPct val="95000"/>
              </a:lnSpc>
              <a:buNone/>
            </a:pPr>
            <a:r>
              <a:rPr lang="en-US" sz="2800" b="1" dirty="0">
                <a:solidFill>
                  <a:srgbClr val="004549"/>
                </a:solidFill>
                <a:latin typeface="Calibri" pitchFamily="34" charset="0"/>
                <a:ea typeface="Calibri" pitchFamily="34" charset="-122"/>
                <a:cs typeface="Calibri" pitchFamily="34" charset="-120"/>
              </a:rPr>
              <a:t>Both disciplines coordinate people, but they control different risks</a:t>
            </a:r>
            <a:endParaRPr lang="en-US" sz="2800" dirty="0"/>
          </a:p>
        </p:txBody>
      </p:sp>
      <p:sp>
        <p:nvSpPr>
          <p:cNvPr id="5" name="Text 2"/>
          <p:cNvSpPr txBox="1"/>
          <p:nvPr/>
        </p:nvSpPr>
        <p:spPr>
          <a:xfrm>
            <a:off x="11411712" y="6373368"/>
            <a:ext cx="320040" cy="182880"/>
          </a:xfrm>
          <a:prstGeom prst="rect">
            <a:avLst/>
          </a:prstGeom>
          <a:noFill/>
          <a:ln/>
        </p:spPr>
        <p:txBody>
          <a:bodyPr wrap="square" lIns="0" tIns="0" rIns="0" bIns="0" rtlCol="0" anchor="ctr"/>
          <a:lstStyle/>
          <a:p>
            <a:pPr marL="0" indent="0" algn="r">
              <a:buNone/>
            </a:pPr>
            <a:r>
              <a:rPr lang="en-US" sz="975" dirty="0">
                <a:solidFill>
                  <a:srgbClr val="5A626E"/>
                </a:solidFill>
                <a:latin typeface="Calibri" pitchFamily="34" charset="0"/>
                <a:ea typeface="Calibri" pitchFamily="34" charset="-122"/>
                <a:cs typeface="Calibri" pitchFamily="34" charset="-120"/>
              </a:rPr>
              <a:t>3</a:t>
            </a:r>
            <a:endParaRPr lang="en-US" sz="975" dirty="0"/>
          </a:p>
        </p:txBody>
      </p:sp>
      <p:sp>
        <p:nvSpPr>
          <p:cNvPr id="6" name="Shape 3"/>
          <p:cNvSpPr/>
          <p:nvPr/>
        </p:nvSpPr>
        <p:spPr>
          <a:xfrm>
            <a:off x="548640" y="1417320"/>
            <a:ext cx="5257800" cy="4267488"/>
          </a:xfrm>
          <a:prstGeom prst="roundRect">
            <a:avLst>
              <a:gd name="adj" fmla="val 3000"/>
            </a:avLst>
          </a:prstGeom>
          <a:solidFill>
            <a:srgbClr val="E3EDEA"/>
          </a:solidFill>
          <a:ln w="9525">
            <a:solidFill>
              <a:srgbClr val="C8E8E3"/>
            </a:solidFill>
            <a:prstDash val="solid"/>
          </a:ln>
        </p:spPr>
        <p:txBody>
          <a:bodyPr/>
          <a:lstStyle/>
          <a:p>
            <a:endParaRPr lang="en-US"/>
          </a:p>
        </p:txBody>
      </p:sp>
      <p:sp>
        <p:nvSpPr>
          <p:cNvPr id="7" name="Shape 4"/>
          <p:cNvSpPr/>
          <p:nvPr/>
        </p:nvSpPr>
        <p:spPr>
          <a:xfrm>
            <a:off x="548640" y="1417320"/>
            <a:ext cx="5257800" cy="566928"/>
          </a:xfrm>
          <a:prstGeom prst="roundRect">
            <a:avLst>
              <a:gd name="adj" fmla="val 10000"/>
            </a:avLst>
          </a:prstGeom>
          <a:solidFill>
            <a:srgbClr val="004549"/>
          </a:solidFill>
          <a:ln w="9525">
            <a:solidFill>
              <a:srgbClr val="004549"/>
            </a:solidFill>
            <a:prstDash val="solid"/>
          </a:ln>
        </p:spPr>
        <p:txBody>
          <a:bodyPr/>
          <a:lstStyle/>
          <a:p>
            <a:endParaRPr lang="en-US"/>
          </a:p>
        </p:txBody>
      </p:sp>
      <p:sp>
        <p:nvSpPr>
          <p:cNvPr id="8" name="Text 5"/>
          <p:cNvSpPr txBox="1"/>
          <p:nvPr/>
        </p:nvSpPr>
        <p:spPr>
          <a:xfrm>
            <a:off x="777240" y="1417320"/>
            <a:ext cx="480060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INTERFACE MANAGEMENT</a:t>
            </a:r>
            <a:endParaRPr lang="en-US" sz="1500" dirty="0"/>
          </a:p>
        </p:txBody>
      </p:sp>
      <p:sp>
        <p:nvSpPr>
          <p:cNvPr id="9" name="Text 6"/>
          <p:cNvSpPr txBox="1"/>
          <p:nvPr/>
        </p:nvSpPr>
        <p:spPr>
          <a:xfrm>
            <a:off x="822960" y="219456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Primary question</a:t>
            </a:r>
            <a:endParaRPr lang="en-US" sz="1100" dirty="0"/>
          </a:p>
        </p:txBody>
      </p:sp>
      <p:sp>
        <p:nvSpPr>
          <p:cNvPr id="10" name="Text 7"/>
          <p:cNvSpPr txBox="1"/>
          <p:nvPr/>
        </p:nvSpPr>
        <p:spPr>
          <a:xfrm>
            <a:off x="822960" y="2487168"/>
            <a:ext cx="4709160" cy="548640"/>
          </a:xfrm>
          <a:prstGeom prst="rect">
            <a:avLst/>
          </a:prstGeom>
          <a:noFill/>
          <a:ln/>
        </p:spPr>
        <p:txBody>
          <a:bodyPr wrap="square" lIns="0" tIns="0" rIns="0" bIns="0" rtlCol="0" anchor="ctr"/>
          <a:lstStyle/>
          <a:p>
            <a:pPr marL="0" indent="0">
              <a:lnSpc>
                <a:spcPct val="105000"/>
              </a:lnSpc>
              <a:buNone/>
            </a:pPr>
            <a:r>
              <a:rPr lang="en-US" sz="1350" i="1" dirty="0">
                <a:solidFill>
                  <a:srgbClr val="004549"/>
                </a:solidFill>
                <a:latin typeface="Calibri" pitchFamily="34" charset="0"/>
                <a:ea typeface="Calibri" pitchFamily="34" charset="-122"/>
                <a:cs typeface="Calibri" pitchFamily="34" charset="-120"/>
              </a:rPr>
              <a:t>What must connect, align, or close?</a:t>
            </a:r>
            <a:endParaRPr lang="en-US" sz="1350" dirty="0"/>
          </a:p>
        </p:txBody>
      </p:sp>
      <p:sp>
        <p:nvSpPr>
          <p:cNvPr id="11" name="Text 8"/>
          <p:cNvSpPr txBox="1"/>
          <p:nvPr/>
        </p:nvSpPr>
        <p:spPr>
          <a:xfrm>
            <a:off x="822960" y="315468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Focus</a:t>
            </a:r>
            <a:endParaRPr lang="en-US" sz="1100" dirty="0"/>
          </a:p>
        </p:txBody>
      </p:sp>
      <p:sp>
        <p:nvSpPr>
          <p:cNvPr id="12" name="Text 9"/>
          <p:cNvSpPr txBox="1"/>
          <p:nvPr/>
        </p:nvSpPr>
        <p:spPr>
          <a:xfrm>
            <a:off x="822960" y="3447288"/>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Boundaries, dependencies, design integration and field coordination at physical, functional and organizational connection points.</a:t>
            </a:r>
            <a:endParaRPr lang="en-US" sz="1250" dirty="0"/>
          </a:p>
        </p:txBody>
      </p:sp>
      <p:sp>
        <p:nvSpPr>
          <p:cNvPr id="13" name="Text 10"/>
          <p:cNvSpPr txBox="1"/>
          <p:nvPr/>
        </p:nvSpPr>
        <p:spPr>
          <a:xfrm>
            <a:off x="822960" y="4325112"/>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Main risk if ignored</a:t>
            </a:r>
            <a:endParaRPr lang="en-US" sz="1100" dirty="0"/>
          </a:p>
        </p:txBody>
      </p:sp>
      <p:sp>
        <p:nvSpPr>
          <p:cNvPr id="14" name="Text 11"/>
          <p:cNvSpPr txBox="1"/>
          <p:nvPr/>
        </p:nvSpPr>
        <p:spPr>
          <a:xfrm>
            <a:off x="822960" y="4617720"/>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Clashes, handoff gaps, rework and unresolved technical dependencies between disciplines, packages or contractors.</a:t>
            </a:r>
            <a:endParaRPr lang="en-US" sz="1250" dirty="0"/>
          </a:p>
        </p:txBody>
      </p:sp>
      <p:sp>
        <p:nvSpPr>
          <p:cNvPr id="15" name="Shape 12"/>
          <p:cNvSpPr/>
          <p:nvPr/>
        </p:nvSpPr>
        <p:spPr>
          <a:xfrm>
            <a:off x="6126480" y="1417320"/>
            <a:ext cx="5257800" cy="4267488"/>
          </a:xfrm>
          <a:prstGeom prst="roundRect">
            <a:avLst>
              <a:gd name="adj" fmla="val 3000"/>
            </a:avLst>
          </a:prstGeom>
          <a:solidFill>
            <a:srgbClr val="E3EDEA"/>
          </a:solidFill>
          <a:ln w="9525">
            <a:solidFill>
              <a:srgbClr val="C8E8E3"/>
            </a:solidFill>
            <a:prstDash val="solid"/>
          </a:ln>
        </p:spPr>
        <p:txBody>
          <a:bodyPr/>
          <a:lstStyle/>
          <a:p>
            <a:endParaRPr lang="en-US"/>
          </a:p>
        </p:txBody>
      </p:sp>
      <p:sp>
        <p:nvSpPr>
          <p:cNvPr id="16" name="Shape 13"/>
          <p:cNvSpPr/>
          <p:nvPr/>
        </p:nvSpPr>
        <p:spPr>
          <a:xfrm>
            <a:off x="6126480" y="1417320"/>
            <a:ext cx="5257800" cy="566928"/>
          </a:xfrm>
          <a:prstGeom prst="roundRect">
            <a:avLst>
              <a:gd name="adj" fmla="val 10000"/>
            </a:avLst>
          </a:prstGeom>
          <a:solidFill>
            <a:srgbClr val="004549"/>
          </a:solidFill>
          <a:ln w="9525">
            <a:solidFill>
              <a:srgbClr val="004549"/>
            </a:solidFill>
            <a:prstDash val="solid"/>
          </a:ln>
        </p:spPr>
        <p:txBody>
          <a:bodyPr/>
          <a:lstStyle/>
          <a:p>
            <a:endParaRPr lang="en-US"/>
          </a:p>
        </p:txBody>
      </p:sp>
      <p:sp>
        <p:nvSpPr>
          <p:cNvPr id="17" name="Text 14"/>
          <p:cNvSpPr txBox="1"/>
          <p:nvPr/>
        </p:nvSpPr>
        <p:spPr>
          <a:xfrm>
            <a:off x="6355080" y="1417320"/>
            <a:ext cx="480060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STAKEHOLDER MANAGEMENT</a:t>
            </a:r>
            <a:endParaRPr lang="en-US" sz="1500" dirty="0"/>
          </a:p>
        </p:txBody>
      </p:sp>
      <p:sp>
        <p:nvSpPr>
          <p:cNvPr id="18" name="Text 15"/>
          <p:cNvSpPr txBox="1"/>
          <p:nvPr/>
        </p:nvSpPr>
        <p:spPr>
          <a:xfrm>
            <a:off x="6400800" y="219456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Primary question</a:t>
            </a:r>
            <a:endParaRPr lang="en-US" sz="1100" dirty="0"/>
          </a:p>
        </p:txBody>
      </p:sp>
      <p:sp>
        <p:nvSpPr>
          <p:cNvPr id="19" name="Text 16"/>
          <p:cNvSpPr txBox="1"/>
          <p:nvPr/>
        </p:nvSpPr>
        <p:spPr>
          <a:xfrm>
            <a:off x="6400800" y="2487168"/>
            <a:ext cx="4709160" cy="548640"/>
          </a:xfrm>
          <a:prstGeom prst="rect">
            <a:avLst/>
          </a:prstGeom>
          <a:noFill/>
          <a:ln/>
        </p:spPr>
        <p:txBody>
          <a:bodyPr wrap="square" lIns="0" tIns="0" rIns="0" bIns="0" rtlCol="0" anchor="ctr"/>
          <a:lstStyle/>
          <a:p>
            <a:pPr marL="0" indent="0">
              <a:lnSpc>
                <a:spcPct val="105000"/>
              </a:lnSpc>
              <a:buNone/>
            </a:pPr>
            <a:r>
              <a:rPr lang="en-US" sz="1350" i="1" dirty="0">
                <a:solidFill>
                  <a:srgbClr val="004549"/>
                </a:solidFill>
                <a:latin typeface="Calibri" pitchFamily="34" charset="0"/>
                <a:ea typeface="Calibri" pitchFamily="34" charset="-122"/>
                <a:cs typeface="Calibri" pitchFamily="34" charset="-120"/>
              </a:rPr>
              <a:t>Who can affect the project, and how should we engage them?</a:t>
            </a:r>
            <a:endParaRPr lang="en-US" sz="1350" dirty="0"/>
          </a:p>
        </p:txBody>
      </p:sp>
      <p:sp>
        <p:nvSpPr>
          <p:cNvPr id="20" name="Text 17"/>
          <p:cNvSpPr txBox="1"/>
          <p:nvPr/>
        </p:nvSpPr>
        <p:spPr>
          <a:xfrm>
            <a:off x="6400800" y="315468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Focus</a:t>
            </a:r>
            <a:endParaRPr lang="en-US" sz="1100" dirty="0"/>
          </a:p>
        </p:txBody>
      </p:sp>
      <p:sp>
        <p:nvSpPr>
          <p:cNvPr id="21" name="Text 18"/>
          <p:cNvSpPr txBox="1"/>
          <p:nvPr/>
        </p:nvSpPr>
        <p:spPr>
          <a:xfrm>
            <a:off x="6400800" y="3447288"/>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Influence, interest and expectations of the people and parties who affect — or are affected by — the project, mapped on a Power–Interest Matrix.</a:t>
            </a:r>
            <a:endParaRPr lang="en-US" sz="1250" dirty="0"/>
          </a:p>
        </p:txBody>
      </p:sp>
      <p:sp>
        <p:nvSpPr>
          <p:cNvPr id="22" name="Text 19"/>
          <p:cNvSpPr txBox="1"/>
          <p:nvPr/>
        </p:nvSpPr>
        <p:spPr>
          <a:xfrm>
            <a:off x="6400800" y="4325112"/>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Main risk if ignored</a:t>
            </a:r>
            <a:endParaRPr lang="en-US" sz="1100" dirty="0"/>
          </a:p>
        </p:txBody>
      </p:sp>
      <p:sp>
        <p:nvSpPr>
          <p:cNvPr id="23" name="Text 20"/>
          <p:cNvSpPr txBox="1"/>
          <p:nvPr/>
        </p:nvSpPr>
        <p:spPr>
          <a:xfrm>
            <a:off x="6400800" y="4617720"/>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Resistance, non-response, conflicting expectations, reputational impact and policy deviation under external pressure.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work/assets/bg_light.jpe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493776" y="274320"/>
            <a:ext cx="7315200" cy="228600"/>
          </a:xfrm>
          <a:prstGeom prst="rect">
            <a:avLst/>
          </a:prstGeom>
          <a:noFill/>
          <a:ln/>
        </p:spPr>
        <p:txBody>
          <a:bodyPr wrap="square" lIns="0" tIns="0" rIns="0" bIns="0" rtlCol="0" anchor="ctr"/>
          <a:lstStyle/>
          <a:p>
            <a:pPr marL="0" indent="0">
              <a:buNone/>
            </a:pPr>
            <a:r>
              <a:rPr lang="en-US" sz="1050" b="1" kern="0" spc="100" dirty="0">
                <a:solidFill>
                  <a:srgbClr val="43A99A"/>
                </a:solidFill>
                <a:latin typeface="Calibri" pitchFamily="34" charset="0"/>
                <a:ea typeface="Calibri" pitchFamily="34" charset="-122"/>
                <a:cs typeface="Calibri" pitchFamily="34" charset="-120"/>
              </a:rPr>
              <a:t>02 · SCOPE AND STRUCTURE</a:t>
            </a:r>
            <a:endParaRPr lang="en-US" sz="1050" dirty="0"/>
          </a:p>
        </p:txBody>
      </p:sp>
      <p:sp>
        <p:nvSpPr>
          <p:cNvPr id="4" name="Text 1"/>
          <p:cNvSpPr txBox="1"/>
          <p:nvPr/>
        </p:nvSpPr>
        <p:spPr>
          <a:xfrm>
            <a:off x="493776" y="548640"/>
            <a:ext cx="10954512" cy="566928"/>
          </a:xfrm>
          <a:prstGeom prst="rect">
            <a:avLst/>
          </a:prstGeom>
          <a:noFill/>
          <a:ln/>
        </p:spPr>
        <p:txBody>
          <a:bodyPr wrap="square" lIns="0" tIns="0" rIns="0" bIns="0" rtlCol="0" anchor="ctr"/>
          <a:lstStyle/>
          <a:p>
            <a:pPr marL="0" indent="0">
              <a:lnSpc>
                <a:spcPct val="95000"/>
              </a:lnSpc>
              <a:buNone/>
            </a:pPr>
            <a:r>
              <a:rPr lang="en-US" sz="2800" b="1" dirty="0">
                <a:solidFill>
                  <a:srgbClr val="004549"/>
                </a:solidFill>
                <a:latin typeface="Calibri" pitchFamily="34" charset="0"/>
                <a:ea typeface="Calibri" pitchFamily="34" charset="-122"/>
                <a:cs typeface="Calibri" pitchFamily="34" charset="-120"/>
              </a:rPr>
              <a:t>The same five dimensions, answered two different ways</a:t>
            </a:r>
            <a:endParaRPr lang="en-US" sz="2800" dirty="0"/>
          </a:p>
        </p:txBody>
      </p:sp>
      <p:sp>
        <p:nvSpPr>
          <p:cNvPr id="5" name="Text 2"/>
          <p:cNvSpPr txBox="1"/>
          <p:nvPr/>
        </p:nvSpPr>
        <p:spPr>
          <a:xfrm>
            <a:off x="11411712" y="6373368"/>
            <a:ext cx="320040" cy="182880"/>
          </a:xfrm>
          <a:prstGeom prst="rect">
            <a:avLst/>
          </a:prstGeom>
          <a:noFill/>
          <a:ln/>
        </p:spPr>
        <p:txBody>
          <a:bodyPr wrap="square" lIns="0" tIns="0" rIns="0" bIns="0" rtlCol="0" anchor="ctr"/>
          <a:lstStyle/>
          <a:p>
            <a:pPr marL="0" indent="0" algn="r">
              <a:buNone/>
            </a:pPr>
            <a:r>
              <a:rPr lang="en-US" sz="975" dirty="0">
                <a:solidFill>
                  <a:srgbClr val="5A626E"/>
                </a:solidFill>
                <a:latin typeface="Calibri" pitchFamily="34" charset="0"/>
                <a:ea typeface="Calibri" pitchFamily="34" charset="-122"/>
                <a:cs typeface="Calibri" pitchFamily="34" charset="-120"/>
              </a:rPr>
              <a:t>4</a:t>
            </a:r>
            <a:endParaRPr lang="en-US" sz="975" dirty="0"/>
          </a:p>
        </p:txBody>
      </p:sp>
      <p:sp>
        <p:nvSpPr>
          <p:cNvPr id="6" name="Shape 3"/>
          <p:cNvSpPr/>
          <p:nvPr/>
        </p:nvSpPr>
        <p:spPr>
          <a:xfrm>
            <a:off x="3136392" y="1417320"/>
            <a:ext cx="4160520" cy="457200"/>
          </a:xfrm>
          <a:prstGeom prst="roundRect">
            <a:avLst>
              <a:gd name="adj" fmla="val 14000"/>
            </a:avLst>
          </a:prstGeom>
          <a:solidFill>
            <a:srgbClr val="004549"/>
          </a:solidFill>
          <a:ln w="9525">
            <a:solidFill>
              <a:srgbClr val="004549"/>
            </a:solidFill>
            <a:prstDash val="solid"/>
          </a:ln>
        </p:spPr>
        <p:txBody>
          <a:bodyPr/>
          <a:lstStyle/>
          <a:p>
            <a:endParaRPr lang="en-US"/>
          </a:p>
        </p:txBody>
      </p:sp>
      <p:sp>
        <p:nvSpPr>
          <p:cNvPr id="7" name="Text 4"/>
          <p:cNvSpPr txBox="1"/>
          <p:nvPr/>
        </p:nvSpPr>
        <p:spPr>
          <a:xfrm>
            <a:off x="3136392" y="1417320"/>
            <a:ext cx="4160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INTERFACE MANAGEMENT</a:t>
            </a:r>
            <a:endParaRPr lang="en-US" sz="1200" dirty="0"/>
          </a:p>
        </p:txBody>
      </p:sp>
      <p:sp>
        <p:nvSpPr>
          <p:cNvPr id="8" name="Shape 5"/>
          <p:cNvSpPr/>
          <p:nvPr/>
        </p:nvSpPr>
        <p:spPr>
          <a:xfrm>
            <a:off x="7552944" y="1417320"/>
            <a:ext cx="4160520" cy="457200"/>
          </a:xfrm>
          <a:prstGeom prst="roundRect">
            <a:avLst>
              <a:gd name="adj" fmla="val 14000"/>
            </a:avLst>
          </a:prstGeom>
          <a:solidFill>
            <a:srgbClr val="006B66"/>
          </a:solidFill>
          <a:ln w="9525">
            <a:solidFill>
              <a:srgbClr val="006B66"/>
            </a:solidFill>
            <a:prstDash val="solid"/>
          </a:ln>
        </p:spPr>
        <p:txBody>
          <a:bodyPr/>
          <a:lstStyle/>
          <a:p>
            <a:endParaRPr lang="en-US"/>
          </a:p>
        </p:txBody>
      </p:sp>
      <p:sp>
        <p:nvSpPr>
          <p:cNvPr id="9" name="Text 6"/>
          <p:cNvSpPr txBox="1"/>
          <p:nvPr/>
        </p:nvSpPr>
        <p:spPr>
          <a:xfrm>
            <a:off x="7552944" y="1417320"/>
            <a:ext cx="4160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STAKEHOLDER MANAGEMENT</a:t>
            </a:r>
            <a:endParaRPr lang="en-US" sz="1200" dirty="0"/>
          </a:p>
        </p:txBody>
      </p:sp>
      <p:sp>
        <p:nvSpPr>
          <p:cNvPr id="10" name="Shape 7"/>
          <p:cNvSpPr/>
          <p:nvPr/>
        </p:nvSpPr>
        <p:spPr>
          <a:xfrm>
            <a:off x="548640" y="2039112"/>
            <a:ext cx="23317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11" name="Text 8"/>
          <p:cNvSpPr txBox="1"/>
          <p:nvPr/>
        </p:nvSpPr>
        <p:spPr>
          <a:xfrm>
            <a:off x="713232" y="2039112"/>
            <a:ext cx="2002536" cy="658368"/>
          </a:xfrm>
          <a:prstGeom prst="rect">
            <a:avLst/>
          </a:prstGeom>
          <a:noFill/>
          <a:ln/>
        </p:spPr>
        <p:txBody>
          <a:bodyPr wrap="square" lIns="0" tIns="0" rIns="0" bIns="0" rtlCol="0" anchor="ctr"/>
          <a:lstStyle/>
          <a:p>
            <a:pPr marL="0" indent="0">
              <a:lnSpc>
                <a:spcPct val="100000"/>
              </a:lnSpc>
              <a:buNone/>
            </a:pPr>
            <a:r>
              <a:rPr lang="en-US" sz="1150" b="1" dirty="0">
                <a:solidFill>
                  <a:srgbClr val="004549"/>
                </a:solidFill>
                <a:latin typeface="Calibri" pitchFamily="34" charset="0"/>
                <a:ea typeface="Calibri" pitchFamily="34" charset="-122"/>
                <a:cs typeface="Calibri" pitchFamily="34" charset="-120"/>
              </a:rPr>
              <a:t>Unit of analysis</a:t>
            </a:r>
            <a:endParaRPr lang="en-US" sz="1150" dirty="0"/>
          </a:p>
        </p:txBody>
      </p:sp>
      <p:sp>
        <p:nvSpPr>
          <p:cNvPr id="12" name="Shape 9"/>
          <p:cNvSpPr/>
          <p:nvPr/>
        </p:nvSpPr>
        <p:spPr>
          <a:xfrm>
            <a:off x="3136392" y="2039112"/>
            <a:ext cx="41605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13" name="Text 10"/>
          <p:cNvSpPr txBox="1"/>
          <p:nvPr/>
        </p:nvSpPr>
        <p:spPr>
          <a:xfrm>
            <a:off x="3319272" y="203911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An interface point: where scopes, disciplines, organizations or information flows meet.</a:t>
            </a:r>
            <a:endParaRPr lang="en-US" sz="1050" dirty="0"/>
          </a:p>
        </p:txBody>
      </p:sp>
      <p:sp>
        <p:nvSpPr>
          <p:cNvPr id="14" name="Shape 11"/>
          <p:cNvSpPr/>
          <p:nvPr/>
        </p:nvSpPr>
        <p:spPr>
          <a:xfrm>
            <a:off x="7552944" y="2039112"/>
            <a:ext cx="41605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15" name="Text 12"/>
          <p:cNvSpPr txBox="1"/>
          <p:nvPr/>
        </p:nvSpPr>
        <p:spPr>
          <a:xfrm>
            <a:off x="7735824" y="203911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A stakeholder: any party that affects, or may be affected by, the project.</a:t>
            </a:r>
            <a:endParaRPr lang="en-US" sz="1050" dirty="0"/>
          </a:p>
        </p:txBody>
      </p:sp>
      <p:sp>
        <p:nvSpPr>
          <p:cNvPr id="16" name="Shape 13"/>
          <p:cNvSpPr/>
          <p:nvPr/>
        </p:nvSpPr>
        <p:spPr>
          <a:xfrm>
            <a:off x="548640" y="2770632"/>
            <a:ext cx="2331720" cy="658368"/>
          </a:xfrm>
          <a:prstGeom prst="roundRect">
            <a:avLst>
              <a:gd name="adj" fmla="val 8000"/>
            </a:avLst>
          </a:prstGeom>
          <a:solidFill>
            <a:srgbClr val="E3EDEA"/>
          </a:solidFill>
          <a:ln w="9525">
            <a:solidFill>
              <a:srgbClr val="C8E8E3"/>
            </a:solidFill>
            <a:prstDash val="solid"/>
          </a:ln>
        </p:spPr>
        <p:txBody>
          <a:bodyPr/>
          <a:lstStyle/>
          <a:p>
            <a:endParaRPr lang="en-US"/>
          </a:p>
        </p:txBody>
      </p:sp>
      <p:sp>
        <p:nvSpPr>
          <p:cNvPr id="17" name="Text 14"/>
          <p:cNvSpPr txBox="1"/>
          <p:nvPr/>
        </p:nvSpPr>
        <p:spPr>
          <a:xfrm>
            <a:off x="713232" y="2770632"/>
            <a:ext cx="2002536" cy="658368"/>
          </a:xfrm>
          <a:prstGeom prst="rect">
            <a:avLst/>
          </a:prstGeom>
          <a:noFill/>
          <a:ln/>
        </p:spPr>
        <p:txBody>
          <a:bodyPr wrap="square" lIns="0" tIns="0" rIns="0" bIns="0" rtlCol="0" anchor="ctr"/>
          <a:lstStyle/>
          <a:p>
            <a:pPr marL="0" indent="0">
              <a:lnSpc>
                <a:spcPct val="100000"/>
              </a:lnSpc>
              <a:buNone/>
            </a:pPr>
            <a:r>
              <a:rPr lang="en-US" sz="1150" b="1" dirty="0">
                <a:solidFill>
                  <a:srgbClr val="004549"/>
                </a:solidFill>
                <a:latin typeface="Calibri" pitchFamily="34" charset="0"/>
                <a:ea typeface="Calibri" pitchFamily="34" charset="-122"/>
                <a:cs typeface="Calibri" pitchFamily="34" charset="-120"/>
              </a:rPr>
              <a:t>Categorization model</a:t>
            </a:r>
            <a:endParaRPr lang="en-US" sz="1150" dirty="0"/>
          </a:p>
        </p:txBody>
      </p:sp>
      <p:sp>
        <p:nvSpPr>
          <p:cNvPr id="18" name="Shape 15"/>
          <p:cNvSpPr/>
          <p:nvPr/>
        </p:nvSpPr>
        <p:spPr>
          <a:xfrm>
            <a:off x="3136392" y="2770632"/>
            <a:ext cx="4160520" cy="658368"/>
          </a:xfrm>
          <a:prstGeom prst="roundRect">
            <a:avLst>
              <a:gd name="adj" fmla="val 8000"/>
            </a:avLst>
          </a:prstGeom>
          <a:solidFill>
            <a:srgbClr val="E3EDEA"/>
          </a:solidFill>
          <a:ln w="9525">
            <a:solidFill>
              <a:srgbClr val="C8E8E3"/>
            </a:solidFill>
            <a:prstDash val="solid"/>
          </a:ln>
        </p:spPr>
        <p:txBody>
          <a:bodyPr/>
          <a:lstStyle/>
          <a:p>
            <a:endParaRPr lang="en-US"/>
          </a:p>
        </p:txBody>
      </p:sp>
      <p:sp>
        <p:nvSpPr>
          <p:cNvPr id="19" name="Text 16"/>
          <p:cNvSpPr txBox="1"/>
          <p:nvPr/>
        </p:nvSpPr>
        <p:spPr>
          <a:xfrm>
            <a:off x="3319272" y="277063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Flat split: Internal Interface Points vs. External Interface Points.</a:t>
            </a:r>
            <a:endParaRPr lang="en-US" sz="1050" dirty="0"/>
          </a:p>
        </p:txBody>
      </p:sp>
      <p:sp>
        <p:nvSpPr>
          <p:cNvPr id="20" name="Shape 17"/>
          <p:cNvSpPr/>
          <p:nvPr/>
        </p:nvSpPr>
        <p:spPr>
          <a:xfrm>
            <a:off x="7552944" y="2770632"/>
            <a:ext cx="4160520" cy="658368"/>
          </a:xfrm>
          <a:prstGeom prst="roundRect">
            <a:avLst>
              <a:gd name="adj" fmla="val 8000"/>
            </a:avLst>
          </a:prstGeom>
          <a:solidFill>
            <a:srgbClr val="E3EDEA"/>
          </a:solidFill>
          <a:ln w="9525">
            <a:solidFill>
              <a:srgbClr val="C8E8E3"/>
            </a:solidFill>
            <a:prstDash val="solid"/>
          </a:ln>
        </p:spPr>
        <p:txBody>
          <a:bodyPr/>
          <a:lstStyle/>
          <a:p>
            <a:endParaRPr lang="en-US"/>
          </a:p>
        </p:txBody>
      </p:sp>
      <p:sp>
        <p:nvSpPr>
          <p:cNvPr id="21" name="Text 18"/>
          <p:cNvSpPr txBox="1"/>
          <p:nvPr/>
        </p:nvSpPr>
        <p:spPr>
          <a:xfrm>
            <a:off x="7735824" y="277063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Power–Interest Matrix: Manage Closely, Keep Satisfied, Keep Informed, Monitor.</a:t>
            </a:r>
            <a:endParaRPr lang="en-US" sz="1050" dirty="0"/>
          </a:p>
        </p:txBody>
      </p:sp>
      <p:sp>
        <p:nvSpPr>
          <p:cNvPr id="22" name="Shape 19"/>
          <p:cNvSpPr/>
          <p:nvPr/>
        </p:nvSpPr>
        <p:spPr>
          <a:xfrm>
            <a:off x="548640" y="3502152"/>
            <a:ext cx="23317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23" name="Text 20"/>
          <p:cNvSpPr txBox="1"/>
          <p:nvPr/>
        </p:nvSpPr>
        <p:spPr>
          <a:xfrm>
            <a:off x="713232" y="3502152"/>
            <a:ext cx="2002536" cy="658368"/>
          </a:xfrm>
          <a:prstGeom prst="rect">
            <a:avLst/>
          </a:prstGeom>
          <a:noFill/>
          <a:ln/>
        </p:spPr>
        <p:txBody>
          <a:bodyPr wrap="square" lIns="0" tIns="0" rIns="0" bIns="0" rtlCol="0" anchor="ctr"/>
          <a:lstStyle/>
          <a:p>
            <a:pPr marL="0" indent="0">
              <a:lnSpc>
                <a:spcPct val="100000"/>
              </a:lnSpc>
              <a:buNone/>
            </a:pPr>
            <a:r>
              <a:rPr lang="en-US" sz="1150" b="1" dirty="0">
                <a:solidFill>
                  <a:srgbClr val="004549"/>
                </a:solidFill>
                <a:latin typeface="Calibri" pitchFamily="34" charset="0"/>
                <a:ea typeface="Calibri" pitchFamily="34" charset="-122"/>
                <a:cs typeface="Calibri" pitchFamily="34" charset="-120"/>
              </a:rPr>
              <a:t>Core register</a:t>
            </a:r>
            <a:endParaRPr lang="en-US" sz="1150" dirty="0"/>
          </a:p>
        </p:txBody>
      </p:sp>
      <p:sp>
        <p:nvSpPr>
          <p:cNvPr id="24" name="Shape 21"/>
          <p:cNvSpPr/>
          <p:nvPr/>
        </p:nvSpPr>
        <p:spPr>
          <a:xfrm>
            <a:off x="3136392" y="3502152"/>
            <a:ext cx="41605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25" name="Text 22"/>
          <p:cNvSpPr txBox="1"/>
          <p:nvPr/>
        </p:nvSpPr>
        <p:spPr>
          <a:xfrm>
            <a:off x="3319272" y="350215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Interface Points Register + Interface Matrix Sheet (who interfaces with whom, on what).</a:t>
            </a:r>
            <a:endParaRPr lang="en-US" sz="1050" dirty="0"/>
          </a:p>
        </p:txBody>
      </p:sp>
      <p:sp>
        <p:nvSpPr>
          <p:cNvPr id="26" name="Shape 23"/>
          <p:cNvSpPr/>
          <p:nvPr/>
        </p:nvSpPr>
        <p:spPr>
          <a:xfrm>
            <a:off x="7552944" y="3502152"/>
            <a:ext cx="41605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27" name="Text 24"/>
          <p:cNvSpPr txBox="1"/>
          <p:nvPr/>
        </p:nvSpPr>
        <p:spPr>
          <a:xfrm>
            <a:off x="7735824" y="350215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Stakeholder Register + Stakeholder Engagement Plan (who matters, how much, how engaged).</a:t>
            </a:r>
            <a:endParaRPr lang="en-US" sz="1050" dirty="0"/>
          </a:p>
        </p:txBody>
      </p:sp>
      <p:sp>
        <p:nvSpPr>
          <p:cNvPr id="28" name="Shape 25"/>
          <p:cNvSpPr/>
          <p:nvPr/>
        </p:nvSpPr>
        <p:spPr>
          <a:xfrm>
            <a:off x="548640" y="4233672"/>
            <a:ext cx="2331720" cy="658368"/>
          </a:xfrm>
          <a:prstGeom prst="roundRect">
            <a:avLst>
              <a:gd name="adj" fmla="val 8000"/>
            </a:avLst>
          </a:prstGeom>
          <a:solidFill>
            <a:srgbClr val="E3EDEA"/>
          </a:solidFill>
          <a:ln w="9525">
            <a:solidFill>
              <a:srgbClr val="C8E8E3"/>
            </a:solidFill>
            <a:prstDash val="solid"/>
          </a:ln>
        </p:spPr>
        <p:txBody>
          <a:bodyPr/>
          <a:lstStyle/>
          <a:p>
            <a:endParaRPr lang="en-US"/>
          </a:p>
        </p:txBody>
      </p:sp>
      <p:sp>
        <p:nvSpPr>
          <p:cNvPr id="29" name="Text 26"/>
          <p:cNvSpPr txBox="1"/>
          <p:nvPr/>
        </p:nvSpPr>
        <p:spPr>
          <a:xfrm>
            <a:off x="713232" y="4233672"/>
            <a:ext cx="2002536" cy="658368"/>
          </a:xfrm>
          <a:prstGeom prst="rect">
            <a:avLst/>
          </a:prstGeom>
          <a:noFill/>
          <a:ln/>
        </p:spPr>
        <p:txBody>
          <a:bodyPr wrap="square" lIns="0" tIns="0" rIns="0" bIns="0" rtlCol="0" anchor="ctr"/>
          <a:lstStyle/>
          <a:p>
            <a:pPr marL="0" indent="0">
              <a:lnSpc>
                <a:spcPct val="100000"/>
              </a:lnSpc>
              <a:buNone/>
            </a:pPr>
            <a:r>
              <a:rPr lang="en-US" sz="1150" b="1" dirty="0">
                <a:solidFill>
                  <a:srgbClr val="004549"/>
                </a:solidFill>
                <a:latin typeface="Calibri" pitchFamily="34" charset="0"/>
                <a:ea typeface="Calibri" pitchFamily="34" charset="-122"/>
                <a:cs typeface="Calibri" pitchFamily="34" charset="-120"/>
              </a:rPr>
              <a:t>Issue tracking tool</a:t>
            </a:r>
            <a:endParaRPr lang="en-US" sz="1150" dirty="0"/>
          </a:p>
        </p:txBody>
      </p:sp>
      <p:sp>
        <p:nvSpPr>
          <p:cNvPr id="30" name="Shape 27"/>
          <p:cNvSpPr/>
          <p:nvPr/>
        </p:nvSpPr>
        <p:spPr>
          <a:xfrm>
            <a:off x="3136392" y="4233672"/>
            <a:ext cx="4160520" cy="658368"/>
          </a:xfrm>
          <a:prstGeom prst="roundRect">
            <a:avLst>
              <a:gd name="adj" fmla="val 8000"/>
            </a:avLst>
          </a:prstGeom>
          <a:solidFill>
            <a:srgbClr val="E3EDEA"/>
          </a:solidFill>
          <a:ln w="9525">
            <a:solidFill>
              <a:srgbClr val="C8E8E3"/>
            </a:solidFill>
            <a:prstDash val="solid"/>
          </a:ln>
        </p:spPr>
        <p:txBody>
          <a:bodyPr/>
          <a:lstStyle/>
          <a:p>
            <a:endParaRPr lang="en-US"/>
          </a:p>
        </p:txBody>
      </p:sp>
      <p:sp>
        <p:nvSpPr>
          <p:cNvPr id="31" name="Text 28"/>
          <p:cNvSpPr txBox="1"/>
          <p:nvPr/>
        </p:nvSpPr>
        <p:spPr>
          <a:xfrm>
            <a:off x="3319272" y="423367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Interface Issue Log — escalated conflicts and physical/technical clashes.</a:t>
            </a:r>
            <a:endParaRPr lang="en-US" sz="1050" dirty="0"/>
          </a:p>
        </p:txBody>
      </p:sp>
      <p:sp>
        <p:nvSpPr>
          <p:cNvPr id="32" name="Shape 29"/>
          <p:cNvSpPr/>
          <p:nvPr/>
        </p:nvSpPr>
        <p:spPr>
          <a:xfrm>
            <a:off x="7552944" y="4233672"/>
            <a:ext cx="4160520" cy="658368"/>
          </a:xfrm>
          <a:prstGeom prst="roundRect">
            <a:avLst>
              <a:gd name="adj" fmla="val 8000"/>
            </a:avLst>
          </a:prstGeom>
          <a:solidFill>
            <a:srgbClr val="E3EDEA"/>
          </a:solidFill>
          <a:ln w="9525">
            <a:solidFill>
              <a:srgbClr val="C8E8E3"/>
            </a:solidFill>
            <a:prstDash val="solid"/>
          </a:ln>
        </p:spPr>
        <p:txBody>
          <a:bodyPr/>
          <a:lstStyle/>
          <a:p>
            <a:endParaRPr lang="en-US"/>
          </a:p>
        </p:txBody>
      </p:sp>
      <p:sp>
        <p:nvSpPr>
          <p:cNvPr id="33" name="Text 30"/>
          <p:cNvSpPr txBox="1"/>
          <p:nvPr/>
        </p:nvSpPr>
        <p:spPr>
          <a:xfrm>
            <a:off x="7735824" y="423367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Case Feedback Log — escalated conflicts, resistance and unmet expectations.</a:t>
            </a:r>
            <a:endParaRPr lang="en-US" sz="1050" dirty="0"/>
          </a:p>
        </p:txBody>
      </p:sp>
      <p:sp>
        <p:nvSpPr>
          <p:cNvPr id="34" name="Shape 31"/>
          <p:cNvSpPr/>
          <p:nvPr/>
        </p:nvSpPr>
        <p:spPr>
          <a:xfrm>
            <a:off x="548640" y="4965192"/>
            <a:ext cx="23317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35" name="Text 32"/>
          <p:cNvSpPr txBox="1"/>
          <p:nvPr/>
        </p:nvSpPr>
        <p:spPr>
          <a:xfrm>
            <a:off x="713232" y="4965192"/>
            <a:ext cx="2002536" cy="658368"/>
          </a:xfrm>
          <a:prstGeom prst="rect">
            <a:avLst/>
          </a:prstGeom>
          <a:noFill/>
          <a:ln/>
        </p:spPr>
        <p:txBody>
          <a:bodyPr wrap="square" lIns="0" tIns="0" rIns="0" bIns="0" rtlCol="0" anchor="ctr"/>
          <a:lstStyle/>
          <a:p>
            <a:pPr marL="0" indent="0">
              <a:lnSpc>
                <a:spcPct val="100000"/>
              </a:lnSpc>
              <a:buNone/>
            </a:pPr>
            <a:r>
              <a:rPr lang="en-US" sz="1150" b="1" dirty="0">
                <a:solidFill>
                  <a:srgbClr val="004549"/>
                </a:solidFill>
                <a:latin typeface="Calibri" pitchFamily="34" charset="0"/>
                <a:ea typeface="Calibri" pitchFamily="34" charset="-122"/>
                <a:cs typeface="Calibri" pitchFamily="34" charset="-120"/>
              </a:rPr>
              <a:t>Owning role</a:t>
            </a:r>
            <a:endParaRPr lang="en-US" sz="1150" dirty="0"/>
          </a:p>
        </p:txBody>
      </p:sp>
      <p:sp>
        <p:nvSpPr>
          <p:cNvPr id="36" name="Shape 33"/>
          <p:cNvSpPr/>
          <p:nvPr/>
        </p:nvSpPr>
        <p:spPr>
          <a:xfrm>
            <a:off x="3136392" y="4965192"/>
            <a:ext cx="41605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37" name="Text 34"/>
          <p:cNvSpPr txBox="1"/>
          <p:nvPr/>
        </p:nvSpPr>
        <p:spPr>
          <a:xfrm>
            <a:off x="3319272" y="496519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Interface Manager, supported by discipline engineers and subcontractors.</a:t>
            </a:r>
            <a:endParaRPr lang="en-US" sz="1050" dirty="0"/>
          </a:p>
        </p:txBody>
      </p:sp>
      <p:sp>
        <p:nvSpPr>
          <p:cNvPr id="38" name="Shape 35"/>
          <p:cNvSpPr/>
          <p:nvPr/>
        </p:nvSpPr>
        <p:spPr>
          <a:xfrm>
            <a:off x="7552944" y="4965192"/>
            <a:ext cx="4160520" cy="658368"/>
          </a:xfrm>
          <a:prstGeom prst="roundRect">
            <a:avLst>
              <a:gd name="adj" fmla="val 8000"/>
            </a:avLst>
          </a:prstGeom>
          <a:solidFill>
            <a:srgbClr val="EEF6F3"/>
          </a:solidFill>
          <a:ln w="9525">
            <a:solidFill>
              <a:srgbClr val="C8E8E3"/>
            </a:solidFill>
            <a:prstDash val="solid"/>
          </a:ln>
        </p:spPr>
        <p:txBody>
          <a:bodyPr/>
          <a:lstStyle/>
          <a:p>
            <a:endParaRPr lang="en-US"/>
          </a:p>
        </p:txBody>
      </p:sp>
      <p:sp>
        <p:nvSpPr>
          <p:cNvPr id="39" name="Text 36"/>
          <p:cNvSpPr txBox="1"/>
          <p:nvPr/>
        </p:nvSpPr>
        <p:spPr>
          <a:xfrm>
            <a:off x="7735824" y="4965192"/>
            <a:ext cx="3794760" cy="658368"/>
          </a:xfrm>
          <a:prstGeom prst="rect">
            <a:avLst/>
          </a:prstGeom>
          <a:noFill/>
          <a:ln/>
        </p:spPr>
        <p:txBody>
          <a:bodyPr wrap="square" lIns="0" tIns="0" rIns="0" bIns="0" rtlCol="0" anchor="ctr"/>
          <a:lstStyle/>
          <a:p>
            <a:pPr marL="0" indent="0">
              <a:lnSpc>
                <a:spcPct val="102000"/>
              </a:lnSpc>
              <a:buNone/>
            </a:pPr>
            <a:r>
              <a:rPr lang="en-US" sz="1050" dirty="0">
                <a:solidFill>
                  <a:srgbClr val="2F3235"/>
                </a:solidFill>
                <a:latin typeface="Calibri" pitchFamily="34" charset="0"/>
                <a:ea typeface="Calibri" pitchFamily="34" charset="-122"/>
                <a:cs typeface="Calibri" pitchFamily="34" charset="-120"/>
              </a:rPr>
              <a:t>Stakeholder Manager, supported by the Interface Manager and Department Heads.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 COMPARISON</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Interface Manager vs Stakeholder Manager</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a:t>
            </a:r>
            <a:endParaRPr lang="en-US" sz="1100" dirty="0"/>
          </a:p>
        </p:txBody>
      </p:sp>
      <p:sp>
        <p:nvSpPr>
          <p:cNvPr id="101" name="Matrix 101"/>
          <p:cNvSpPr/>
          <p:nvPr/>
        </p:nvSpPr>
        <p:spPr>
          <a:xfrm>
            <a:off x="2307200" y="1420000"/>
            <a:ext cx="4650000" cy="640000"/>
          </a:xfrm>
          <a:prstGeom prst="roundRect">
            <a:avLst>
              <a:gd name="adj" fmla="val 8000"/>
            </a:avLst>
          </a:prstGeom>
          <a:solidFill>
            <a:srgbClr val="004549"/>
          </a:solidFill>
          <a:ln>
            <a:noFill/>
          </a:ln>
        </p:spPr>
        <p:txBody>
          <a:bodyPr wrap="square" lIns="91440" tIns="45720" rIns="91440" bIns="45720" anchor="ctr"/>
          <a:lstStyle/>
          <a:p>
            <a:pPr algn="ctr">
              <a:spcAft>
                <a:spcPts val="100"/>
              </a:spcAft>
              <a:buNone/>
            </a:pPr>
            <a:r>
              <a:rPr lang="en-US" sz="1500" b="1" i="0" dirty="0">
                <a:solidFill>
                  <a:srgbClr val="FFFFFF"/>
                </a:solidFill>
                <a:latin typeface="Calibri"/>
                <a:cs typeface="Calibri"/>
              </a:rPr>
              <a:t>INTERFACE MANAGER</a:t>
            </a:r>
          </a:p>
          <a:p>
            <a:pPr algn="ctr">
              <a:buNone/>
            </a:pPr>
            <a:r>
              <a:rPr lang="en-US" sz="1150" b="0" i="1" dirty="0">
                <a:solidFill>
                  <a:srgbClr val="8FCFC3"/>
                </a:solidFill>
                <a:latin typeface="Calibri"/>
                <a:cs typeface="Calibri"/>
              </a:rPr>
              <a:t>controls connection points</a:t>
            </a:r>
          </a:p>
        </p:txBody>
      </p:sp>
      <p:sp>
        <p:nvSpPr>
          <p:cNvPr id="102" name="Matrix 102"/>
          <p:cNvSpPr/>
          <p:nvPr/>
        </p:nvSpPr>
        <p:spPr>
          <a:xfrm>
            <a:off x="7027200" y="1420000"/>
            <a:ext cx="4707600" cy="640000"/>
          </a:xfrm>
          <a:prstGeom prst="roundRect">
            <a:avLst>
              <a:gd name="adj" fmla="val 8000"/>
            </a:avLst>
          </a:prstGeom>
          <a:solidFill>
            <a:srgbClr val="43A99A"/>
          </a:solidFill>
          <a:ln>
            <a:noFill/>
          </a:ln>
        </p:spPr>
        <p:txBody>
          <a:bodyPr wrap="square" lIns="91440" tIns="45720" rIns="91440" bIns="45720" anchor="ctr"/>
          <a:lstStyle/>
          <a:p>
            <a:pPr algn="ctr">
              <a:spcAft>
                <a:spcPts val="100"/>
              </a:spcAft>
              <a:buNone/>
            </a:pPr>
            <a:r>
              <a:rPr lang="en-US" sz="1500" b="1" i="0" dirty="0">
                <a:solidFill>
                  <a:srgbClr val="FFFFFF"/>
                </a:solidFill>
                <a:latin typeface="Calibri"/>
                <a:cs typeface="Calibri"/>
              </a:rPr>
              <a:t>STAKEHOLDER MANAGER</a:t>
            </a:r>
          </a:p>
          <a:p>
            <a:pPr algn="ctr">
              <a:buNone/>
            </a:pPr>
            <a:r>
              <a:rPr lang="en-US" sz="1150" b="0" i="1" dirty="0">
                <a:solidFill>
                  <a:srgbClr val="004549"/>
                </a:solidFill>
                <a:latin typeface="Calibri"/>
                <a:cs typeface="Calibri"/>
              </a:rPr>
              <a:t>controls relationships</a:t>
            </a:r>
          </a:p>
        </p:txBody>
      </p:sp>
      <p:sp>
        <p:nvSpPr>
          <p:cNvPr id="103" name="Matrix 103"/>
          <p:cNvSpPr/>
          <p:nvPr/>
        </p:nvSpPr>
        <p:spPr>
          <a:xfrm>
            <a:off x="6802200" y="1550000"/>
            <a:ext cx="380000" cy="380000"/>
          </a:xfrm>
          <a:prstGeom prst="ellipse">
            <a:avLst/>
          </a:prstGeom>
          <a:solidFill>
            <a:srgbClr val="FFFFFF"/>
          </a:solidFill>
          <a:ln w="12700">
            <a:solidFill>
              <a:srgbClr val="004549"/>
            </a:solidFill>
          </a:ln>
        </p:spPr>
        <p:txBody>
          <a:bodyPr wrap="square" lIns="0" tIns="0" rIns="0" bIns="0" anchor="ctr"/>
          <a:lstStyle/>
          <a:p>
            <a:pPr algn="ctr">
              <a:buNone/>
            </a:pPr>
            <a:r>
              <a:rPr lang="en-US" sz="1200" b="1" i="0" dirty="0">
                <a:solidFill>
                  <a:srgbClr val="004549"/>
                </a:solidFill>
                <a:latin typeface="Calibri"/>
                <a:cs typeface="Calibri"/>
              </a:rPr>
              <a:t>vs</a:t>
            </a:r>
          </a:p>
        </p:txBody>
      </p:sp>
      <p:sp>
        <p:nvSpPr>
          <p:cNvPr id="104" name="Matrix 104"/>
          <p:cNvSpPr/>
          <p:nvPr/>
        </p:nvSpPr>
        <p:spPr>
          <a:xfrm>
            <a:off x="457200" y="2140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What it controls</a:t>
            </a:r>
          </a:p>
        </p:txBody>
      </p:sp>
      <p:sp>
        <p:nvSpPr>
          <p:cNvPr id="105" name="Matrix 105"/>
          <p:cNvSpPr/>
          <p:nvPr/>
        </p:nvSpPr>
        <p:spPr>
          <a:xfrm>
            <a:off x="2307200" y="2140000"/>
            <a:ext cx="46500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Connection points, clashes and holding areas — where scopes, systems and work zones physically or contractually meet.</a:t>
            </a:r>
          </a:p>
        </p:txBody>
      </p:sp>
      <p:sp>
        <p:nvSpPr>
          <p:cNvPr id="106" name="Matrix 106"/>
          <p:cNvSpPr/>
          <p:nvPr/>
        </p:nvSpPr>
        <p:spPr>
          <a:xfrm>
            <a:off x="7027200" y="2140000"/>
            <a:ext cx="47076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Influence, interest and expectations of the people and parties who affect — or are affected by — the project.</a:t>
            </a:r>
          </a:p>
        </p:txBody>
      </p:sp>
      <p:sp>
        <p:nvSpPr>
          <p:cNvPr id="107" name="Matrix 107"/>
          <p:cNvSpPr/>
          <p:nvPr/>
        </p:nvSpPr>
        <p:spPr>
          <a:xfrm>
            <a:off x="2307200" y="2140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08" name="Matrix 108"/>
          <p:cNvSpPr/>
          <p:nvPr/>
        </p:nvSpPr>
        <p:spPr>
          <a:xfrm>
            <a:off x="7027200" y="2140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09" name="Matrix 109"/>
          <p:cNvSpPr/>
          <p:nvPr/>
        </p:nvSpPr>
        <p:spPr>
          <a:xfrm>
            <a:off x="457200" y="2612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Key question</a:t>
            </a:r>
          </a:p>
        </p:txBody>
      </p:sp>
      <p:sp>
        <p:nvSpPr>
          <p:cNvPr id="110" name="Matrix 110"/>
          <p:cNvSpPr/>
          <p:nvPr/>
        </p:nvSpPr>
        <p:spPr>
          <a:xfrm>
            <a:off x="2307200" y="2612000"/>
            <a:ext cx="4650000" cy="432000"/>
          </a:xfrm>
          <a:prstGeom prst="rect">
            <a:avLst/>
          </a:prstGeom>
          <a:solidFill>
            <a:srgbClr val="FFFFFF"/>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“Where do our works meet, and is every point resolved?”</a:t>
            </a:r>
          </a:p>
        </p:txBody>
      </p:sp>
      <p:sp>
        <p:nvSpPr>
          <p:cNvPr id="111" name="Matrix 111"/>
          <p:cNvSpPr/>
          <p:nvPr/>
        </p:nvSpPr>
        <p:spPr>
          <a:xfrm>
            <a:off x="7027200" y="2612000"/>
            <a:ext cx="4707600" cy="432000"/>
          </a:xfrm>
          <a:prstGeom prst="rect">
            <a:avLst/>
          </a:prstGeom>
          <a:solidFill>
            <a:srgbClr val="FFFFFF"/>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“Who matters, what do they expect, and are they on board?”</a:t>
            </a:r>
          </a:p>
        </p:txBody>
      </p:sp>
      <p:sp>
        <p:nvSpPr>
          <p:cNvPr id="112" name="Matrix 112"/>
          <p:cNvSpPr/>
          <p:nvPr/>
        </p:nvSpPr>
        <p:spPr>
          <a:xfrm>
            <a:off x="2307200" y="2612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13" name="Matrix 113"/>
          <p:cNvSpPr/>
          <p:nvPr/>
        </p:nvSpPr>
        <p:spPr>
          <a:xfrm>
            <a:off x="7027200" y="2612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14" name="Matrix 114"/>
          <p:cNvSpPr/>
          <p:nvPr/>
        </p:nvSpPr>
        <p:spPr>
          <a:xfrm>
            <a:off x="457200" y="3084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Main tool</a:t>
            </a:r>
          </a:p>
        </p:txBody>
      </p:sp>
      <p:sp>
        <p:nvSpPr>
          <p:cNvPr id="115" name="Matrix 115"/>
          <p:cNvSpPr/>
          <p:nvPr/>
        </p:nvSpPr>
        <p:spPr>
          <a:xfrm>
            <a:off x="2307200" y="3084000"/>
            <a:ext cx="46500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Interface Matrix  ·  Interface Points Register</a:t>
            </a:r>
          </a:p>
        </p:txBody>
      </p:sp>
      <p:sp>
        <p:nvSpPr>
          <p:cNvPr id="116" name="Matrix 116"/>
          <p:cNvSpPr/>
          <p:nvPr/>
        </p:nvSpPr>
        <p:spPr>
          <a:xfrm>
            <a:off x="7027200" y="3084000"/>
            <a:ext cx="47076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Power–Interest Matrix  ·  Stakeholder Register &amp; SEP</a:t>
            </a:r>
          </a:p>
        </p:txBody>
      </p:sp>
      <p:sp>
        <p:nvSpPr>
          <p:cNvPr id="117" name="Matrix 117"/>
          <p:cNvSpPr/>
          <p:nvPr/>
        </p:nvSpPr>
        <p:spPr>
          <a:xfrm>
            <a:off x="2307200" y="3084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18" name="Matrix 118"/>
          <p:cNvSpPr/>
          <p:nvPr/>
        </p:nvSpPr>
        <p:spPr>
          <a:xfrm>
            <a:off x="7027200" y="3084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19" name="Matrix 119"/>
          <p:cNvSpPr/>
          <p:nvPr/>
        </p:nvSpPr>
        <p:spPr>
          <a:xfrm>
            <a:off x="457200" y="3556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Typical items</a:t>
            </a:r>
          </a:p>
        </p:txBody>
      </p:sp>
      <p:sp>
        <p:nvSpPr>
          <p:cNvPr id="120" name="Matrix 120"/>
          <p:cNvSpPr/>
          <p:nvPr/>
        </p:nvSpPr>
        <p:spPr>
          <a:xfrm>
            <a:off x="2307200" y="3556000"/>
            <a:ext cx="4650000" cy="432000"/>
          </a:xfrm>
          <a:prstGeom prst="rect">
            <a:avLst/>
          </a:prstGeom>
          <a:solidFill>
            <a:srgbClr val="FFFFFF"/>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Utility crossings and tie-ins, battery limits, work-zone handovers, shared laydown / holding areas.</a:t>
            </a:r>
          </a:p>
        </p:txBody>
      </p:sp>
      <p:sp>
        <p:nvSpPr>
          <p:cNvPr id="121" name="Matrix 121"/>
          <p:cNvSpPr/>
          <p:nvPr/>
        </p:nvSpPr>
        <p:spPr>
          <a:xfrm>
            <a:off x="7027200" y="3556000"/>
            <a:ext cx="4707600" cy="432000"/>
          </a:xfrm>
          <a:prstGeom prst="rect">
            <a:avLst/>
          </a:prstGeom>
          <a:solidFill>
            <a:srgbClr val="FFFFFF"/>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Client, PMC, authorities, utility owners, subcontractors, community — approvals, NOCs, concerns.</a:t>
            </a:r>
          </a:p>
        </p:txBody>
      </p:sp>
      <p:sp>
        <p:nvSpPr>
          <p:cNvPr id="122" name="Matrix 122"/>
          <p:cNvSpPr/>
          <p:nvPr/>
        </p:nvSpPr>
        <p:spPr>
          <a:xfrm>
            <a:off x="2307200" y="3556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23" name="Matrix 123"/>
          <p:cNvSpPr/>
          <p:nvPr/>
        </p:nvSpPr>
        <p:spPr>
          <a:xfrm>
            <a:off x="7027200" y="3556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24" name="Matrix 124"/>
          <p:cNvSpPr/>
          <p:nvPr/>
        </p:nvSpPr>
        <p:spPr>
          <a:xfrm>
            <a:off x="457200" y="4028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Records</a:t>
            </a:r>
          </a:p>
        </p:txBody>
      </p:sp>
      <p:sp>
        <p:nvSpPr>
          <p:cNvPr id="125" name="Matrix 125"/>
          <p:cNvSpPr/>
          <p:nvPr/>
        </p:nvSpPr>
        <p:spPr>
          <a:xfrm>
            <a:off x="2307200" y="4028000"/>
            <a:ext cx="46500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Interface Issue Log, MoM, RFIs, closure evidence and sign-off in Aconex.</a:t>
            </a:r>
          </a:p>
        </p:txBody>
      </p:sp>
      <p:sp>
        <p:nvSpPr>
          <p:cNvPr id="126" name="Matrix 126"/>
          <p:cNvSpPr/>
          <p:nvPr/>
        </p:nvSpPr>
        <p:spPr>
          <a:xfrm>
            <a:off x="7027200" y="4028000"/>
            <a:ext cx="47076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Communication &amp; Action Tracker, MoM, engagement dashboard, lessons learned.</a:t>
            </a:r>
          </a:p>
        </p:txBody>
      </p:sp>
      <p:sp>
        <p:nvSpPr>
          <p:cNvPr id="127" name="Matrix 127"/>
          <p:cNvSpPr/>
          <p:nvPr/>
        </p:nvSpPr>
        <p:spPr>
          <a:xfrm>
            <a:off x="2307200" y="4028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28" name="Matrix 128"/>
          <p:cNvSpPr/>
          <p:nvPr/>
        </p:nvSpPr>
        <p:spPr>
          <a:xfrm>
            <a:off x="7027200" y="4028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29" name="Matrix 129"/>
          <p:cNvSpPr/>
          <p:nvPr/>
        </p:nvSpPr>
        <p:spPr>
          <a:xfrm>
            <a:off x="457200" y="4500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Success measure</a:t>
            </a:r>
          </a:p>
        </p:txBody>
      </p:sp>
      <p:sp>
        <p:nvSpPr>
          <p:cNvPr id="130" name="Matrix 130"/>
          <p:cNvSpPr/>
          <p:nvPr/>
        </p:nvSpPr>
        <p:spPr>
          <a:xfrm>
            <a:off x="2307200" y="4500000"/>
            <a:ext cx="4650000" cy="432000"/>
          </a:xfrm>
          <a:prstGeom prst="rect">
            <a:avLst/>
          </a:prstGeom>
          <a:solidFill>
            <a:srgbClr val="FFFFFF"/>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Interface points closed by target date — with evidence and all-party sign-off.</a:t>
            </a:r>
          </a:p>
        </p:txBody>
      </p:sp>
      <p:sp>
        <p:nvSpPr>
          <p:cNvPr id="131" name="Matrix 131"/>
          <p:cNvSpPr/>
          <p:nvPr/>
        </p:nvSpPr>
        <p:spPr>
          <a:xfrm>
            <a:off x="7027200" y="4500000"/>
            <a:ext cx="4707600" cy="432000"/>
          </a:xfrm>
          <a:prstGeom prst="rect">
            <a:avLst/>
          </a:prstGeom>
          <a:solidFill>
            <a:srgbClr val="FFFFFF"/>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≥85% of stakeholder issues resolved on time; meetings held as scheduled.</a:t>
            </a:r>
          </a:p>
        </p:txBody>
      </p:sp>
      <p:sp>
        <p:nvSpPr>
          <p:cNvPr id="132" name="Matrix 132"/>
          <p:cNvSpPr/>
          <p:nvPr/>
        </p:nvSpPr>
        <p:spPr>
          <a:xfrm>
            <a:off x="2307200" y="4500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33" name="Matrix 133"/>
          <p:cNvSpPr/>
          <p:nvPr/>
        </p:nvSpPr>
        <p:spPr>
          <a:xfrm>
            <a:off x="7027200" y="4500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34" name="Matrix 134"/>
          <p:cNvSpPr/>
          <p:nvPr/>
        </p:nvSpPr>
        <p:spPr>
          <a:xfrm>
            <a:off x="457200" y="4972000"/>
            <a:ext cx="1780000" cy="432000"/>
          </a:xfrm>
          <a:prstGeom prst="roundRect">
            <a:avLst>
              <a:gd name="adj" fmla="val 12000"/>
            </a:avLst>
          </a:prstGeom>
          <a:solidFill>
            <a:srgbClr val="D9ECE7"/>
          </a:solidFill>
          <a:ln>
            <a:noFill/>
          </a:ln>
        </p:spPr>
        <p:txBody>
          <a:bodyPr wrap="square" lIns="110000" tIns="55000" rIns="110000" bIns="55000" anchor="ctr"/>
          <a:lstStyle/>
          <a:p>
            <a:pPr algn="l">
              <a:buNone/>
            </a:pPr>
            <a:r>
              <a:rPr lang="en-US" sz="1150" b="1" i="0" dirty="0">
                <a:solidFill>
                  <a:srgbClr val="004549"/>
                </a:solidFill>
                <a:latin typeface="Calibri"/>
                <a:cs typeface="Calibri"/>
              </a:rPr>
              <a:t>Governing procedure</a:t>
            </a:r>
          </a:p>
        </p:txBody>
      </p:sp>
      <p:sp>
        <p:nvSpPr>
          <p:cNvPr id="135" name="Matrix 135"/>
          <p:cNvSpPr/>
          <p:nvPr/>
        </p:nvSpPr>
        <p:spPr>
          <a:xfrm>
            <a:off x="2307200" y="4972000"/>
            <a:ext cx="46500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MAH-ENC-CNS-PM-PRO-001  ·  RACI TMP-001</a:t>
            </a:r>
          </a:p>
        </p:txBody>
      </p:sp>
      <p:sp>
        <p:nvSpPr>
          <p:cNvPr id="136" name="Matrix 136"/>
          <p:cNvSpPr/>
          <p:nvPr/>
        </p:nvSpPr>
        <p:spPr>
          <a:xfrm>
            <a:off x="7027200" y="4972000"/>
            <a:ext cx="4707600" cy="432000"/>
          </a:xfrm>
          <a:prstGeom prst="rect">
            <a:avLst/>
          </a:prstGeom>
          <a:solidFill>
            <a:srgbClr val="F4F9F8"/>
          </a:solidFill>
          <a:ln w="12700">
            <a:solidFill>
              <a:srgbClr val="D9ECE7"/>
            </a:solidFill>
          </a:ln>
        </p:spPr>
        <p:txBody>
          <a:bodyPr wrap="square" lIns="110000" tIns="55000" rIns="110000" bIns="55000" anchor="ctr"/>
          <a:lstStyle/>
          <a:p>
            <a:pPr algn="l">
              <a:buNone/>
            </a:pPr>
            <a:r>
              <a:rPr lang="en-US" sz="1080" b="0" i="0" dirty="0">
                <a:solidFill>
                  <a:srgbClr val="333F48"/>
                </a:solidFill>
                <a:latin typeface="Calibri"/>
                <a:cs typeface="Calibri"/>
              </a:rPr>
              <a:t>MAH-ENC-CNS-PM-PRO-002  ·  RACI TMP-002  ·  SEP TMP-003</a:t>
            </a:r>
          </a:p>
        </p:txBody>
      </p:sp>
      <p:sp>
        <p:nvSpPr>
          <p:cNvPr id="137" name="Matrix 137"/>
          <p:cNvSpPr/>
          <p:nvPr/>
        </p:nvSpPr>
        <p:spPr>
          <a:xfrm>
            <a:off x="2307200" y="4972000"/>
            <a:ext cx="45000" cy="432000"/>
          </a:xfrm>
          <a:prstGeom prst="rect">
            <a:avLst/>
          </a:prstGeom>
          <a:solidFill>
            <a:srgbClr val="004549"/>
          </a:solidFill>
          <a:ln>
            <a:noFill/>
          </a:ln>
        </p:spPr>
        <p:txBody>
          <a:bodyPr wrap="square" lIns="91440" tIns="45720" rIns="91440" bIns="45720" anchor="ctr"/>
          <a:lstStyle/>
          <a:p>
            <a:endParaRPr lang="en-US" dirty="0"/>
          </a:p>
        </p:txBody>
      </p:sp>
      <p:sp>
        <p:nvSpPr>
          <p:cNvPr id="138" name="Matrix 138"/>
          <p:cNvSpPr/>
          <p:nvPr/>
        </p:nvSpPr>
        <p:spPr>
          <a:xfrm>
            <a:off x="7027200" y="4972000"/>
            <a:ext cx="45000" cy="432000"/>
          </a:xfrm>
          <a:prstGeom prst="rect">
            <a:avLst/>
          </a:prstGeom>
          <a:solidFill>
            <a:srgbClr val="43A99A"/>
          </a:solidFill>
          <a:ln>
            <a:noFill/>
          </a:ln>
        </p:spPr>
        <p:txBody>
          <a:bodyPr wrap="square" lIns="91440" tIns="45720" rIns="91440" bIns="45720" anchor="ctr"/>
          <a:lstStyle/>
          <a:p>
            <a:endParaRPr lang="en-US" dirty="0"/>
          </a:p>
        </p:txBody>
      </p:sp>
      <p:sp>
        <p:nvSpPr>
          <p:cNvPr id="139" name="Matrix 139"/>
          <p:cNvSpPr/>
          <p:nvPr/>
        </p:nvSpPr>
        <p:spPr>
          <a:xfrm>
            <a:off x="1150000" y="5484000"/>
            <a:ext cx="10584800" cy="600000"/>
          </a:xfrm>
          <a:prstGeom prst="roundRect">
            <a:avLst>
              <a:gd name="adj" fmla="val 10000"/>
            </a:avLst>
          </a:prstGeom>
          <a:solidFill>
            <a:srgbClr val="004549"/>
          </a:solidFill>
          <a:ln>
            <a:noFill/>
          </a:ln>
        </p:spPr>
        <p:txBody>
          <a:bodyPr wrap="square" lIns="150000" tIns="75000" rIns="150000" bIns="75000" anchor="ctr"/>
          <a:lstStyle/>
          <a:p>
            <a:pPr algn="l">
              <a:buNone/>
            </a:pPr>
            <a:r>
              <a:rPr lang="en-US" sz="1150" b="1" i="0" dirty="0">
                <a:solidFill>
                  <a:srgbClr val="8FCFC3"/>
                </a:solidFill>
                <a:latin typeface="Calibri"/>
                <a:cs typeface="Calibri"/>
              </a:rPr>
              <a:t>Two roles — they cannot be merged into one title:  </a:t>
            </a:r>
            <a:r>
              <a:rPr lang="en-US" sz="1100" b="0" i="0" dirty="0">
                <a:solidFill>
                  <a:srgbClr val="FFFFFF"/>
                </a:solidFill>
                <a:latin typeface="Calibri"/>
                <a:cs typeface="Calibri"/>
              </a:rPr>
              <a:t>interfaces need technical and contractual control of points, clashes and holding areas; stakeholders need management of people, influence and expectations. Different skills, tools, registers and procedures (PRO-001 vs PRO-002) — combining them loses one or the other. They work side by side: the Interface Manager closes the technical point, the Stakeholder Manager secures the agreement behind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WHERE THEY INTERSECT</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Two separate roles — connected, not merged</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8</a:t>
            </a:r>
            <a:endParaRPr lang="en-US" sz="1100" dirty="0"/>
          </a:p>
        </p:txBody>
      </p:sp>
      <p:sp>
        <p:nvSpPr>
          <p:cNvPr id="101" name="Matrix 101"/>
          <p:cNvSpPr/>
          <p:nvPr/>
        </p:nvSpPr>
        <p:spPr>
          <a:xfrm>
            <a:off x="520000" y="1450000"/>
            <a:ext cx="3950000" cy="3900000"/>
          </a:xfrm>
          <a:prstGeom prst="roundRect">
            <a:avLst>
              <a:gd name="adj" fmla="val 5000"/>
            </a:avLst>
          </a:prstGeom>
          <a:solidFill>
            <a:srgbClr val="EEF6F4"/>
          </a:solidFill>
          <a:ln w="12700">
            <a:solidFill>
              <a:srgbClr val="D9ECE7"/>
            </a:solidFill>
          </a:ln>
        </p:spPr>
        <p:txBody>
          <a:bodyPr wrap="square" lIns="260000" tIns="130000" rIns="260000" bIns="130000" anchor="t"/>
          <a:lstStyle/>
          <a:p>
            <a:pPr algn="l">
              <a:spcAft>
                <a:spcPts val="60"/>
              </a:spcAft>
              <a:buNone/>
            </a:pPr>
            <a:r>
              <a:rPr lang="en-US" sz="1600" b="1" i="0" dirty="0">
                <a:solidFill>
                  <a:srgbClr val="004549"/>
                </a:solidFill>
                <a:latin typeface="Calibri"/>
                <a:cs typeface="Calibri"/>
              </a:rPr>
              <a:t>INTERFACE MANAGER</a:t>
            </a:r>
          </a:p>
          <a:p>
            <a:pPr algn="l">
              <a:spcAft>
                <a:spcPts val="2000"/>
              </a:spcAft>
              <a:buNone/>
            </a:pPr>
            <a:r>
              <a:rPr lang="en-US" sz="1100" b="0" i="1" dirty="0">
                <a:solidFill>
                  <a:srgbClr val="5A626E"/>
                </a:solidFill>
                <a:latin typeface="Calibri"/>
                <a:cs typeface="Calibri"/>
              </a:rPr>
              <a:t>Controls connection points  ·  PRO-001</a:t>
            </a:r>
          </a:p>
          <a:p>
            <a:pPr algn="l">
              <a:spcAft>
                <a:spcPts val="2000"/>
              </a:spcAft>
              <a:buNone/>
            </a:pPr>
            <a:r>
              <a:rPr lang="en-US" sz="1350" b="0" i="0" dirty="0">
                <a:solidFill>
                  <a:srgbClr val="333F48"/>
                </a:solidFill>
                <a:latin typeface="Calibri"/>
                <a:cs typeface="Calibri"/>
              </a:rPr>
              <a:t>–  Interface Points Register</a:t>
            </a:r>
          </a:p>
          <a:p>
            <a:pPr algn="l">
              <a:spcAft>
                <a:spcPts val="2000"/>
              </a:spcAft>
              <a:buNone/>
            </a:pPr>
            <a:r>
              <a:rPr lang="en-US" sz="1350" b="0" i="0" dirty="0">
                <a:solidFill>
                  <a:srgbClr val="333F48"/>
                </a:solidFill>
                <a:latin typeface="Calibri"/>
                <a:cs typeface="Calibri"/>
              </a:rPr>
              <a:t>–  Interface Matrix Sheet</a:t>
            </a:r>
          </a:p>
          <a:p>
            <a:pPr algn="l">
              <a:spcAft>
                <a:spcPts val="2000"/>
              </a:spcAft>
              <a:buNone/>
            </a:pPr>
            <a:r>
              <a:rPr lang="en-US" sz="1350" b="0" i="0" dirty="0">
                <a:solidFill>
                  <a:srgbClr val="333F48"/>
                </a:solidFill>
                <a:latin typeface="Calibri"/>
                <a:cs typeface="Calibri"/>
              </a:rPr>
              <a:t>–  Design &amp; field coordination</a:t>
            </a:r>
          </a:p>
          <a:p>
            <a:pPr algn="l">
              <a:spcAft>
                <a:spcPts val="2000"/>
              </a:spcAft>
              <a:buNone/>
            </a:pPr>
            <a:r>
              <a:rPr lang="en-US" sz="1350" b="0" i="0" dirty="0">
                <a:solidFill>
                  <a:srgbClr val="333F48"/>
                </a:solidFill>
                <a:latin typeface="Calibri"/>
                <a:cs typeface="Calibri"/>
              </a:rPr>
              <a:t>–  Technical RFIs and clashes</a:t>
            </a:r>
          </a:p>
        </p:txBody>
      </p:sp>
      <p:sp>
        <p:nvSpPr>
          <p:cNvPr id="102" name="Matrix 102"/>
          <p:cNvSpPr/>
          <p:nvPr/>
        </p:nvSpPr>
        <p:spPr>
          <a:xfrm>
            <a:off x="520000" y="1450000"/>
            <a:ext cx="3950000" cy="70000"/>
          </a:xfrm>
          <a:prstGeom prst="rect">
            <a:avLst/>
          </a:prstGeom>
          <a:solidFill>
            <a:srgbClr val="004549"/>
          </a:solidFill>
          <a:ln>
            <a:noFill/>
          </a:ln>
        </p:spPr>
        <p:txBody>
          <a:bodyPr wrap="square" lIns="91440" tIns="45720" rIns="91440" bIns="45720" anchor="ctr"/>
          <a:lstStyle/>
          <a:p>
            <a:endParaRPr lang="en-US" dirty="0"/>
          </a:p>
        </p:txBody>
      </p:sp>
      <p:sp>
        <p:nvSpPr>
          <p:cNvPr id="103" name="Matrix 103"/>
          <p:cNvSpPr/>
          <p:nvPr/>
        </p:nvSpPr>
        <p:spPr>
          <a:xfrm>
            <a:off x="7784800" y="1450000"/>
            <a:ext cx="3950000" cy="3900000"/>
          </a:xfrm>
          <a:prstGeom prst="roundRect">
            <a:avLst>
              <a:gd name="adj" fmla="val 5000"/>
            </a:avLst>
          </a:prstGeom>
          <a:solidFill>
            <a:srgbClr val="EEF6F4"/>
          </a:solidFill>
          <a:ln w="12700">
            <a:solidFill>
              <a:srgbClr val="D9ECE7"/>
            </a:solidFill>
          </a:ln>
        </p:spPr>
        <p:txBody>
          <a:bodyPr wrap="square" lIns="260000" tIns="130000" rIns="260000" bIns="130000" anchor="t"/>
          <a:lstStyle/>
          <a:p>
            <a:pPr algn="l">
              <a:spcAft>
                <a:spcPts val="60"/>
              </a:spcAft>
              <a:buNone/>
            </a:pPr>
            <a:r>
              <a:rPr lang="en-US" sz="1600" b="1" i="0" dirty="0">
                <a:solidFill>
                  <a:srgbClr val="43A99A"/>
                </a:solidFill>
                <a:latin typeface="Calibri"/>
                <a:cs typeface="Calibri"/>
              </a:rPr>
              <a:t>STAKEHOLDER MANAGER</a:t>
            </a:r>
          </a:p>
          <a:p>
            <a:pPr algn="l">
              <a:spcAft>
                <a:spcPts val="2000"/>
              </a:spcAft>
              <a:buNone/>
            </a:pPr>
            <a:r>
              <a:rPr lang="en-US" sz="1100" b="0" i="1" dirty="0">
                <a:solidFill>
                  <a:srgbClr val="5A626E"/>
                </a:solidFill>
                <a:latin typeface="Calibri"/>
                <a:cs typeface="Calibri"/>
              </a:rPr>
              <a:t>Controls relationships  ·  PRO-002</a:t>
            </a:r>
          </a:p>
          <a:p>
            <a:pPr algn="l">
              <a:spcAft>
                <a:spcPts val="2000"/>
              </a:spcAft>
              <a:buNone/>
            </a:pPr>
            <a:r>
              <a:rPr lang="en-US" sz="1350" b="0" i="0" dirty="0">
                <a:solidFill>
                  <a:srgbClr val="333F48"/>
                </a:solidFill>
                <a:latin typeface="Calibri"/>
                <a:cs typeface="Calibri"/>
              </a:rPr>
              <a:t>–  Stakeholder Register</a:t>
            </a:r>
          </a:p>
          <a:p>
            <a:pPr algn="l">
              <a:spcAft>
                <a:spcPts val="2000"/>
              </a:spcAft>
              <a:buNone/>
            </a:pPr>
            <a:r>
              <a:rPr lang="en-US" sz="1350" b="0" i="0" dirty="0">
                <a:solidFill>
                  <a:srgbClr val="333F48"/>
                </a:solidFill>
                <a:latin typeface="Calibri"/>
                <a:cs typeface="Calibri"/>
              </a:rPr>
              <a:t>–  Power–Interest Matrix</a:t>
            </a:r>
          </a:p>
          <a:p>
            <a:pPr algn="l">
              <a:spcAft>
                <a:spcPts val="2000"/>
              </a:spcAft>
              <a:buNone/>
            </a:pPr>
            <a:r>
              <a:rPr lang="en-US" sz="1350" b="0" i="0" dirty="0">
                <a:solidFill>
                  <a:srgbClr val="333F48"/>
                </a:solidFill>
                <a:latin typeface="Calibri"/>
                <a:cs typeface="Calibri"/>
              </a:rPr>
              <a:t>–  Engagement &amp; communication plan</a:t>
            </a:r>
          </a:p>
          <a:p>
            <a:pPr algn="l">
              <a:spcAft>
                <a:spcPts val="2000"/>
              </a:spcAft>
              <a:buNone/>
            </a:pPr>
            <a:r>
              <a:rPr lang="en-US" sz="1350" b="0" i="0" dirty="0">
                <a:solidFill>
                  <a:srgbClr val="333F48"/>
                </a:solidFill>
                <a:latin typeface="Calibri"/>
                <a:cs typeface="Calibri"/>
              </a:rPr>
              <a:t>–  Relationship-level conflicts</a:t>
            </a:r>
          </a:p>
        </p:txBody>
      </p:sp>
      <p:sp>
        <p:nvSpPr>
          <p:cNvPr id="104" name="Matrix 104"/>
          <p:cNvSpPr/>
          <p:nvPr/>
        </p:nvSpPr>
        <p:spPr>
          <a:xfrm>
            <a:off x="7784800" y="1450000"/>
            <a:ext cx="3950000" cy="70000"/>
          </a:xfrm>
          <a:prstGeom prst="rect">
            <a:avLst/>
          </a:prstGeom>
          <a:solidFill>
            <a:srgbClr val="43A99A"/>
          </a:solidFill>
          <a:ln>
            <a:noFill/>
          </a:ln>
        </p:spPr>
        <p:txBody>
          <a:bodyPr wrap="square" lIns="91440" tIns="45720" rIns="91440" bIns="45720" anchor="ctr"/>
          <a:lstStyle/>
          <a:p>
            <a:endParaRPr lang="en-US" dirty="0"/>
          </a:p>
        </p:txBody>
      </p:sp>
      <p:sp>
        <p:nvSpPr>
          <p:cNvPr id="105" name="Matrix 105"/>
          <p:cNvSpPr/>
          <p:nvPr/>
        </p:nvSpPr>
        <p:spPr>
          <a:xfrm>
            <a:off x="4990000" y="2150000"/>
            <a:ext cx="2274800" cy="2500000"/>
          </a:xfrm>
          <a:prstGeom prst="roundRect">
            <a:avLst>
              <a:gd name="adj" fmla="val 9000"/>
            </a:avLst>
          </a:prstGeom>
          <a:solidFill>
            <a:srgbClr val="004549"/>
          </a:solidFill>
          <a:ln>
            <a:noFill/>
          </a:ln>
        </p:spPr>
        <p:txBody>
          <a:bodyPr wrap="square" lIns="160000" tIns="80000" rIns="160000" bIns="80000" anchor="ctr"/>
          <a:lstStyle/>
          <a:p>
            <a:pPr algn="ctr">
              <a:buNone/>
            </a:pPr>
            <a:r>
              <a:rPr lang="en-US" sz="1500" b="1" i="0" dirty="0">
                <a:solidFill>
                  <a:srgbClr val="FFFFFF"/>
                </a:solidFill>
                <a:latin typeface="Calibri"/>
                <a:cs typeface="Calibri"/>
              </a:rPr>
              <a:t>ALIGNED,</a:t>
            </a:r>
          </a:p>
          <a:p>
            <a:pPr algn="ctr">
              <a:spcAft>
                <a:spcPts val="900"/>
              </a:spcAft>
              <a:buNone/>
            </a:pPr>
            <a:r>
              <a:rPr lang="en-US" sz="1500" b="1" i="0" dirty="0">
                <a:solidFill>
                  <a:srgbClr val="FFFFFF"/>
                </a:solidFill>
                <a:latin typeface="Calibri"/>
                <a:cs typeface="Calibri"/>
              </a:rPr>
              <a:t>NOT MERGED</a:t>
            </a:r>
          </a:p>
          <a:p>
            <a:pPr algn="ctr">
              <a:buNone/>
            </a:pPr>
            <a:r>
              <a:rPr lang="en-US" sz="1100" b="0" i="0" dirty="0">
                <a:solidFill>
                  <a:srgbClr val="8FCFC3"/>
                </a:solidFill>
                <a:latin typeface="Calibri"/>
                <a:cs typeface="Calibri"/>
              </a:rPr>
              <a:t>Each role keeps its own owner, register, RACI and procedure. The Interface Manager supports the Stakeholder Manager’s communication flow, and both registers are aligned after every coordination meeting.</a:t>
            </a:r>
          </a:p>
        </p:txBody>
      </p:sp>
      <p:sp>
        <p:nvSpPr>
          <p:cNvPr id="106" name="Matrix 106"/>
          <p:cNvSpPr/>
          <p:nvPr/>
        </p:nvSpPr>
        <p:spPr>
          <a:xfrm>
            <a:off x="4530000" y="3250000"/>
            <a:ext cx="400000" cy="300000"/>
          </a:xfrm>
          <a:prstGeom prst="leftRightArrow">
            <a:avLst/>
          </a:prstGeom>
          <a:solidFill>
            <a:srgbClr val="8FCFC3"/>
          </a:solidFill>
          <a:ln>
            <a:noFill/>
          </a:ln>
        </p:spPr>
        <p:txBody>
          <a:bodyPr wrap="square" lIns="91440" tIns="45720" rIns="91440" bIns="45720" anchor="ctr"/>
          <a:lstStyle/>
          <a:p>
            <a:endParaRPr lang="en-US" dirty="0"/>
          </a:p>
        </p:txBody>
      </p:sp>
      <p:sp>
        <p:nvSpPr>
          <p:cNvPr id="107" name="Matrix 107"/>
          <p:cNvSpPr/>
          <p:nvPr/>
        </p:nvSpPr>
        <p:spPr>
          <a:xfrm>
            <a:off x="7324800" y="3250000"/>
            <a:ext cx="400000" cy="300000"/>
          </a:xfrm>
          <a:prstGeom prst="leftRightArrow">
            <a:avLst/>
          </a:prstGeom>
          <a:solidFill>
            <a:srgbClr val="8FCFC3"/>
          </a:solidFill>
          <a:ln>
            <a:noFill/>
          </a:ln>
        </p:spPr>
        <p:txBody>
          <a:bodyPr wrap="square" lIns="91440" tIns="45720" rIns="91440" bIns="45720" anchor="ctr"/>
          <a:lstStyle/>
          <a:p>
            <a:endParaRPr lang="en-US" dirty="0"/>
          </a:p>
        </p:txBody>
      </p:sp>
      <p:sp>
        <p:nvSpPr>
          <p:cNvPr id="108" name="Matrix 108"/>
          <p:cNvSpPr/>
          <p:nvPr/>
        </p:nvSpPr>
        <p:spPr>
          <a:xfrm>
            <a:off x="1150000" y="5500000"/>
            <a:ext cx="10584800" cy="520000"/>
          </a:xfrm>
          <a:prstGeom prst="roundRect">
            <a:avLst>
              <a:gd name="adj" fmla="val 10000"/>
            </a:avLst>
          </a:prstGeom>
          <a:solidFill>
            <a:srgbClr val="F4F9F8"/>
          </a:solidFill>
          <a:ln w="12700">
            <a:solidFill>
              <a:srgbClr val="D9ECE7"/>
            </a:solidFill>
          </a:ln>
        </p:spPr>
        <p:txBody>
          <a:bodyPr wrap="square" lIns="150000" tIns="75000" rIns="150000" bIns="75000" anchor="ctr"/>
          <a:lstStyle/>
          <a:p>
            <a:pPr algn="l">
              <a:buNone/>
            </a:pPr>
            <a:r>
              <a:rPr lang="en-US" sz="1150" b="1" i="0" dirty="0">
                <a:solidFill>
                  <a:srgbClr val="004549"/>
                </a:solidFill>
                <a:latin typeface="Calibri"/>
                <a:cs typeface="Calibri"/>
              </a:rPr>
              <a:t>Escalation stays separate but aligned:  </a:t>
            </a:r>
            <a:r>
              <a:rPr lang="en-US" sz="1100" b="0" i="0" dirty="0">
                <a:solidFill>
                  <a:srgbClr val="333F48"/>
                </a:solidFill>
                <a:latin typeface="Calibri"/>
                <a:cs typeface="Calibri"/>
              </a:rPr>
              <a:t>interface conflicts follow the PRO-001 escalation route; stakeholder disagreements follow the PRO-002 escalation matrix. Each manager owns his own log — both feed the same governance chain.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work/assets/bg_light.jpeg"/>
          <p:cNvPicPr>
            <a:picLocks noChangeAspect="1"/>
          </p:cNvPicPr>
          <p:nvPr/>
        </p:nvPicPr>
        <p:blipFill>
          <a:blip r:embed="rId2"/>
          <a:stretch>
            <a:fillRect/>
          </a:stretch>
        </p:blipFill>
        <p:spPr>
          <a:xfrm>
            <a:off x="0" y="0"/>
            <a:ext cx="12191695" cy="6858000"/>
          </a:xfrm>
          <a:prstGeom prst="rect">
            <a:avLst/>
          </a:prstGeom>
        </p:spPr>
      </p:pic>
      <p:sp>
        <p:nvSpPr>
          <p:cNvPr id="3" name="Text 0"/>
          <p:cNvSpPr txBox="1"/>
          <p:nvPr/>
        </p:nvSpPr>
        <p:spPr>
          <a:xfrm>
            <a:off x="493776" y="274320"/>
            <a:ext cx="7315200" cy="228600"/>
          </a:xfrm>
          <a:prstGeom prst="rect">
            <a:avLst/>
          </a:prstGeom>
          <a:noFill/>
          <a:ln/>
        </p:spPr>
        <p:txBody>
          <a:bodyPr wrap="square" lIns="0" tIns="0" rIns="0" bIns="0" rtlCol="0" anchor="ctr"/>
          <a:lstStyle/>
          <a:p>
            <a:pPr marL="0" indent="0">
              <a:buNone/>
            </a:pPr>
            <a:r>
              <a:rPr lang="en-US" sz="1050" b="1" kern="0" spc="100" dirty="0">
                <a:solidFill>
                  <a:srgbClr val="43A99A"/>
                </a:solidFill>
                <a:latin typeface="Calibri" pitchFamily="34" charset="0"/>
                <a:ea typeface="Calibri" pitchFamily="34" charset="-122"/>
                <a:cs typeface="Calibri" pitchFamily="34" charset="-120"/>
              </a:rPr>
              <a:t>05 · ORGANIZATIONAL SEPARATION</a:t>
            </a:r>
            <a:endParaRPr lang="en-US" sz="1050" dirty="0"/>
          </a:p>
        </p:txBody>
      </p:sp>
      <p:sp>
        <p:nvSpPr>
          <p:cNvPr id="4" name="Text 1"/>
          <p:cNvSpPr txBox="1"/>
          <p:nvPr/>
        </p:nvSpPr>
        <p:spPr>
          <a:xfrm>
            <a:off x="493776" y="548640"/>
            <a:ext cx="10954512" cy="566928"/>
          </a:xfrm>
          <a:prstGeom prst="rect">
            <a:avLst/>
          </a:prstGeom>
          <a:noFill/>
          <a:ln/>
        </p:spPr>
        <p:txBody>
          <a:bodyPr wrap="square" lIns="0" tIns="0" rIns="0" bIns="0" rtlCol="0" anchor="ctr"/>
          <a:lstStyle/>
          <a:p>
            <a:pPr marL="0" indent="0">
              <a:lnSpc>
                <a:spcPct val="95000"/>
              </a:lnSpc>
              <a:buNone/>
            </a:pPr>
            <a:r>
              <a:rPr lang="en-US" sz="2800" b="1" dirty="0">
                <a:solidFill>
                  <a:srgbClr val="004549"/>
                </a:solidFill>
                <a:latin typeface="Calibri" pitchFamily="34" charset="0"/>
                <a:ea typeface="Calibri" pitchFamily="34" charset="-122"/>
                <a:cs typeface="Calibri" pitchFamily="34" charset="-120"/>
              </a:rPr>
              <a:t>Two disciplines, two departments — not one combined role</a:t>
            </a:r>
            <a:endParaRPr lang="en-US" sz="2800" dirty="0"/>
          </a:p>
        </p:txBody>
      </p:sp>
      <p:sp>
        <p:nvSpPr>
          <p:cNvPr id="5" name="Text 2"/>
          <p:cNvSpPr txBox="1"/>
          <p:nvPr/>
        </p:nvSpPr>
        <p:spPr>
          <a:xfrm>
            <a:off x="11411712" y="6373368"/>
            <a:ext cx="320040" cy="182880"/>
          </a:xfrm>
          <a:prstGeom prst="rect">
            <a:avLst/>
          </a:prstGeom>
          <a:noFill/>
          <a:ln/>
        </p:spPr>
        <p:txBody>
          <a:bodyPr wrap="square" lIns="0" tIns="0" rIns="0" bIns="0" rtlCol="0" anchor="ctr"/>
          <a:lstStyle/>
          <a:p>
            <a:pPr marL="0" indent="0" algn="r">
              <a:buNone/>
            </a:pPr>
            <a:r>
              <a:rPr lang="en-US" sz="975" dirty="0">
                <a:solidFill>
                  <a:srgbClr val="5A626E"/>
                </a:solidFill>
                <a:latin typeface="Calibri" pitchFamily="34" charset="0"/>
                <a:ea typeface="Calibri" pitchFamily="34" charset="-122"/>
                <a:cs typeface="Calibri" pitchFamily="34" charset="-120"/>
              </a:rPr>
              <a:t>9</a:t>
            </a:r>
            <a:endParaRPr lang="en-US" sz="975" dirty="0"/>
          </a:p>
        </p:txBody>
      </p:sp>
      <p:sp>
        <p:nvSpPr>
          <p:cNvPr id="6" name="Shape 3"/>
          <p:cNvSpPr/>
          <p:nvPr/>
        </p:nvSpPr>
        <p:spPr>
          <a:xfrm>
            <a:off x="548640" y="1417320"/>
            <a:ext cx="5257800" cy="4267488"/>
          </a:xfrm>
          <a:prstGeom prst="roundRect">
            <a:avLst>
              <a:gd name="adj" fmla="val 3000"/>
            </a:avLst>
          </a:prstGeom>
          <a:solidFill>
            <a:srgbClr val="E3EDEA"/>
          </a:solidFill>
          <a:ln w="9525">
            <a:solidFill>
              <a:srgbClr val="C8E8E3"/>
            </a:solidFill>
            <a:prstDash val="solid"/>
          </a:ln>
        </p:spPr>
        <p:txBody>
          <a:bodyPr/>
          <a:lstStyle/>
          <a:p>
            <a:endParaRPr lang="en-US"/>
          </a:p>
        </p:txBody>
      </p:sp>
      <p:sp>
        <p:nvSpPr>
          <p:cNvPr id="7" name="Shape 4"/>
          <p:cNvSpPr/>
          <p:nvPr/>
        </p:nvSpPr>
        <p:spPr>
          <a:xfrm>
            <a:off x="548640" y="1417320"/>
            <a:ext cx="5257800" cy="566928"/>
          </a:xfrm>
          <a:prstGeom prst="roundRect">
            <a:avLst>
              <a:gd name="adj" fmla="val 10000"/>
            </a:avLst>
          </a:prstGeom>
          <a:solidFill>
            <a:srgbClr val="004549"/>
          </a:solidFill>
          <a:ln w="9525">
            <a:solidFill>
              <a:srgbClr val="004549"/>
            </a:solidFill>
            <a:prstDash val="solid"/>
          </a:ln>
        </p:spPr>
        <p:txBody>
          <a:bodyPr/>
          <a:lstStyle/>
          <a:p>
            <a:endParaRPr lang="en-US"/>
          </a:p>
        </p:txBody>
      </p:sp>
      <p:sp>
        <p:nvSpPr>
          <p:cNvPr id="8" name="Text 5"/>
          <p:cNvSpPr txBox="1"/>
          <p:nvPr/>
        </p:nvSpPr>
        <p:spPr>
          <a:xfrm>
            <a:off x="777240" y="1417320"/>
            <a:ext cx="480060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INTERFACE MANAGEMENT</a:t>
            </a:r>
            <a:endParaRPr lang="en-US" sz="1500" dirty="0"/>
          </a:p>
        </p:txBody>
      </p:sp>
      <p:sp>
        <p:nvSpPr>
          <p:cNvPr id="9" name="Text 6"/>
          <p:cNvSpPr txBox="1"/>
          <p:nvPr/>
        </p:nvSpPr>
        <p:spPr>
          <a:xfrm>
            <a:off x="822960" y="219456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Department mandate</a:t>
            </a:r>
            <a:endParaRPr lang="en-US" sz="1100" dirty="0"/>
          </a:p>
        </p:txBody>
      </p:sp>
      <p:sp>
        <p:nvSpPr>
          <p:cNvPr id="10" name="Text 7"/>
          <p:cNvSpPr txBox="1"/>
          <p:nvPr/>
        </p:nvSpPr>
        <p:spPr>
          <a:xfrm>
            <a:off x="822960" y="2487168"/>
            <a:ext cx="4709160" cy="548640"/>
          </a:xfrm>
          <a:prstGeom prst="rect">
            <a:avLst/>
          </a:prstGeom>
          <a:noFill/>
          <a:ln/>
        </p:spPr>
        <p:txBody>
          <a:bodyPr wrap="square" lIns="0" tIns="0" rIns="0" bIns="0" rtlCol="0" anchor="ctr"/>
          <a:lstStyle/>
          <a:p>
            <a:pPr marL="0" indent="0">
              <a:lnSpc>
                <a:spcPct val="105000"/>
              </a:lnSpc>
              <a:buNone/>
            </a:pPr>
            <a:r>
              <a:rPr lang="en-US" sz="1350" i="1" dirty="0">
                <a:solidFill>
                  <a:srgbClr val="004549"/>
                </a:solidFill>
                <a:latin typeface="Calibri" pitchFamily="34" charset="0"/>
                <a:ea typeface="Calibri" pitchFamily="34" charset="-122"/>
                <a:cs typeface="Calibri" pitchFamily="34" charset="-120"/>
              </a:rPr>
              <a:t>A technical / engineering function accountable for physical and design coordination across disciplines and contractors.</a:t>
            </a:r>
            <a:endParaRPr lang="en-US" sz="1350" dirty="0"/>
          </a:p>
        </p:txBody>
      </p:sp>
      <p:sp>
        <p:nvSpPr>
          <p:cNvPr id="11" name="Text 8"/>
          <p:cNvSpPr txBox="1"/>
          <p:nvPr/>
        </p:nvSpPr>
        <p:spPr>
          <a:xfrm>
            <a:off x="822960" y="315468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Core owner</a:t>
            </a:r>
            <a:endParaRPr lang="en-US" sz="1100" dirty="0"/>
          </a:p>
        </p:txBody>
      </p:sp>
      <p:sp>
        <p:nvSpPr>
          <p:cNvPr id="12" name="Text 9"/>
          <p:cNvSpPr txBox="1"/>
          <p:nvPr/>
        </p:nvSpPr>
        <p:spPr>
          <a:xfrm>
            <a:off x="822960" y="3447288"/>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Interface Manager — owns the Interface Points Register, Interface Matrix Sheet and Interface Issue Log.</a:t>
            </a:r>
            <a:endParaRPr lang="en-US" sz="1250" dirty="0"/>
          </a:p>
        </p:txBody>
      </p:sp>
      <p:sp>
        <p:nvSpPr>
          <p:cNvPr id="13" name="Text 10"/>
          <p:cNvSpPr txBox="1"/>
          <p:nvPr/>
        </p:nvSpPr>
        <p:spPr>
          <a:xfrm>
            <a:off x="822960" y="4325112"/>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Risk of merging the two</a:t>
            </a:r>
            <a:endParaRPr lang="en-US" sz="1100" dirty="0"/>
          </a:p>
        </p:txBody>
      </p:sp>
      <p:sp>
        <p:nvSpPr>
          <p:cNvPr id="14" name="Text 11"/>
          <p:cNvSpPr txBox="1"/>
          <p:nvPr/>
        </p:nvSpPr>
        <p:spPr>
          <a:xfrm>
            <a:off x="822960" y="4617720"/>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Technical coordination gets diluted by negotiation and relationship demands, slowing clash resolution and design sign-off.</a:t>
            </a:r>
            <a:endParaRPr lang="en-US" sz="1250" dirty="0"/>
          </a:p>
        </p:txBody>
      </p:sp>
      <p:sp>
        <p:nvSpPr>
          <p:cNvPr id="15" name="Shape 12"/>
          <p:cNvSpPr/>
          <p:nvPr/>
        </p:nvSpPr>
        <p:spPr>
          <a:xfrm>
            <a:off x="6126480" y="1417320"/>
            <a:ext cx="5257800" cy="4267488"/>
          </a:xfrm>
          <a:prstGeom prst="roundRect">
            <a:avLst>
              <a:gd name="adj" fmla="val 3000"/>
            </a:avLst>
          </a:prstGeom>
          <a:solidFill>
            <a:srgbClr val="E3EDEA"/>
          </a:solidFill>
          <a:ln w="9525">
            <a:solidFill>
              <a:srgbClr val="C8E8E3"/>
            </a:solidFill>
            <a:prstDash val="solid"/>
          </a:ln>
        </p:spPr>
        <p:txBody>
          <a:bodyPr/>
          <a:lstStyle/>
          <a:p>
            <a:endParaRPr lang="en-US"/>
          </a:p>
        </p:txBody>
      </p:sp>
      <p:sp>
        <p:nvSpPr>
          <p:cNvPr id="16" name="Shape 13"/>
          <p:cNvSpPr/>
          <p:nvPr/>
        </p:nvSpPr>
        <p:spPr>
          <a:xfrm>
            <a:off x="6126480" y="1417320"/>
            <a:ext cx="5257800" cy="566928"/>
          </a:xfrm>
          <a:prstGeom prst="roundRect">
            <a:avLst>
              <a:gd name="adj" fmla="val 10000"/>
            </a:avLst>
          </a:prstGeom>
          <a:solidFill>
            <a:srgbClr val="004549"/>
          </a:solidFill>
          <a:ln w="9525">
            <a:solidFill>
              <a:srgbClr val="004549"/>
            </a:solidFill>
            <a:prstDash val="solid"/>
          </a:ln>
        </p:spPr>
        <p:txBody>
          <a:bodyPr/>
          <a:lstStyle/>
          <a:p>
            <a:endParaRPr lang="en-US"/>
          </a:p>
        </p:txBody>
      </p:sp>
      <p:sp>
        <p:nvSpPr>
          <p:cNvPr id="17" name="Text 14"/>
          <p:cNvSpPr txBox="1"/>
          <p:nvPr/>
        </p:nvSpPr>
        <p:spPr>
          <a:xfrm>
            <a:off x="6355080" y="1417320"/>
            <a:ext cx="480060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STAKEHOLDER MANAGEMENT</a:t>
            </a:r>
            <a:endParaRPr lang="en-US" sz="1500" dirty="0"/>
          </a:p>
        </p:txBody>
      </p:sp>
      <p:sp>
        <p:nvSpPr>
          <p:cNvPr id="18" name="Text 15"/>
          <p:cNvSpPr txBox="1"/>
          <p:nvPr/>
        </p:nvSpPr>
        <p:spPr>
          <a:xfrm>
            <a:off x="6400800" y="219456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Department mandate</a:t>
            </a:r>
            <a:endParaRPr lang="en-US" sz="1100" dirty="0"/>
          </a:p>
        </p:txBody>
      </p:sp>
      <p:sp>
        <p:nvSpPr>
          <p:cNvPr id="19" name="Text 16"/>
          <p:cNvSpPr txBox="1"/>
          <p:nvPr/>
        </p:nvSpPr>
        <p:spPr>
          <a:xfrm>
            <a:off x="6400800" y="2487168"/>
            <a:ext cx="4709160" cy="548640"/>
          </a:xfrm>
          <a:prstGeom prst="rect">
            <a:avLst/>
          </a:prstGeom>
          <a:noFill/>
          <a:ln/>
        </p:spPr>
        <p:txBody>
          <a:bodyPr wrap="square" lIns="0" tIns="0" rIns="0" bIns="0" rtlCol="0" anchor="ctr"/>
          <a:lstStyle/>
          <a:p>
            <a:pPr marL="0" indent="0">
              <a:lnSpc>
                <a:spcPct val="105000"/>
              </a:lnSpc>
              <a:buNone/>
            </a:pPr>
            <a:r>
              <a:rPr lang="en-US" sz="1350" i="1" dirty="0">
                <a:solidFill>
                  <a:srgbClr val="004549"/>
                </a:solidFill>
                <a:latin typeface="Calibri" pitchFamily="34" charset="0"/>
                <a:ea typeface="Calibri" pitchFamily="34" charset="-122"/>
                <a:cs typeface="Calibri" pitchFamily="34" charset="-120"/>
              </a:rPr>
              <a:t>A </a:t>
            </a:r>
            <a:r>
              <a:rPr lang="en-US" sz="1350" i="1">
                <a:solidFill>
                  <a:srgbClr val="004549"/>
                </a:solidFill>
                <a:latin typeface="Calibri" pitchFamily="34" charset="0"/>
                <a:ea typeface="Calibri" pitchFamily="34" charset="-122"/>
                <a:cs typeface="Calibri" pitchFamily="34" charset="-120"/>
              </a:rPr>
              <a:t>commercial function </a:t>
            </a:r>
            <a:r>
              <a:rPr lang="en-US" sz="1350" i="1" dirty="0">
                <a:solidFill>
                  <a:srgbClr val="004549"/>
                </a:solidFill>
                <a:latin typeface="Calibri" pitchFamily="34" charset="0"/>
                <a:ea typeface="Calibri" pitchFamily="34" charset="-122"/>
                <a:cs typeface="Calibri" pitchFamily="34" charset="-120"/>
              </a:rPr>
              <a:t>accountable for client, authority and stakeholder engagement and communication.</a:t>
            </a:r>
            <a:endParaRPr lang="en-US" sz="1350" dirty="0"/>
          </a:p>
        </p:txBody>
      </p:sp>
      <p:sp>
        <p:nvSpPr>
          <p:cNvPr id="20" name="Text 17"/>
          <p:cNvSpPr txBox="1"/>
          <p:nvPr/>
        </p:nvSpPr>
        <p:spPr>
          <a:xfrm>
            <a:off x="6400800" y="3154680"/>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Core owner</a:t>
            </a:r>
            <a:endParaRPr lang="en-US" sz="1100" dirty="0"/>
          </a:p>
        </p:txBody>
      </p:sp>
      <p:sp>
        <p:nvSpPr>
          <p:cNvPr id="21" name="Text 18"/>
          <p:cNvSpPr txBox="1"/>
          <p:nvPr/>
        </p:nvSpPr>
        <p:spPr>
          <a:xfrm>
            <a:off x="6400800" y="3447288"/>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Stakeholder Manager — owns the Stakeholder Register, Power–Interest Matrix and Engagement Plan.</a:t>
            </a:r>
            <a:endParaRPr lang="en-US" sz="1250" dirty="0"/>
          </a:p>
        </p:txBody>
      </p:sp>
      <p:sp>
        <p:nvSpPr>
          <p:cNvPr id="22" name="Text 19"/>
          <p:cNvSpPr txBox="1"/>
          <p:nvPr/>
        </p:nvSpPr>
        <p:spPr>
          <a:xfrm>
            <a:off x="6400800" y="4325112"/>
            <a:ext cx="4709160" cy="274320"/>
          </a:xfrm>
          <a:prstGeom prst="rect">
            <a:avLst/>
          </a:prstGeom>
          <a:noFill/>
          <a:ln/>
        </p:spPr>
        <p:txBody>
          <a:bodyPr wrap="square" lIns="0" tIns="0" rIns="0" bIns="0" rtlCol="0" anchor="ctr"/>
          <a:lstStyle/>
          <a:p>
            <a:pPr marL="0" indent="0">
              <a:buNone/>
            </a:pPr>
            <a:r>
              <a:rPr lang="en-US" sz="1100" b="1" dirty="0">
                <a:solidFill>
                  <a:srgbClr val="006B66"/>
                </a:solidFill>
                <a:latin typeface="Calibri" pitchFamily="34" charset="0"/>
                <a:ea typeface="Calibri" pitchFamily="34" charset="-122"/>
                <a:cs typeface="Calibri" pitchFamily="34" charset="-120"/>
              </a:rPr>
              <a:t>Risk of merging the two</a:t>
            </a:r>
            <a:endParaRPr lang="en-US" sz="1100" dirty="0"/>
          </a:p>
        </p:txBody>
      </p:sp>
      <p:sp>
        <p:nvSpPr>
          <p:cNvPr id="23" name="Text 20"/>
          <p:cNvSpPr txBox="1"/>
          <p:nvPr/>
        </p:nvSpPr>
        <p:spPr>
          <a:xfrm>
            <a:off x="6400800" y="4617720"/>
            <a:ext cx="4709160" cy="777240"/>
          </a:xfrm>
          <a:prstGeom prst="rect">
            <a:avLst/>
          </a:prstGeom>
          <a:noFill/>
          <a:ln/>
        </p:spPr>
        <p:txBody>
          <a:bodyPr wrap="square" lIns="0" tIns="0" rIns="0" bIns="0" rtlCol="0" anchor="ctr"/>
          <a:lstStyle/>
          <a:p>
            <a:pPr marL="0" indent="0">
              <a:lnSpc>
                <a:spcPct val="110000"/>
              </a:lnSpc>
              <a:buNone/>
            </a:pPr>
            <a:r>
              <a:rPr lang="en-US" sz="1250" dirty="0">
                <a:solidFill>
                  <a:srgbClr val="2F3235"/>
                </a:solidFill>
                <a:latin typeface="Calibri" pitchFamily="34" charset="0"/>
                <a:ea typeface="Calibri" pitchFamily="34" charset="-122"/>
                <a:cs typeface="Calibri" pitchFamily="34" charset="-120"/>
              </a:rPr>
              <a:t>Stakeholder engagement gets diluted by day-to-day technical firefighting, weakening client and authority relationships.</a:t>
            </a:r>
            <a:endParaRPr lang="en-US" sz="1250" dirty="0"/>
          </a:p>
        </p:txBody>
      </p:sp>
      <p:sp>
        <p:nvSpPr>
          <p:cNvPr id="134" name="Text 131"/>
          <p:cNvSpPr txBox="1"/>
          <p:nvPr/>
        </p:nvSpPr>
        <p:spPr>
          <a:xfrm>
            <a:off x="1404620" y="5731510"/>
            <a:ext cx="10116820" cy="457200"/>
          </a:xfrm>
          <a:prstGeom prst="rect">
            <a:avLst/>
          </a:prstGeom>
          <a:noFill/>
          <a:ln/>
        </p:spPr>
        <p:txBody>
          <a:bodyPr wrap="square" lIns="0" tIns="0" rIns="0" bIns="0" rtlCol="0" anchor="ctr"/>
          <a:lstStyle/>
          <a:p>
            <a:pPr marL="0" indent="0">
              <a:lnSpc>
                <a:spcPct val="112000"/>
              </a:lnSpc>
              <a:buNone/>
            </a:pPr>
            <a:r>
              <a:rPr lang="en-US" sz="1100" b="1" dirty="0">
                <a:solidFill>
                  <a:srgbClr val="004549"/>
                </a:solidFill>
                <a:latin typeface="Calibri" pitchFamily="34" charset="0"/>
                <a:ea typeface="Calibri" pitchFamily="34" charset="-122"/>
                <a:cs typeface="Calibri" pitchFamily="34" charset="-120"/>
              </a:rPr>
              <a:t>Recommendation:  </a:t>
            </a:r>
            <a:r>
              <a:rPr lang="en-US" sz="1100" dirty="0">
                <a:solidFill>
                  <a:srgbClr val="5A626E"/>
                </a:solidFill>
                <a:latin typeface="Calibri" pitchFamily="34" charset="0"/>
                <a:ea typeface="Calibri" pitchFamily="34" charset="-122"/>
                <a:cs typeface="Calibri" pitchFamily="34" charset="-120"/>
              </a:rPr>
              <a:t>keep Interface Management and Stakeholder Management as two separate departments, each with its own manager, register and RACI ownership. The Interface Manager should act only as the coordination bridge between them (see previous slide) — not as a merged role carrying both mandates.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101" name="Matrix 101"/>
          <p:cNvSpPr/>
          <p:nvPr/>
        </p:nvSpPr>
        <p:spPr>
          <a:xfrm>
            <a:off x="822960" y="2980000"/>
            <a:ext cx="6000000" cy="300000"/>
          </a:xfrm>
          <a:prstGeom prst="rect">
            <a:avLst/>
          </a:prstGeom>
          <a:noFill/>
          <a:ln>
            <a:noFill/>
          </a:ln>
        </p:spPr>
        <p:txBody>
          <a:bodyPr wrap="square" lIns="0" tIns="0" rIns="0" bIns="0" anchor="ctr"/>
          <a:lstStyle/>
          <a:p>
            <a:pPr algn="l">
              <a:buNone/>
            </a:pPr>
            <a:r>
              <a:rPr lang="en-US" sz="1200" b="1" i="0" dirty="0">
                <a:solidFill>
                  <a:srgbClr val="43A99A"/>
                </a:solidFill>
                <a:latin typeface="Calibri"/>
                <a:cs typeface="Calibri"/>
              </a:rPr>
              <a:t>SUMMARY</a:t>
            </a:r>
          </a:p>
        </p:txBody>
      </p:sp>
      <p:sp>
        <p:nvSpPr>
          <p:cNvPr id="102" name="Matrix 102"/>
          <p:cNvSpPr/>
          <p:nvPr/>
        </p:nvSpPr>
        <p:spPr>
          <a:xfrm>
            <a:off x="822960" y="3330000"/>
            <a:ext cx="10546080" cy="560000"/>
          </a:xfrm>
          <a:prstGeom prst="rect">
            <a:avLst/>
          </a:prstGeom>
          <a:noFill/>
          <a:ln>
            <a:noFill/>
          </a:ln>
        </p:spPr>
        <p:txBody>
          <a:bodyPr wrap="square" lIns="0" tIns="0" rIns="0" bIns="0" anchor="ctr"/>
          <a:lstStyle/>
          <a:p>
            <a:pPr algn="l">
              <a:buNone/>
            </a:pPr>
            <a:r>
              <a:rPr lang="en-US" sz="2400" b="1" i="0" dirty="0">
                <a:solidFill>
                  <a:srgbClr val="FFFFFF"/>
                </a:solidFill>
                <a:latin typeface="Calibri"/>
                <a:cs typeface="Calibri"/>
              </a:rPr>
              <a:t>Two separate roles on the same delivery risk — connected, never merged</a:t>
            </a:r>
          </a:p>
        </p:txBody>
      </p:sp>
      <p:sp>
        <p:nvSpPr>
          <p:cNvPr id="103" name="Matrix 103"/>
          <p:cNvSpPr/>
          <p:nvPr/>
        </p:nvSpPr>
        <p:spPr>
          <a:xfrm>
            <a:off x="822960" y="4080000"/>
            <a:ext cx="3348693" cy="2180000"/>
          </a:xfrm>
          <a:prstGeom prst="roundRect">
            <a:avLst>
              <a:gd name="adj" fmla="val 7000"/>
            </a:avLst>
          </a:prstGeom>
          <a:solidFill>
            <a:srgbClr val="0A6660"/>
          </a:solidFill>
          <a:ln>
            <a:noFill/>
          </a:ln>
        </p:spPr>
        <p:txBody>
          <a:bodyPr wrap="square" lIns="200000" tIns="720000" rIns="200000" bIns="100000" anchor="t"/>
          <a:lstStyle/>
          <a:p>
            <a:pPr algn="l">
              <a:spcAft>
                <a:spcPts val="900"/>
              </a:spcAft>
              <a:buNone/>
            </a:pPr>
            <a:r>
              <a:rPr lang="en-US" sz="1350" b="1" i="0" dirty="0">
                <a:solidFill>
                  <a:srgbClr val="FFFFFF"/>
                </a:solidFill>
                <a:latin typeface="Calibri"/>
                <a:cs typeface="Calibri"/>
              </a:rPr>
              <a:t>Different roles, different owners</a:t>
            </a:r>
          </a:p>
          <a:p>
            <a:pPr algn="l">
              <a:buNone/>
            </a:pPr>
            <a:r>
              <a:rPr lang="en-US" sz="1100" b="0" i="0" dirty="0">
                <a:solidFill>
                  <a:srgbClr val="CFE8E2"/>
                </a:solidFill>
                <a:latin typeface="Calibri"/>
                <a:cs typeface="Calibri"/>
              </a:rPr>
              <a:t>The Interface Manager controls connection points; the Stakeholder Manager controls relationships. Each has its own register, matrix, RACI and procedure (PRO-001 / PRO-002) — they cannot be merged into one title.</a:t>
            </a:r>
          </a:p>
        </p:txBody>
      </p:sp>
      <p:sp>
        <p:nvSpPr>
          <p:cNvPr id="104" name="Matrix 104"/>
          <p:cNvSpPr/>
          <p:nvPr/>
        </p:nvSpPr>
        <p:spPr>
          <a:xfrm>
            <a:off x="1022960" y="4250000"/>
            <a:ext cx="420000" cy="420000"/>
          </a:xfrm>
          <a:prstGeom prst="ellipse">
            <a:avLst/>
          </a:prstGeom>
          <a:solidFill>
            <a:srgbClr val="004549"/>
          </a:solidFill>
          <a:ln>
            <a:noFill/>
          </a:ln>
        </p:spPr>
        <p:txBody>
          <a:bodyPr wrap="square" lIns="0" tIns="0" rIns="0" bIns="0" anchor="ctr"/>
          <a:lstStyle/>
          <a:p>
            <a:pPr algn="ctr">
              <a:buNone/>
            </a:pPr>
            <a:r>
              <a:rPr lang="en-US" sz="1400" b="1" i="0" dirty="0">
                <a:solidFill>
                  <a:srgbClr val="FFFFFF"/>
                </a:solidFill>
                <a:latin typeface="Calibri"/>
                <a:cs typeface="Calibri"/>
              </a:rPr>
              <a:t>1</a:t>
            </a:r>
          </a:p>
        </p:txBody>
      </p:sp>
      <p:sp>
        <p:nvSpPr>
          <p:cNvPr id="105" name="Matrix 105"/>
          <p:cNvSpPr/>
          <p:nvPr/>
        </p:nvSpPr>
        <p:spPr>
          <a:xfrm>
            <a:off x="4421653" y="4080000"/>
            <a:ext cx="3348693" cy="2180000"/>
          </a:xfrm>
          <a:prstGeom prst="roundRect">
            <a:avLst>
              <a:gd name="adj" fmla="val 7000"/>
            </a:avLst>
          </a:prstGeom>
          <a:solidFill>
            <a:srgbClr val="0A6660"/>
          </a:solidFill>
          <a:ln>
            <a:noFill/>
          </a:ln>
        </p:spPr>
        <p:txBody>
          <a:bodyPr wrap="square" lIns="200000" tIns="720000" rIns="200000" bIns="100000" anchor="t"/>
          <a:lstStyle/>
          <a:p>
            <a:pPr algn="l">
              <a:spcAft>
                <a:spcPts val="900"/>
              </a:spcAft>
              <a:buNone/>
            </a:pPr>
            <a:r>
              <a:rPr lang="en-US" sz="1350" b="1" i="0" dirty="0">
                <a:solidFill>
                  <a:srgbClr val="FFFFFF"/>
                </a:solidFill>
                <a:latin typeface="Calibri"/>
                <a:cs typeface="Calibri"/>
              </a:rPr>
              <a:t>Aligned, not combined</a:t>
            </a:r>
          </a:p>
          <a:p>
            <a:pPr algn="l">
              <a:buNone/>
            </a:pPr>
            <a:r>
              <a:rPr lang="en-US" sz="1100" b="0" i="0" dirty="0">
                <a:solidFill>
                  <a:srgbClr val="CFE8E2"/>
                </a:solidFill>
                <a:latin typeface="Calibri"/>
                <a:cs typeface="Calibri"/>
              </a:rPr>
              <a:t>The Interface Manager supports the Stakeholder Manager’s communication flow, and both registers are aligned after every coordination meeting — two accountable owners, one coordinated picture.</a:t>
            </a:r>
          </a:p>
        </p:txBody>
      </p:sp>
      <p:sp>
        <p:nvSpPr>
          <p:cNvPr id="106" name="Matrix 106"/>
          <p:cNvSpPr/>
          <p:nvPr/>
        </p:nvSpPr>
        <p:spPr>
          <a:xfrm>
            <a:off x="4621653" y="4250000"/>
            <a:ext cx="420000" cy="420000"/>
          </a:xfrm>
          <a:prstGeom prst="ellipse">
            <a:avLst/>
          </a:prstGeom>
          <a:solidFill>
            <a:srgbClr val="004549"/>
          </a:solidFill>
          <a:ln>
            <a:noFill/>
          </a:ln>
        </p:spPr>
        <p:txBody>
          <a:bodyPr wrap="square" lIns="0" tIns="0" rIns="0" bIns="0" anchor="ctr"/>
          <a:lstStyle/>
          <a:p>
            <a:pPr algn="ctr">
              <a:buNone/>
            </a:pPr>
            <a:r>
              <a:rPr lang="en-US" sz="1400" b="1" i="0" dirty="0">
                <a:solidFill>
                  <a:srgbClr val="FFFFFF"/>
                </a:solidFill>
                <a:latin typeface="Calibri"/>
                <a:cs typeface="Calibri"/>
              </a:rPr>
              <a:t>2</a:t>
            </a:r>
          </a:p>
        </p:txBody>
      </p:sp>
      <p:sp>
        <p:nvSpPr>
          <p:cNvPr id="107" name="Matrix 107"/>
          <p:cNvSpPr/>
          <p:nvPr/>
        </p:nvSpPr>
        <p:spPr>
          <a:xfrm>
            <a:off x="8020346" y="4080000"/>
            <a:ext cx="3348693" cy="2180000"/>
          </a:xfrm>
          <a:prstGeom prst="roundRect">
            <a:avLst>
              <a:gd name="adj" fmla="val 7000"/>
            </a:avLst>
          </a:prstGeom>
          <a:solidFill>
            <a:srgbClr val="0A6660"/>
          </a:solidFill>
          <a:ln>
            <a:noFill/>
          </a:ln>
        </p:spPr>
        <p:txBody>
          <a:bodyPr wrap="square" lIns="200000" tIns="720000" rIns="200000" bIns="100000" anchor="t"/>
          <a:lstStyle/>
          <a:p>
            <a:pPr algn="l">
              <a:spcAft>
                <a:spcPts val="900"/>
              </a:spcAft>
              <a:buNone/>
            </a:pPr>
            <a:r>
              <a:rPr lang="en-US" sz="1350" b="1" i="0" dirty="0">
                <a:solidFill>
                  <a:srgbClr val="FFFFFF"/>
                </a:solidFill>
                <a:latin typeface="Calibri"/>
                <a:cs typeface="Calibri"/>
              </a:rPr>
              <a:t>Escalate to the right depth</a:t>
            </a:r>
          </a:p>
          <a:p>
            <a:pPr algn="l">
              <a:buNone/>
            </a:pPr>
            <a:r>
              <a:rPr lang="en-US" sz="1100" b="0" i="0" dirty="0">
                <a:solidFill>
                  <a:srgbClr val="CFE8E2"/>
                </a:solidFill>
                <a:latin typeface="Calibri"/>
                <a:cs typeface="Calibri"/>
              </a:rPr>
              <a:t>Route technical clashes through the 3-level interface escalation; route relationship, contractual or reputational issues onto the 6-level stakeholder matrix, up to Legal / Corporate Governance.</a:t>
            </a:r>
          </a:p>
        </p:txBody>
      </p:sp>
      <p:sp>
        <p:nvSpPr>
          <p:cNvPr id="108" name="Matrix 108"/>
          <p:cNvSpPr/>
          <p:nvPr/>
        </p:nvSpPr>
        <p:spPr>
          <a:xfrm>
            <a:off x="8220346" y="4250000"/>
            <a:ext cx="420000" cy="420000"/>
          </a:xfrm>
          <a:prstGeom prst="ellipse">
            <a:avLst/>
          </a:prstGeom>
          <a:solidFill>
            <a:srgbClr val="004549"/>
          </a:solidFill>
          <a:ln>
            <a:noFill/>
          </a:ln>
        </p:spPr>
        <p:txBody>
          <a:bodyPr wrap="square" lIns="0" tIns="0" rIns="0" bIns="0" anchor="ctr"/>
          <a:lstStyle/>
          <a:p>
            <a:pPr algn="ctr">
              <a:buNone/>
            </a:pPr>
            <a:r>
              <a:rPr lang="en-US" sz="1400" b="1" i="0" dirty="0">
                <a:solidFill>
                  <a:srgbClr val="FFFFFF"/>
                </a:solidFill>
                <a:latin typeface="Calibri"/>
                <a:cs typeface="Calibri"/>
              </a:rPr>
              <a:t>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work/assets/bg_light.jpe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493776" y="274320"/>
            <a:ext cx="7315200" cy="228600"/>
          </a:xfrm>
          <a:prstGeom prst="rect">
            <a:avLst/>
          </a:prstGeom>
          <a:noFill/>
          <a:ln/>
        </p:spPr>
        <p:txBody>
          <a:bodyPr wrap="square" lIns="0" tIns="0" rIns="0" bIns="0" rtlCol="0" anchor="ctr"/>
          <a:lstStyle/>
          <a:p>
            <a:pPr marL="0" indent="0">
              <a:buNone/>
            </a:pPr>
            <a:r>
              <a:rPr lang="en-US" sz="1050" b="1" kern="0" spc="100" dirty="0">
                <a:solidFill>
                  <a:srgbClr val="43A99A"/>
                </a:solidFill>
                <a:latin typeface="Calibri" pitchFamily="34" charset="0"/>
                <a:ea typeface="Calibri" pitchFamily="34" charset="-122"/>
                <a:cs typeface="Calibri" pitchFamily="34" charset="-120"/>
              </a:rPr>
              <a:t>10 · DOCUMENT BASIS</a:t>
            </a:r>
            <a:endParaRPr lang="en-US" sz="1050" dirty="0"/>
          </a:p>
        </p:txBody>
      </p:sp>
      <p:sp>
        <p:nvSpPr>
          <p:cNvPr id="4" name="Text 1"/>
          <p:cNvSpPr txBox="1"/>
          <p:nvPr/>
        </p:nvSpPr>
        <p:spPr>
          <a:xfrm>
            <a:off x="493776" y="548640"/>
            <a:ext cx="10954512" cy="566928"/>
          </a:xfrm>
          <a:prstGeom prst="rect">
            <a:avLst/>
          </a:prstGeom>
          <a:noFill/>
          <a:ln/>
        </p:spPr>
        <p:txBody>
          <a:bodyPr wrap="square" lIns="0" tIns="0" rIns="0" bIns="0" rtlCol="0" anchor="ctr"/>
          <a:lstStyle/>
          <a:p>
            <a:pPr marL="0" indent="0">
              <a:lnSpc>
                <a:spcPct val="95000"/>
              </a:lnSpc>
              <a:buNone/>
            </a:pPr>
            <a:r>
              <a:rPr lang="en-US" sz="2800" b="1" dirty="0">
                <a:solidFill>
                  <a:srgbClr val="004549"/>
                </a:solidFill>
                <a:latin typeface="Calibri" pitchFamily="34" charset="0"/>
                <a:ea typeface="Calibri" pitchFamily="34" charset="-122"/>
                <a:cs typeface="Calibri" pitchFamily="34" charset="-120"/>
              </a:rPr>
              <a:t>This comparison is drawn from four controlled MAH documents</a:t>
            </a:r>
            <a:endParaRPr lang="en-US" sz="2800" dirty="0"/>
          </a:p>
        </p:txBody>
      </p:sp>
      <p:sp>
        <p:nvSpPr>
          <p:cNvPr id="5" name="Text 2"/>
          <p:cNvSpPr txBox="1"/>
          <p:nvPr/>
        </p:nvSpPr>
        <p:spPr>
          <a:xfrm>
            <a:off x="11411712" y="6373368"/>
            <a:ext cx="320040" cy="182880"/>
          </a:xfrm>
          <a:prstGeom prst="rect">
            <a:avLst/>
          </a:prstGeom>
          <a:noFill/>
          <a:ln/>
        </p:spPr>
        <p:txBody>
          <a:bodyPr wrap="square" lIns="0" tIns="0" rIns="0" bIns="0" rtlCol="0" anchor="ctr"/>
          <a:lstStyle/>
          <a:p>
            <a:pPr marL="0" indent="0" algn="r">
              <a:buNone/>
            </a:pPr>
            <a:r>
              <a:rPr lang="en-US" sz="975" dirty="0">
                <a:solidFill>
                  <a:srgbClr val="5A626E"/>
                </a:solidFill>
                <a:latin typeface="Calibri" pitchFamily="34" charset="0"/>
                <a:ea typeface="Calibri" pitchFamily="34" charset="-122"/>
                <a:cs typeface="Calibri" pitchFamily="34" charset="-120"/>
              </a:rPr>
              <a:t>12</a:t>
            </a:r>
            <a:endParaRPr lang="en-US" sz="975" dirty="0"/>
          </a:p>
        </p:txBody>
      </p:sp>
      <p:sp>
        <p:nvSpPr>
          <p:cNvPr id="6" name="Shape 3"/>
          <p:cNvSpPr/>
          <p:nvPr/>
        </p:nvSpPr>
        <p:spPr>
          <a:xfrm>
            <a:off x="548640" y="1463040"/>
            <a:ext cx="5166360" cy="1417320"/>
          </a:xfrm>
          <a:prstGeom prst="roundRect">
            <a:avLst>
              <a:gd name="adj" fmla="val 6000"/>
            </a:avLst>
          </a:prstGeom>
          <a:solidFill>
            <a:srgbClr val="E3EDEA"/>
          </a:solidFill>
          <a:ln w="9525">
            <a:solidFill>
              <a:srgbClr val="C8E8E3"/>
            </a:solidFill>
            <a:prstDash val="solid"/>
          </a:ln>
        </p:spPr>
        <p:txBody>
          <a:bodyPr/>
          <a:lstStyle/>
          <a:p>
            <a:endParaRPr lang="en-US"/>
          </a:p>
        </p:txBody>
      </p:sp>
      <p:sp>
        <p:nvSpPr>
          <p:cNvPr id="7" name="Text 4"/>
          <p:cNvSpPr txBox="1"/>
          <p:nvPr/>
        </p:nvSpPr>
        <p:spPr>
          <a:xfrm>
            <a:off x="777240" y="1600200"/>
            <a:ext cx="4709160" cy="292608"/>
          </a:xfrm>
          <a:prstGeom prst="rect">
            <a:avLst/>
          </a:prstGeom>
          <a:noFill/>
          <a:ln/>
        </p:spPr>
        <p:txBody>
          <a:bodyPr wrap="square" lIns="0" tIns="0" rIns="0" bIns="0" rtlCol="0" anchor="ctr"/>
          <a:lstStyle/>
          <a:p>
            <a:pPr marL="0" indent="0">
              <a:buNone/>
            </a:pPr>
            <a:r>
              <a:rPr lang="en-US" sz="1100" b="1" dirty="0">
                <a:solidFill>
                  <a:srgbClr val="43A99A"/>
                </a:solidFill>
                <a:latin typeface="Calibri" pitchFamily="34" charset="0"/>
                <a:ea typeface="Calibri" pitchFamily="34" charset="-122"/>
                <a:cs typeface="Calibri" pitchFamily="34" charset="-120"/>
              </a:rPr>
              <a:t>MAH-ENC-PMO-PM-POL-001</a:t>
            </a:r>
            <a:endParaRPr lang="en-US" sz="1100" dirty="0"/>
          </a:p>
        </p:txBody>
      </p:sp>
      <p:sp>
        <p:nvSpPr>
          <p:cNvPr id="8" name="Text 5"/>
          <p:cNvSpPr txBox="1"/>
          <p:nvPr/>
        </p:nvSpPr>
        <p:spPr>
          <a:xfrm>
            <a:off x="777240" y="1920240"/>
            <a:ext cx="4709160" cy="457200"/>
          </a:xfrm>
          <a:prstGeom prst="rect">
            <a:avLst/>
          </a:prstGeom>
          <a:noFill/>
          <a:ln/>
        </p:spPr>
        <p:txBody>
          <a:bodyPr wrap="square" lIns="0" tIns="0" rIns="0" bIns="0" rtlCol="0" anchor="ctr"/>
          <a:lstStyle/>
          <a:p>
            <a:pPr marL="0" indent="0">
              <a:lnSpc>
                <a:spcPct val="105000"/>
              </a:lnSpc>
              <a:buNone/>
            </a:pPr>
            <a:r>
              <a:rPr lang="en-US" sz="1400" b="1" dirty="0">
                <a:solidFill>
                  <a:srgbClr val="004549"/>
                </a:solidFill>
                <a:latin typeface="Calibri" pitchFamily="34" charset="0"/>
                <a:ea typeface="Calibri" pitchFamily="34" charset="-122"/>
                <a:cs typeface="Calibri" pitchFamily="34" charset="-120"/>
              </a:rPr>
              <a:t>Interface Management Policy</a:t>
            </a:r>
            <a:endParaRPr lang="en-US" sz="1400" dirty="0"/>
          </a:p>
        </p:txBody>
      </p:sp>
      <p:sp>
        <p:nvSpPr>
          <p:cNvPr id="9" name="Text 6"/>
          <p:cNvSpPr txBox="1"/>
          <p:nvPr/>
        </p:nvSpPr>
        <p:spPr>
          <a:xfrm>
            <a:off x="777240" y="2450592"/>
            <a:ext cx="4709160" cy="292608"/>
          </a:xfrm>
          <a:prstGeom prst="rect">
            <a:avLst/>
          </a:prstGeom>
          <a:noFill/>
          <a:ln/>
        </p:spPr>
        <p:txBody>
          <a:bodyPr wrap="square" lIns="0" tIns="0" rIns="0" bIns="0" rtlCol="0" anchor="ctr"/>
          <a:lstStyle/>
          <a:p>
            <a:pPr marL="0" indent="0">
              <a:buNone/>
            </a:pPr>
            <a:r>
              <a:rPr lang="en-US" sz="1050" dirty="0">
                <a:solidFill>
                  <a:srgbClr val="5A626E"/>
                </a:solidFill>
                <a:latin typeface="Calibri" pitchFamily="34" charset="0"/>
                <a:ea typeface="Calibri" pitchFamily="34" charset="-122"/>
                <a:cs typeface="Calibri" pitchFamily="34" charset="-120"/>
              </a:rPr>
              <a:t>Rev.00 · 1 Oct 2025</a:t>
            </a:r>
            <a:endParaRPr lang="en-US" sz="1050" dirty="0"/>
          </a:p>
        </p:txBody>
      </p:sp>
      <p:sp>
        <p:nvSpPr>
          <p:cNvPr id="10" name="Shape 7"/>
          <p:cNvSpPr/>
          <p:nvPr/>
        </p:nvSpPr>
        <p:spPr>
          <a:xfrm>
            <a:off x="6035040" y="1463040"/>
            <a:ext cx="5166360" cy="1417320"/>
          </a:xfrm>
          <a:prstGeom prst="roundRect">
            <a:avLst>
              <a:gd name="adj" fmla="val 6000"/>
            </a:avLst>
          </a:prstGeom>
          <a:solidFill>
            <a:srgbClr val="E3EDEA"/>
          </a:solidFill>
          <a:ln w="9525">
            <a:solidFill>
              <a:srgbClr val="C8E8E3"/>
            </a:solidFill>
            <a:prstDash val="solid"/>
          </a:ln>
        </p:spPr>
        <p:txBody>
          <a:bodyPr/>
          <a:lstStyle/>
          <a:p>
            <a:endParaRPr lang="en-US"/>
          </a:p>
        </p:txBody>
      </p:sp>
      <p:sp>
        <p:nvSpPr>
          <p:cNvPr id="11" name="Text 8"/>
          <p:cNvSpPr txBox="1"/>
          <p:nvPr/>
        </p:nvSpPr>
        <p:spPr>
          <a:xfrm>
            <a:off x="6263640" y="1600200"/>
            <a:ext cx="4709160" cy="292608"/>
          </a:xfrm>
          <a:prstGeom prst="rect">
            <a:avLst/>
          </a:prstGeom>
          <a:noFill/>
          <a:ln/>
        </p:spPr>
        <p:txBody>
          <a:bodyPr wrap="square" lIns="0" tIns="0" rIns="0" bIns="0" rtlCol="0" anchor="ctr"/>
          <a:lstStyle/>
          <a:p>
            <a:pPr marL="0" indent="0">
              <a:buNone/>
            </a:pPr>
            <a:r>
              <a:rPr lang="en-US" sz="1100" b="1" dirty="0">
                <a:solidFill>
                  <a:srgbClr val="43A99A"/>
                </a:solidFill>
                <a:latin typeface="Calibri" pitchFamily="34" charset="0"/>
                <a:ea typeface="Calibri" pitchFamily="34" charset="-122"/>
                <a:cs typeface="Calibri" pitchFamily="34" charset="-120"/>
              </a:rPr>
              <a:t>MAH-ENC-CNS-PM-PRO-001</a:t>
            </a:r>
            <a:endParaRPr lang="en-US" sz="1100" dirty="0"/>
          </a:p>
        </p:txBody>
      </p:sp>
      <p:sp>
        <p:nvSpPr>
          <p:cNvPr id="12" name="Text 9"/>
          <p:cNvSpPr txBox="1"/>
          <p:nvPr/>
        </p:nvSpPr>
        <p:spPr>
          <a:xfrm>
            <a:off x="6263640" y="1920240"/>
            <a:ext cx="4709160" cy="457200"/>
          </a:xfrm>
          <a:prstGeom prst="rect">
            <a:avLst/>
          </a:prstGeom>
          <a:noFill/>
          <a:ln/>
        </p:spPr>
        <p:txBody>
          <a:bodyPr wrap="square" lIns="0" tIns="0" rIns="0" bIns="0" rtlCol="0" anchor="ctr"/>
          <a:lstStyle/>
          <a:p>
            <a:pPr marL="0" indent="0">
              <a:lnSpc>
                <a:spcPct val="105000"/>
              </a:lnSpc>
              <a:buNone/>
            </a:pPr>
            <a:r>
              <a:rPr lang="en-US" sz="1400" b="1" dirty="0">
                <a:solidFill>
                  <a:srgbClr val="004549"/>
                </a:solidFill>
                <a:latin typeface="Calibri" pitchFamily="34" charset="0"/>
                <a:ea typeface="Calibri" pitchFamily="34" charset="-122"/>
                <a:cs typeface="Calibri" pitchFamily="34" charset="-120"/>
              </a:rPr>
              <a:t>Projects Interface Management Procedure</a:t>
            </a:r>
            <a:endParaRPr lang="en-US" sz="1400" dirty="0"/>
          </a:p>
        </p:txBody>
      </p:sp>
      <p:sp>
        <p:nvSpPr>
          <p:cNvPr id="13" name="Text 10"/>
          <p:cNvSpPr txBox="1"/>
          <p:nvPr/>
        </p:nvSpPr>
        <p:spPr>
          <a:xfrm>
            <a:off x="6263640" y="2450592"/>
            <a:ext cx="4709160" cy="292608"/>
          </a:xfrm>
          <a:prstGeom prst="rect">
            <a:avLst/>
          </a:prstGeom>
          <a:noFill/>
          <a:ln/>
        </p:spPr>
        <p:txBody>
          <a:bodyPr wrap="square" lIns="0" tIns="0" rIns="0" bIns="0" rtlCol="0" anchor="ctr"/>
          <a:lstStyle/>
          <a:p>
            <a:pPr marL="0" indent="0">
              <a:buNone/>
            </a:pPr>
            <a:r>
              <a:rPr lang="en-US" sz="1050" dirty="0">
                <a:solidFill>
                  <a:srgbClr val="5A626E"/>
                </a:solidFill>
                <a:latin typeface="Calibri" pitchFamily="34" charset="0"/>
                <a:ea typeface="Calibri" pitchFamily="34" charset="-122"/>
                <a:cs typeface="Calibri" pitchFamily="34" charset="-120"/>
              </a:rPr>
              <a:t>Rev.00 · 1 Oct 2025</a:t>
            </a:r>
            <a:endParaRPr lang="en-US" sz="1050" dirty="0"/>
          </a:p>
        </p:txBody>
      </p:sp>
      <p:sp>
        <p:nvSpPr>
          <p:cNvPr id="14" name="Shape 11"/>
          <p:cNvSpPr/>
          <p:nvPr/>
        </p:nvSpPr>
        <p:spPr>
          <a:xfrm>
            <a:off x="548640" y="3154680"/>
            <a:ext cx="5166360" cy="1417320"/>
          </a:xfrm>
          <a:prstGeom prst="roundRect">
            <a:avLst>
              <a:gd name="adj" fmla="val 6000"/>
            </a:avLst>
          </a:prstGeom>
          <a:solidFill>
            <a:srgbClr val="E3EDEA"/>
          </a:solidFill>
          <a:ln w="9525">
            <a:solidFill>
              <a:srgbClr val="C8E8E3"/>
            </a:solidFill>
            <a:prstDash val="solid"/>
          </a:ln>
        </p:spPr>
        <p:txBody>
          <a:bodyPr/>
          <a:lstStyle/>
          <a:p>
            <a:endParaRPr lang="en-US"/>
          </a:p>
        </p:txBody>
      </p:sp>
      <p:sp>
        <p:nvSpPr>
          <p:cNvPr id="15" name="Text 12"/>
          <p:cNvSpPr txBox="1"/>
          <p:nvPr/>
        </p:nvSpPr>
        <p:spPr>
          <a:xfrm>
            <a:off x="777240" y="3291840"/>
            <a:ext cx="4709160" cy="292608"/>
          </a:xfrm>
          <a:prstGeom prst="rect">
            <a:avLst/>
          </a:prstGeom>
          <a:noFill/>
          <a:ln/>
        </p:spPr>
        <p:txBody>
          <a:bodyPr wrap="square" lIns="0" tIns="0" rIns="0" bIns="0" rtlCol="0" anchor="ctr"/>
          <a:lstStyle/>
          <a:p>
            <a:pPr marL="0" indent="0">
              <a:buNone/>
            </a:pPr>
            <a:r>
              <a:rPr lang="en-US" sz="1100" b="1" dirty="0">
                <a:solidFill>
                  <a:srgbClr val="43A99A"/>
                </a:solidFill>
                <a:latin typeface="Calibri" pitchFamily="34" charset="0"/>
                <a:ea typeface="Calibri" pitchFamily="34" charset="-122"/>
                <a:cs typeface="Calibri" pitchFamily="34" charset="-120"/>
              </a:rPr>
              <a:t>MAH-ENC-PMO-PM-POL-002</a:t>
            </a:r>
            <a:endParaRPr lang="en-US" sz="1100" dirty="0"/>
          </a:p>
        </p:txBody>
      </p:sp>
      <p:sp>
        <p:nvSpPr>
          <p:cNvPr id="16" name="Text 13"/>
          <p:cNvSpPr txBox="1"/>
          <p:nvPr/>
        </p:nvSpPr>
        <p:spPr>
          <a:xfrm>
            <a:off x="777240" y="3611880"/>
            <a:ext cx="4709160" cy="457200"/>
          </a:xfrm>
          <a:prstGeom prst="rect">
            <a:avLst/>
          </a:prstGeom>
          <a:noFill/>
          <a:ln/>
        </p:spPr>
        <p:txBody>
          <a:bodyPr wrap="square" lIns="0" tIns="0" rIns="0" bIns="0" rtlCol="0" anchor="ctr"/>
          <a:lstStyle/>
          <a:p>
            <a:pPr marL="0" indent="0">
              <a:lnSpc>
                <a:spcPct val="105000"/>
              </a:lnSpc>
              <a:buNone/>
            </a:pPr>
            <a:r>
              <a:rPr lang="en-US" sz="1400" b="1" dirty="0">
                <a:solidFill>
                  <a:srgbClr val="004549"/>
                </a:solidFill>
                <a:latin typeface="Calibri" pitchFamily="34" charset="0"/>
                <a:ea typeface="Calibri" pitchFamily="34" charset="-122"/>
                <a:cs typeface="Calibri" pitchFamily="34" charset="-120"/>
              </a:rPr>
              <a:t>Stakeholder Management Policy</a:t>
            </a:r>
            <a:endParaRPr lang="en-US" sz="1400" dirty="0"/>
          </a:p>
        </p:txBody>
      </p:sp>
      <p:sp>
        <p:nvSpPr>
          <p:cNvPr id="17" name="Text 14"/>
          <p:cNvSpPr txBox="1"/>
          <p:nvPr/>
        </p:nvSpPr>
        <p:spPr>
          <a:xfrm>
            <a:off x="777240" y="4142232"/>
            <a:ext cx="4709160" cy="292608"/>
          </a:xfrm>
          <a:prstGeom prst="rect">
            <a:avLst/>
          </a:prstGeom>
          <a:noFill/>
          <a:ln/>
        </p:spPr>
        <p:txBody>
          <a:bodyPr wrap="square" lIns="0" tIns="0" rIns="0" bIns="0" rtlCol="0" anchor="ctr"/>
          <a:lstStyle/>
          <a:p>
            <a:pPr marL="0" indent="0">
              <a:buNone/>
            </a:pPr>
            <a:r>
              <a:rPr lang="en-US" sz="1050" dirty="0">
                <a:solidFill>
                  <a:srgbClr val="5A626E"/>
                </a:solidFill>
                <a:latin typeface="Calibri" pitchFamily="34" charset="0"/>
                <a:ea typeface="Calibri" pitchFamily="34" charset="-122"/>
                <a:cs typeface="Calibri" pitchFamily="34" charset="-120"/>
              </a:rPr>
              <a:t>Rev.00 · 1 Nov 2025</a:t>
            </a:r>
            <a:endParaRPr lang="en-US" sz="1050" dirty="0"/>
          </a:p>
        </p:txBody>
      </p:sp>
      <p:sp>
        <p:nvSpPr>
          <p:cNvPr id="18" name="Shape 15"/>
          <p:cNvSpPr/>
          <p:nvPr/>
        </p:nvSpPr>
        <p:spPr>
          <a:xfrm>
            <a:off x="6035040" y="3154680"/>
            <a:ext cx="5166360" cy="1417320"/>
          </a:xfrm>
          <a:prstGeom prst="roundRect">
            <a:avLst>
              <a:gd name="adj" fmla="val 6000"/>
            </a:avLst>
          </a:prstGeom>
          <a:solidFill>
            <a:srgbClr val="E3EDEA"/>
          </a:solidFill>
          <a:ln w="9525">
            <a:solidFill>
              <a:srgbClr val="C8E8E3"/>
            </a:solidFill>
            <a:prstDash val="solid"/>
          </a:ln>
        </p:spPr>
        <p:txBody>
          <a:bodyPr/>
          <a:lstStyle/>
          <a:p>
            <a:endParaRPr lang="en-US"/>
          </a:p>
        </p:txBody>
      </p:sp>
      <p:sp>
        <p:nvSpPr>
          <p:cNvPr id="19" name="Text 16"/>
          <p:cNvSpPr txBox="1"/>
          <p:nvPr/>
        </p:nvSpPr>
        <p:spPr>
          <a:xfrm>
            <a:off x="6263640" y="3291840"/>
            <a:ext cx="4709160" cy="292608"/>
          </a:xfrm>
          <a:prstGeom prst="rect">
            <a:avLst/>
          </a:prstGeom>
          <a:noFill/>
          <a:ln/>
        </p:spPr>
        <p:txBody>
          <a:bodyPr wrap="square" lIns="0" tIns="0" rIns="0" bIns="0" rtlCol="0" anchor="ctr"/>
          <a:lstStyle/>
          <a:p>
            <a:pPr marL="0" indent="0">
              <a:buNone/>
            </a:pPr>
            <a:r>
              <a:rPr lang="en-US" sz="1100" b="1" dirty="0">
                <a:solidFill>
                  <a:srgbClr val="43A99A"/>
                </a:solidFill>
                <a:latin typeface="Calibri" pitchFamily="34" charset="0"/>
                <a:ea typeface="Calibri" pitchFamily="34" charset="-122"/>
                <a:cs typeface="Calibri" pitchFamily="34" charset="-120"/>
              </a:rPr>
              <a:t>MAH-ENC-CNS-PM-PRO-002</a:t>
            </a:r>
            <a:endParaRPr lang="en-US" sz="1100" dirty="0"/>
          </a:p>
        </p:txBody>
      </p:sp>
      <p:sp>
        <p:nvSpPr>
          <p:cNvPr id="20" name="Text 17"/>
          <p:cNvSpPr txBox="1"/>
          <p:nvPr/>
        </p:nvSpPr>
        <p:spPr>
          <a:xfrm>
            <a:off x="6263640" y="3611880"/>
            <a:ext cx="4709160" cy="457200"/>
          </a:xfrm>
          <a:prstGeom prst="rect">
            <a:avLst/>
          </a:prstGeom>
          <a:noFill/>
          <a:ln/>
        </p:spPr>
        <p:txBody>
          <a:bodyPr wrap="square" lIns="0" tIns="0" rIns="0" bIns="0" rtlCol="0" anchor="ctr"/>
          <a:lstStyle/>
          <a:p>
            <a:pPr marL="0" indent="0">
              <a:lnSpc>
                <a:spcPct val="105000"/>
              </a:lnSpc>
              <a:buNone/>
            </a:pPr>
            <a:r>
              <a:rPr lang="en-US" sz="1400" b="1" dirty="0">
                <a:solidFill>
                  <a:srgbClr val="004549"/>
                </a:solidFill>
                <a:latin typeface="Calibri" pitchFamily="34" charset="0"/>
                <a:ea typeface="Calibri" pitchFamily="34" charset="-122"/>
                <a:cs typeface="Calibri" pitchFamily="34" charset="-120"/>
              </a:rPr>
              <a:t>Projects Stakeholder Management Procedure</a:t>
            </a:r>
            <a:endParaRPr lang="en-US" sz="1400" dirty="0"/>
          </a:p>
        </p:txBody>
      </p:sp>
      <p:sp>
        <p:nvSpPr>
          <p:cNvPr id="21" name="Text 18"/>
          <p:cNvSpPr txBox="1"/>
          <p:nvPr/>
        </p:nvSpPr>
        <p:spPr>
          <a:xfrm>
            <a:off x="6263640" y="4142232"/>
            <a:ext cx="4709160" cy="292608"/>
          </a:xfrm>
          <a:prstGeom prst="rect">
            <a:avLst/>
          </a:prstGeom>
          <a:noFill/>
          <a:ln/>
        </p:spPr>
        <p:txBody>
          <a:bodyPr wrap="square" lIns="0" tIns="0" rIns="0" bIns="0" rtlCol="0" anchor="ctr"/>
          <a:lstStyle/>
          <a:p>
            <a:pPr marL="0" indent="0">
              <a:buNone/>
            </a:pPr>
            <a:r>
              <a:rPr lang="en-US" sz="1050" dirty="0">
                <a:solidFill>
                  <a:srgbClr val="5A626E"/>
                </a:solidFill>
                <a:latin typeface="Calibri" pitchFamily="34" charset="0"/>
                <a:ea typeface="Calibri" pitchFamily="34" charset="-122"/>
                <a:cs typeface="Calibri" pitchFamily="34" charset="-120"/>
              </a:rPr>
              <a:t>Rev.00 · 1 Nov 2025</a:t>
            </a:r>
            <a:endParaRPr lang="en-US" sz="1050" dirty="0"/>
          </a:p>
        </p:txBody>
      </p:sp>
      <p:sp>
        <p:nvSpPr>
          <p:cNvPr id="22" name="Text 19"/>
          <p:cNvSpPr txBox="1"/>
          <p:nvPr/>
        </p:nvSpPr>
        <p:spPr>
          <a:xfrm>
            <a:off x="548640" y="4709160"/>
            <a:ext cx="10881360" cy="1097280"/>
          </a:xfrm>
          <a:prstGeom prst="rect">
            <a:avLst/>
          </a:prstGeom>
          <a:noFill/>
          <a:ln/>
        </p:spPr>
        <p:txBody>
          <a:bodyPr wrap="square" lIns="0" tIns="0" rIns="0" bIns="0" rtlCol="0" anchor="ctr"/>
          <a:lstStyle/>
          <a:p>
            <a:pPr marL="0" indent="0">
              <a:lnSpc>
                <a:spcPct val="120000"/>
              </a:lnSpc>
              <a:buNone/>
            </a:pPr>
            <a:r>
              <a:rPr lang="en-US" sz="1200" b="1" dirty="0">
                <a:solidFill>
                  <a:srgbClr val="004549"/>
                </a:solidFill>
                <a:latin typeface="Calibri" pitchFamily="34" charset="0"/>
                <a:ea typeface="Calibri" pitchFamily="34" charset="-122"/>
                <a:cs typeface="Calibri" pitchFamily="34" charset="-120"/>
              </a:rPr>
              <a:t>Reference note:  </a:t>
            </a:r>
            <a:r>
              <a:rPr lang="en-US" sz="1200" dirty="0">
                <a:solidFill>
                  <a:srgbClr val="5A626E"/>
                </a:solidFill>
                <a:latin typeface="Calibri" pitchFamily="34" charset="0"/>
                <a:ea typeface="Calibri" pitchFamily="34" charset="-122"/>
                <a:cs typeface="Calibri" pitchFamily="34" charset="-120"/>
              </a:rPr>
              <a:t>all four documents were checked and approved by the same governance chain — Projects Director, Head of HSE &amp; TMO, Head of QA/QC and VP Engineering &amp; Construction Sector — confirming this comparison rests on a single, coordinated set of controlled documents.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1289</Words>
  <Application>Microsoft Office PowerPoint</Application>
  <PresentationFormat>Widescreen</PresentationFormat>
  <Paragraphs>157</Paragraphs>
  <Slides>9</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Ashraf Youssef</cp:lastModifiedBy>
  <cp:revision>5</cp:revision>
  <dcterms:created xsi:type="dcterms:W3CDTF">2026-09-23T12:15:56Z</dcterms:created>
  <dcterms:modified xsi:type="dcterms:W3CDTF">2026-09-27T15:19:05Z</dcterms:modified>
</cp:coreProperties>
</file>