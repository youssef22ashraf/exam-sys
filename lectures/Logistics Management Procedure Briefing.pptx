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43" autoAdjust="0"/>
    <p:restoredTop sz="94610"/>
  </p:normalViewPr>
  <p:slideViewPr>
    <p:cSldViewPr snapToGrid="0" snapToObjects="1">
      <p:cViewPr varScale="1">
        <p:scale>
          <a:sx n="111" d="100"/>
          <a:sy n="111" d="100"/>
        </p:scale>
        <p:origin x="30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d Ashraf Youssef" userId="af8ce710-8110-414b-88b7-0d7c64d55425" providerId="ADAL" clId="{73B7F3F6-93FD-4722-BDDC-8E9E5722087D}"/>
    <pc:docChg chg="undo custSel modSld">
      <pc:chgData name="Ahmed Ashraf Youssef" userId="af8ce710-8110-414b-88b7-0d7c64d55425" providerId="ADAL" clId="{73B7F3F6-93FD-4722-BDDC-8E9E5722087D}" dt="2026-08-23T08:01:10.720" v="89" actId="1036"/>
      <pc:docMkLst>
        <pc:docMk/>
      </pc:docMkLst>
      <pc:sldChg chg="modSp mod">
        <pc:chgData name="Ahmed Ashraf Youssef" userId="af8ce710-8110-414b-88b7-0d7c64d55425" providerId="ADAL" clId="{73B7F3F6-93FD-4722-BDDC-8E9E5722087D}" dt="2026-08-23T07:36:17.457" v="4" actId="1076"/>
        <pc:sldMkLst>
          <pc:docMk/>
          <pc:sldMk cId="0" sldId="257"/>
        </pc:sldMkLst>
        <pc:spChg chg="mod">
          <ac:chgData name="Ahmed Ashraf Youssef" userId="af8ce710-8110-414b-88b7-0d7c64d55425" providerId="ADAL" clId="{73B7F3F6-93FD-4722-BDDC-8E9E5722087D}" dt="2026-08-23T07:36:17.457" v="4" actId="1076"/>
          <ac:spMkLst>
            <pc:docMk/>
            <pc:sldMk cId="0" sldId="257"/>
            <ac:spMk id="3"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4"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5"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6"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7" creationId="{00000000-0000-0000-0000-000000000000}"/>
          </ac:spMkLst>
        </pc:spChg>
        <pc:spChg chg="mod">
          <ac:chgData name="Ahmed Ashraf Youssef" userId="af8ce710-8110-414b-88b7-0d7c64d55425" providerId="ADAL" clId="{73B7F3F6-93FD-4722-BDDC-8E9E5722087D}" dt="2026-08-23T07:36:03.499" v="3" actId="1076"/>
          <ac:spMkLst>
            <pc:docMk/>
            <pc:sldMk cId="0" sldId="257"/>
            <ac:spMk id="8"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10"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11"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12"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14"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15" creationId="{00000000-0000-0000-0000-000000000000}"/>
          </ac:spMkLst>
        </pc:spChg>
        <pc:picChg chg="mod">
          <ac:chgData name="Ahmed Ashraf Youssef" userId="af8ce710-8110-414b-88b7-0d7c64d55425" providerId="ADAL" clId="{73B7F3F6-93FD-4722-BDDC-8E9E5722087D}" dt="2026-08-23T07:35:55.915" v="1" actId="1076"/>
          <ac:picMkLst>
            <pc:docMk/>
            <pc:sldMk cId="0" sldId="257"/>
            <ac:picMk id="2" creationId="{00000000-0000-0000-0000-000000000000}"/>
          </ac:picMkLst>
        </pc:picChg>
      </pc:sldChg>
      <pc:sldChg chg="modSp mod">
        <pc:chgData name="Ahmed Ashraf Youssef" userId="af8ce710-8110-414b-88b7-0d7c64d55425" providerId="ADAL" clId="{73B7F3F6-93FD-4722-BDDC-8E9E5722087D}" dt="2026-08-23T07:59:38.294" v="37" actId="20577"/>
        <pc:sldMkLst>
          <pc:docMk/>
          <pc:sldMk cId="0" sldId="267"/>
        </pc:sldMkLst>
        <pc:spChg chg="mod">
          <ac:chgData name="Ahmed Ashraf Youssef" userId="af8ce710-8110-414b-88b7-0d7c64d55425" providerId="ADAL" clId="{73B7F3F6-93FD-4722-BDDC-8E9E5722087D}" dt="2026-08-23T07:59:38.294" v="37" actId="20577"/>
          <ac:spMkLst>
            <pc:docMk/>
            <pc:sldMk cId="0" sldId="267"/>
            <ac:spMk id="12" creationId="{00000000-0000-0000-0000-000000000000}"/>
          </ac:spMkLst>
        </pc:spChg>
        <pc:spChg chg="mod">
          <ac:chgData name="Ahmed Ashraf Youssef" userId="af8ce710-8110-414b-88b7-0d7c64d55425" providerId="ADAL" clId="{73B7F3F6-93FD-4722-BDDC-8E9E5722087D}" dt="2026-08-23T07:59:03.622" v="25" actId="20577"/>
          <ac:spMkLst>
            <pc:docMk/>
            <pc:sldMk cId="0" sldId="267"/>
            <ac:spMk id="13" creationId="{00000000-0000-0000-0000-000000000000}"/>
          </ac:spMkLst>
        </pc:spChg>
        <pc:spChg chg="mod">
          <ac:chgData name="Ahmed Ashraf Youssef" userId="af8ce710-8110-414b-88b7-0d7c64d55425" providerId="ADAL" clId="{73B7F3F6-93FD-4722-BDDC-8E9E5722087D}" dt="2026-08-23T07:58:36.974" v="13" actId="20577"/>
          <ac:spMkLst>
            <pc:docMk/>
            <pc:sldMk cId="0" sldId="267"/>
            <ac:spMk id="27" creationId="{00000000-0000-0000-0000-000000000000}"/>
          </ac:spMkLst>
        </pc:spChg>
      </pc:sldChg>
      <pc:sldChg chg="modSp mod">
        <pc:chgData name="Ahmed Ashraf Youssef" userId="af8ce710-8110-414b-88b7-0d7c64d55425" providerId="ADAL" clId="{73B7F3F6-93FD-4722-BDDC-8E9E5722087D}" dt="2026-08-23T08:00:00.782" v="40" actId="14100"/>
        <pc:sldMkLst>
          <pc:docMk/>
          <pc:sldMk cId="0" sldId="270"/>
        </pc:sldMkLst>
        <pc:spChg chg="mod">
          <ac:chgData name="Ahmed Ashraf Youssef" userId="af8ce710-8110-414b-88b7-0d7c64d55425" providerId="ADAL" clId="{73B7F3F6-93FD-4722-BDDC-8E9E5722087D}" dt="2026-08-23T07:59:56.149" v="38" actId="14100"/>
          <ac:spMkLst>
            <pc:docMk/>
            <pc:sldMk cId="0" sldId="270"/>
            <ac:spMk id="5" creationId="{00000000-0000-0000-0000-000000000000}"/>
          </ac:spMkLst>
        </pc:spChg>
        <pc:spChg chg="mod">
          <ac:chgData name="Ahmed Ashraf Youssef" userId="af8ce710-8110-414b-88b7-0d7c64d55425" providerId="ADAL" clId="{73B7F3F6-93FD-4722-BDDC-8E9E5722087D}" dt="2026-08-23T07:59:58.466" v="39" actId="14100"/>
          <ac:spMkLst>
            <pc:docMk/>
            <pc:sldMk cId="0" sldId="270"/>
            <ac:spMk id="11" creationId="{00000000-0000-0000-0000-000000000000}"/>
          </ac:spMkLst>
        </pc:spChg>
        <pc:spChg chg="mod">
          <ac:chgData name="Ahmed Ashraf Youssef" userId="af8ce710-8110-414b-88b7-0d7c64d55425" providerId="ADAL" clId="{73B7F3F6-93FD-4722-BDDC-8E9E5722087D}" dt="2026-08-23T08:00:00.782" v="40" actId="14100"/>
          <ac:spMkLst>
            <pc:docMk/>
            <pc:sldMk cId="0" sldId="270"/>
            <ac:spMk id="17" creationId="{00000000-0000-0000-0000-000000000000}"/>
          </ac:spMkLst>
        </pc:spChg>
      </pc:sldChg>
      <pc:sldChg chg="modSp mod">
        <pc:chgData name="Ahmed Ashraf Youssef" userId="af8ce710-8110-414b-88b7-0d7c64d55425" providerId="ADAL" clId="{73B7F3F6-93FD-4722-BDDC-8E9E5722087D}" dt="2026-08-23T08:00:16.445" v="61" actId="1035"/>
        <pc:sldMkLst>
          <pc:docMk/>
          <pc:sldMk cId="0" sldId="271"/>
        </pc:sldMkLst>
        <pc:spChg chg="mod">
          <ac:chgData name="Ahmed Ashraf Youssef" userId="af8ce710-8110-414b-88b7-0d7c64d55425" providerId="ADAL" clId="{73B7F3F6-93FD-4722-BDDC-8E9E5722087D}" dt="2026-08-23T08:00:16.445" v="61" actId="1035"/>
          <ac:spMkLst>
            <pc:docMk/>
            <pc:sldMk cId="0" sldId="271"/>
            <ac:spMk id="5"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6"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7"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8" creationId="{00000000-0000-0000-0000-000000000000}"/>
          </ac:spMkLst>
        </pc:spChg>
        <pc:spChg chg="mod">
          <ac:chgData name="Ahmed Ashraf Youssef" userId="af8ce710-8110-414b-88b7-0d7c64d55425" providerId="ADAL" clId="{73B7F3F6-93FD-4722-BDDC-8E9E5722087D}" dt="2026-08-23T08:00:08.099" v="50" actId="1035"/>
          <ac:spMkLst>
            <pc:docMk/>
            <pc:sldMk cId="0" sldId="271"/>
            <ac:spMk id="10"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11"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12"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13" creationId="{00000000-0000-0000-0000-000000000000}"/>
          </ac:spMkLst>
        </pc:spChg>
        <pc:spChg chg="mod">
          <ac:chgData name="Ahmed Ashraf Youssef" userId="af8ce710-8110-414b-88b7-0d7c64d55425" providerId="ADAL" clId="{73B7F3F6-93FD-4722-BDDC-8E9E5722087D}" dt="2026-08-23T08:00:08.099" v="50" actId="1035"/>
          <ac:spMkLst>
            <pc:docMk/>
            <pc:sldMk cId="0" sldId="271"/>
            <ac:spMk id="15"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17"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18"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19" creationId="{00000000-0000-0000-0000-000000000000}"/>
          </ac:spMkLst>
        </pc:spChg>
      </pc:sldChg>
      <pc:sldChg chg="modSp mod">
        <pc:chgData name="Ahmed Ashraf Youssef" userId="af8ce710-8110-414b-88b7-0d7c64d55425" providerId="ADAL" clId="{73B7F3F6-93FD-4722-BDDC-8E9E5722087D}" dt="2026-08-23T08:01:10.720" v="89" actId="1036"/>
        <pc:sldMkLst>
          <pc:docMk/>
          <pc:sldMk cId="0" sldId="276"/>
        </pc:sldMkLst>
        <pc:spChg chg="mod">
          <ac:chgData name="Ahmed Ashraf Youssef" userId="af8ce710-8110-414b-88b7-0d7c64d55425" providerId="ADAL" clId="{73B7F3F6-93FD-4722-BDDC-8E9E5722087D}" dt="2026-08-23T08:00:57.307" v="75" actId="1035"/>
          <ac:spMkLst>
            <pc:docMk/>
            <pc:sldMk cId="0" sldId="276"/>
            <ac:spMk id="5"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6"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7"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0"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2"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4"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6"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7"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8"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9"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20"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22"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23"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24"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26"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29"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32"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34"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36"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37" creationId="{00000000-0000-0000-0000-000000000000}"/>
          </ac:spMkLst>
        </pc:spChg>
      </pc:sldChg>
    </pc:docChg>
  </pc:docChgLst>
  <pc:docChgLst>
    <pc:chgData name="Ahmed Ashraf Youssef" userId="af8ce710-8110-414b-88b7-0d7c64d55425" providerId="ADAL" clId="{2C03BF3A-31ED-49F0-8A1B-109B78231F6E}"/>
    <pc:docChg chg="modSld">
      <pc:chgData name="Ahmed Ashraf Youssef" userId="af8ce710-8110-414b-88b7-0d7c64d55425" providerId="ADAL" clId="{2C03BF3A-31ED-49F0-8A1B-109B78231F6E}" dt="2026-09-10T07:26:25.517" v="0" actId="1076"/>
      <pc:docMkLst>
        <pc:docMk/>
      </pc:docMkLst>
      <pc:sldChg chg="modSp mod">
        <pc:chgData name="Ahmed Ashraf Youssef" userId="af8ce710-8110-414b-88b7-0d7c64d55425" providerId="ADAL" clId="{2C03BF3A-31ED-49F0-8A1B-109B78231F6E}" dt="2026-09-10T07:26:25.517" v="0" actId="1076"/>
        <pc:sldMkLst>
          <pc:docMk/>
          <pc:sldMk cId="0" sldId="260"/>
        </pc:sldMkLst>
        <pc:picChg chg="mod">
          <ac:chgData name="Ahmed Ashraf Youssef" userId="af8ce710-8110-414b-88b7-0d7c64d55425" providerId="ADAL" clId="{2C03BF3A-31ED-49F0-8A1B-109B78231F6E}" dt="2026-09-10T07:26:25.517" v="0" actId="1076"/>
          <ac:picMkLst>
            <pc:docMk/>
            <pc:sldMk cId="0" sldId="260"/>
            <ac:picMk id="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5175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thank you for joining. Today we're briefing the Logistics Management procedure — document reference MAH-ENC-CNS-PM-PRO-001. This session covers our procedures, roles, and how the logistics team interfaces with everyone else on site. My goal is that by the end of this, everyone leaves knowing exactly what's expected of their team and who to talk to when something needs to move.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we'll walk through it: first the purpose and the non-negotiable ground rules, then roles and responsibilities across the team — including how we interface with everyone else on site. After that, the approval gates and delivery process, site operations control, our communication and KPI structure, and finally risk, nonconformance and how we close a project out. Six sections, roughly three to four minutes each — stop me anytime with questions.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why this procedure exists and the handful of rules we never bend, no matter how much schedule pressure we're under.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procedure exists to make sure materials, equipment, manpower and services get to the right workfront, at the right time, safely and through an approved route. In practice that means five things: we protect schedule, cost, quality and HSE performance; we prevent congestion and double handling; we keep public, pedestrian and emergency access safe at all times; we control our interfaces with suppliers, subcontractors and authorities; and every single project has to run its own project-specific Logistics Management Plan built on top of this corporate procedure — no project operates without one.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seven principles are non-negotiable — please take a moment to actually read them. No activity moves without an approved requirement and a confirmed workfront. No mobilization before its gate is satisfied. No live-traffic movement without TMP and Traffic or HSE sign-off. No abnormal load without route verification and permits. Materials must be traceable end to end. Any deviation gets risk-assessed and approved before it happens, not after. And critically — every single person on this team, regardless of position, has the authority to stop an unsafe or unauthorized movement. That last point is the one I want everyone to remember.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most of you are here for: who owns what. We'll go through leadership, site execution, and every support function we depend on — then look at how logistics ties into all of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top, three roles. The Project Director approves logistics strategy and major resources, and steps in personally when a constraint escalates that affects milestones, cost or stakeholders. The Project Manager approves the project LMP before any operation starts, chairs the weekly logistics coordination meeting — or delegates it — and reviews our KPIs, risks and open corrective actions. And the Logistics Manager is the one running it day to day: builds and maintains the LMP, manages routes, gates, schedules and zones, and — like everyone in logistics — has the authority to stop an unsafe or unapproved movement on the spot.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plan meets the ground. The Construction Manager confirms the workfront is actually ready, feeds us material demand and short-term sequencing, and nominates who receives each delivery. The Logistics Supervisor runs the daily programme, verifies every booking, permit, driver and vehicle document before anything moves, and is the main point of coordination with Stores, HSE, Traffic and Security. And the Logistics Foreman is on the ground with the crew — running toolbox talks, directing vehicle movement, and flagging damage, unsafe conditions or delays the moment they happen, not at end of shift.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this works without support functions behind it. Planning ties logistics into the baseline schedule and the rolling look-ahead. Procurement and our suppliers align PO dates and confirm transport arrangements before we ever book a delivery. Stores and Warehouse control receiving documentation and keep rejected material quarantined and away from active stock. QA/QC defines what gets inspected and controls anything nonconforming. HSE reviews our risk assessments and permits and verifies compliance on the ground. Traffic Management and the Traffic Engineer stage TMP approvals and route design. Security controls who and what comes through the gate. And the Interface and Stakeholder team, together with the Project Delivery Integration Manager, handle authorities, utilities and cross-functional coordination. Eight functions, one team.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want everyone to remember: logistics doesn't operate in isolation. We sit at the center of seven relationships — Construction gives us workfront readiness and demand; Procurement and Suppliers give us what's coming and when; Stores and QA/QC control what we receive and reject; HSE and Traffic Management control how anything moves safely; Security controls who gets on site; Interface, Stakeholders and Authorities handle the external world — utilities, municipalities, permits; and Planning keeps all of it tied to the schedule. If any one of these spokes breaks down, logistics breaks down. That's why coordination isn't optional — it's the job.</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control points. Every delivery and every mobilization passes through a defined set of gates and a defined process — no shortcuts, no verbal approvals. Let's walk through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gates, from contract activation through demobilization. Gate 0 is contract activation, signed off by the PD and PM. Gate 1 checks corporate and HSE readiness. Gate 2 confirms site establishment. Gate 3 releases the workfront — that's the one Construction, Logistics, HSE and QA all sign off together. Gate 4 covers critical movements — anything abnormal or high-risk. And Gate 5 is demobilization and closeout. I want to be very clear: no gate gets bypassed with a verbal instruction, ever. If there's a genuine emergency, the deviation still gets documented and approved by authorized management and HSE — after the fact if it has to be, but it gets documented. And here are the core documents every project needs in place — the LMP, route plan, TMPs, booking procedure, interface register and KPI system.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delivery follows the same four steps. It starts with demand forecasting — Construction and Planning tell us what's coming. Then a formal delivery request with PO reference, driver and vehicle details, and any permits needed. Logistics then approves and schedules it — checking the workfront, the route, storage space and manpower are actually available. And finally arrival, receiving and closeout, where Security, HSE, QA/QC and Stores all clear and record the delivery before it's considered done. Notice periods matter here — 72 hours minimum for routine deliveries, but oversized loads and major crane movements need at least 14 days. Please build that into your planning, not as an afterthought.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on to day-to-day site operations — how we manage materials and storage, and how we keep traffic, transport and internal material flow safe and unblocked.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areas of material control. Non-inventory materials — concrete, asphalt, aggregates, backfill — get coordinated for direct use, with mix approval and supplier availability confirmed before dispatch, since these can't sit around waiting. Laydown, warehouse and zoning covers everything from inventory and structural steel to hazardous materials and waste — with rejected and quarantined material always kept physically separate from active stock. And our temporary logistics stations — detarping, concrete sampling and washout, wheel-wash, vehicle holding — each need an approved layout, proper signage, lighting and a regular inspection schedule. These aren't informal areas; they're controlled stations.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controls that keep the site moving safely. Traffic, access and route management — nothing that touches live traffic moves until Traffic Management confirms segregated routes, marshals, barriers, signage and, critically, that emergency access stays open at all times. Heavy transport, cranes and equipment mobilize strictly per the approved histogram, with route geometry, ground bearing capacity, permits, the lifting plan, JHA and PTW all verified before anything moves. And internal material flow — from stores or laydown to the workfront — always goes through an approved issue or transfer request. That's how we cut down on double handling and keep access routes from getting blocked.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how we stay aligned as a team, and how we measure whether logistics is actually performing — our meeting cadence, the interface register, and our KPIs.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Alignment happens through a fixed meeting cadence — daily coordination on deliveries and equipment, a weekly look-ahead plus interface and permit review, and a monthly management review. Anything critical, like a major lift, gets extra advance coordination on top of that. And this is how we track issues: the Logistics Interface Register uses a simple traffic-light system. Green means no effect on the approved sequence — just log it. Amber means there's a potential effect and it needs a recovery action. Red means it's hitting a milestone, safety, an authority, or traffic — and that gets escalated immediately, not at the next scheduled meeting. Every entry in the register carries a responsible party and a target closure date, so nothing just sits open indefinitely.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we know if logistics is actually performing, not just busy. Ninety-five percent or more of deliveries land within their approved slot. A hundred percent of pre-arrival documentation complete — no partial paperwork. A hundred percent of TMP and access-route inspections completed on schedule. Ninety percent or more of corrective actions closed within their target date. And two numbers that should always read zero: preventable material damage, and unauthorized gate entries. These go into the monthly management review, and if any of them start slipping, that's our early warning sign — we act on it immediately, not at project closeout.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section: how we stay ahead of risk, how we handle it when something goes wrong, and how we close a project out properly instead of leaving loose ends.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the risks we watch for most — delivery delays, route restrictions, congestion, utility conflicts, equipment clashes, weather. We manage those with alternative suppliers, backup routes, buffer stock and early engagement with authorities, not by hoping they don't happen. On the right, how we handle it when something actually goes wrong: record it, assign an owner, risk-rate it, correct it, verify the fix, and only then close it. Six steps, always in that order. If a nonconformity repeats or is serious — an unauthorized delivery, an unapproved route, a missing permit, blocked emergency access — it goes straight to the Project Manager and HSE Manager, and yes, that can mean suspending a supplier or transporter.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Closeout matters as much as the setup did. We remove temporary facilities and stations, reconcile every piece of equipment and asset, reinstate anything we diverted or occupied, close out permits with the authorities, and archive the records. We run a lessons-learned workshop before we walk away — not after we've already forgotten what happened. And the rule is simple: no logistics area gets handed over until it's inspected, cleared, reinstated and formally accepted — no exceptions. Which brings me to the point I want to leave you with: logistics here isn't just moving trucks around. It's an integrated project-control function, and it only works when Procurement, Stores, Construction, Planning, HSE, QA/QC, Traffic, Security and Interface Management are all pulling in the same direction. That's what today was about. Thank you.</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full procedure. Open floor now — questions on any role, any gate, any interface we covered. If something wasn't clear or you think a step is missing for your specific project, raise it now so we can fold it into the project-specific LMP rather than finding out on site.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bg_cover.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3794760"/>
            <a:ext cx="8686800" cy="1417320"/>
          </a:xfrm>
          <a:prstGeom prst="rect">
            <a:avLst/>
          </a:prstGeom>
          <a:noFill/>
          <a:ln/>
        </p:spPr>
        <p:txBody>
          <a:bodyPr wrap="square" rtlCol="0" anchor="ctr"/>
          <a:lstStyle/>
          <a:p>
            <a:pPr marL="0" indent="0">
              <a:lnSpc>
                <a:spcPts val="4400"/>
              </a:lnSpc>
              <a:buNone/>
            </a:pPr>
            <a:r>
              <a:rPr lang="en-US" sz="4000" b="1" dirty="0">
                <a:solidFill>
                  <a:srgbClr val="FFFFFF"/>
                </a:solidFill>
                <a:latin typeface="Calibri" pitchFamily="34" charset="0"/>
                <a:ea typeface="Calibri" pitchFamily="34" charset="-122"/>
                <a:cs typeface="Calibri" pitchFamily="34" charset="-120"/>
              </a:rPr>
              <a:t>LOGISTICS</a:t>
            </a:r>
            <a:endParaRPr lang="en-US" sz="4000" dirty="0"/>
          </a:p>
          <a:p>
            <a:pPr marL="0" indent="0">
              <a:lnSpc>
                <a:spcPts val="4400"/>
              </a:lnSpc>
              <a:buNone/>
            </a:pPr>
            <a:r>
              <a:rPr lang="en-US" sz="4000" b="1" dirty="0">
                <a:solidFill>
                  <a:srgbClr val="FFFFFF"/>
                </a:solidFill>
                <a:latin typeface="Calibri" pitchFamily="34" charset="0"/>
                <a:ea typeface="Calibri" pitchFamily="34" charset="-122"/>
                <a:cs typeface="Calibri" pitchFamily="34" charset="-120"/>
              </a:rPr>
              <a:t>MANAGEMENT</a:t>
            </a:r>
            <a:endParaRPr lang="en-US" sz="4000" dirty="0"/>
          </a:p>
        </p:txBody>
      </p:sp>
      <p:sp>
        <p:nvSpPr>
          <p:cNvPr id="4" name="Shape 1"/>
          <p:cNvSpPr/>
          <p:nvPr/>
        </p:nvSpPr>
        <p:spPr>
          <a:xfrm>
            <a:off x="868680" y="5230368"/>
            <a:ext cx="1005840" cy="41148"/>
          </a:xfrm>
          <a:prstGeom prst="rect">
            <a:avLst/>
          </a:prstGeom>
          <a:solidFill>
            <a:srgbClr val="43A99A"/>
          </a:solidFill>
          <a:ln/>
        </p:spPr>
        <p:txBody>
          <a:bodyPr/>
          <a:lstStyle/>
          <a:p>
            <a:endParaRPr lang="en-US"/>
          </a:p>
        </p:txBody>
      </p:sp>
      <p:sp>
        <p:nvSpPr>
          <p:cNvPr id="5" name="Text 2"/>
          <p:cNvSpPr/>
          <p:nvPr/>
        </p:nvSpPr>
        <p:spPr>
          <a:xfrm>
            <a:off x="822960" y="5376672"/>
            <a:ext cx="8686800" cy="457200"/>
          </a:xfrm>
          <a:prstGeom prst="rect">
            <a:avLst/>
          </a:prstGeom>
          <a:noFill/>
          <a:ln/>
        </p:spPr>
        <p:txBody>
          <a:bodyPr wrap="square" rtlCol="0" anchor="ctr"/>
          <a:lstStyle/>
          <a:p>
            <a:pPr marL="0" indent="0">
              <a:buNone/>
            </a:pPr>
            <a:r>
              <a:rPr lang="en-US" sz="1700" dirty="0">
                <a:solidFill>
                  <a:srgbClr val="8FCFC3"/>
                </a:solidFill>
                <a:latin typeface="Calibri" pitchFamily="34" charset="0"/>
                <a:ea typeface="Calibri" pitchFamily="34" charset="-122"/>
                <a:cs typeface="Calibri" pitchFamily="34" charset="-120"/>
              </a:rPr>
              <a:t>Procedures, Roles &amp; Site Interfaces  —  Team Briefing</a:t>
            </a:r>
            <a:endParaRPr lang="en-US" sz="1700" dirty="0"/>
          </a:p>
        </p:txBody>
      </p:sp>
      <p:sp>
        <p:nvSpPr>
          <p:cNvPr id="6" name="Text 3"/>
          <p:cNvSpPr/>
          <p:nvPr/>
        </p:nvSpPr>
        <p:spPr>
          <a:xfrm>
            <a:off x="822960" y="6355080"/>
            <a:ext cx="5486400" cy="320040"/>
          </a:xfrm>
          <a:prstGeom prst="rect">
            <a:avLst/>
          </a:prstGeom>
          <a:noFill/>
          <a:ln/>
        </p:spPr>
        <p:txBody>
          <a:bodyPr wrap="square" rtlCol="0" anchor="ctr"/>
          <a:lstStyle/>
          <a:p>
            <a:pPr marL="0" indent="0">
              <a:buNone/>
            </a:pPr>
            <a:r>
              <a:rPr lang="en-US" sz="1100" dirty="0">
                <a:solidFill>
                  <a:srgbClr val="8FB9B7"/>
                </a:solidFill>
                <a:latin typeface="Calibri" pitchFamily="34" charset="0"/>
                <a:ea typeface="Calibri" pitchFamily="34" charset="-122"/>
                <a:cs typeface="Calibri" pitchFamily="34" charset="-120"/>
              </a:rPr>
              <a:t>Doc. Ref. MAH-ENC-CNS-PM-PRO-001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assets/bg_teal.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1451826"/>
            <a:ext cx="5486400" cy="64008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Agenda</a:t>
            </a:r>
            <a:endParaRPr lang="en-US" sz="3000" dirty="0"/>
          </a:p>
        </p:txBody>
      </p:sp>
      <p:sp>
        <p:nvSpPr>
          <p:cNvPr id="4" name="Text 1"/>
          <p:cNvSpPr/>
          <p:nvPr/>
        </p:nvSpPr>
        <p:spPr>
          <a:xfrm>
            <a:off x="868680" y="2274786"/>
            <a:ext cx="822960" cy="566928"/>
          </a:xfrm>
          <a:prstGeom prst="rect">
            <a:avLst/>
          </a:prstGeom>
          <a:noFill/>
          <a:ln/>
        </p:spPr>
        <p:txBody>
          <a:bodyPr wrap="square" rtlCol="0" anchor="ctr"/>
          <a:lstStyle/>
          <a:p>
            <a:pPr marL="0" indent="0">
              <a:buNone/>
            </a:pPr>
            <a:r>
              <a:rPr lang="en-US" sz="2000" b="1" dirty="0">
                <a:solidFill>
                  <a:srgbClr val="BFE3DC"/>
                </a:solidFill>
                <a:latin typeface="Calibri" pitchFamily="34" charset="0"/>
                <a:ea typeface="Calibri" pitchFamily="34" charset="-122"/>
                <a:cs typeface="Calibri" pitchFamily="34" charset="-120"/>
              </a:rPr>
              <a:t>01</a:t>
            </a:r>
            <a:endParaRPr lang="en-US" sz="2000" dirty="0"/>
          </a:p>
        </p:txBody>
      </p:sp>
      <p:sp>
        <p:nvSpPr>
          <p:cNvPr id="5" name="Text 2"/>
          <p:cNvSpPr/>
          <p:nvPr/>
        </p:nvSpPr>
        <p:spPr>
          <a:xfrm>
            <a:off x="1600200" y="2274786"/>
            <a:ext cx="8686800" cy="566928"/>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Purpose &amp; Governing Principles</a:t>
            </a:r>
            <a:endParaRPr lang="en-US" sz="1800" dirty="0"/>
          </a:p>
        </p:txBody>
      </p:sp>
      <p:sp>
        <p:nvSpPr>
          <p:cNvPr id="6" name="Text 3"/>
          <p:cNvSpPr/>
          <p:nvPr/>
        </p:nvSpPr>
        <p:spPr>
          <a:xfrm>
            <a:off x="868680" y="2960586"/>
            <a:ext cx="822960" cy="566928"/>
          </a:xfrm>
          <a:prstGeom prst="rect">
            <a:avLst/>
          </a:prstGeom>
          <a:noFill/>
          <a:ln/>
        </p:spPr>
        <p:txBody>
          <a:bodyPr wrap="square" rtlCol="0" anchor="ctr"/>
          <a:lstStyle/>
          <a:p>
            <a:pPr marL="0" indent="0">
              <a:buNone/>
            </a:pPr>
            <a:r>
              <a:rPr lang="en-US" sz="2000" b="1" dirty="0">
                <a:solidFill>
                  <a:srgbClr val="BFE3DC"/>
                </a:solidFill>
                <a:latin typeface="Calibri" pitchFamily="34" charset="0"/>
                <a:ea typeface="Calibri" pitchFamily="34" charset="-122"/>
                <a:cs typeface="Calibri" pitchFamily="34" charset="-120"/>
              </a:rPr>
              <a:t>02</a:t>
            </a:r>
            <a:endParaRPr lang="en-US" sz="2000" dirty="0"/>
          </a:p>
        </p:txBody>
      </p:sp>
      <p:sp>
        <p:nvSpPr>
          <p:cNvPr id="7" name="Text 4"/>
          <p:cNvSpPr/>
          <p:nvPr/>
        </p:nvSpPr>
        <p:spPr>
          <a:xfrm>
            <a:off x="1600200" y="2960586"/>
            <a:ext cx="8686800" cy="566928"/>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Roles &amp; Responsibilities</a:t>
            </a:r>
            <a:endParaRPr lang="en-US" sz="1800" dirty="0"/>
          </a:p>
        </p:txBody>
      </p:sp>
      <p:sp>
        <p:nvSpPr>
          <p:cNvPr id="8" name="Text 5"/>
          <p:cNvSpPr/>
          <p:nvPr/>
        </p:nvSpPr>
        <p:spPr>
          <a:xfrm>
            <a:off x="868680" y="3646386"/>
            <a:ext cx="822960" cy="566928"/>
          </a:xfrm>
          <a:prstGeom prst="rect">
            <a:avLst/>
          </a:prstGeom>
          <a:noFill/>
          <a:ln/>
        </p:spPr>
        <p:txBody>
          <a:bodyPr wrap="square" rtlCol="0" anchor="ctr"/>
          <a:lstStyle/>
          <a:p>
            <a:pPr marL="0" indent="0">
              <a:buNone/>
            </a:pPr>
            <a:r>
              <a:rPr lang="en-US" sz="2000" b="1" dirty="0">
                <a:solidFill>
                  <a:srgbClr val="BFE3DC"/>
                </a:solidFill>
                <a:latin typeface="Calibri" pitchFamily="34" charset="0"/>
                <a:ea typeface="Calibri" pitchFamily="34" charset="-122"/>
                <a:cs typeface="Calibri" pitchFamily="34" charset="-120"/>
              </a:rPr>
              <a:t>03</a:t>
            </a:r>
            <a:endParaRPr lang="en-US" sz="2000" dirty="0"/>
          </a:p>
        </p:txBody>
      </p:sp>
      <p:sp>
        <p:nvSpPr>
          <p:cNvPr id="9" name="Text 6"/>
          <p:cNvSpPr/>
          <p:nvPr/>
        </p:nvSpPr>
        <p:spPr>
          <a:xfrm>
            <a:off x="1600200" y="3646386"/>
            <a:ext cx="8686800" cy="566928"/>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Approval Gates &amp; Delivery Process</a:t>
            </a:r>
            <a:endParaRPr lang="en-US" sz="1800" dirty="0"/>
          </a:p>
        </p:txBody>
      </p:sp>
      <p:sp>
        <p:nvSpPr>
          <p:cNvPr id="10" name="Text 7"/>
          <p:cNvSpPr/>
          <p:nvPr/>
        </p:nvSpPr>
        <p:spPr>
          <a:xfrm>
            <a:off x="868680" y="4332186"/>
            <a:ext cx="822960" cy="566928"/>
          </a:xfrm>
          <a:prstGeom prst="rect">
            <a:avLst/>
          </a:prstGeom>
          <a:noFill/>
          <a:ln/>
        </p:spPr>
        <p:txBody>
          <a:bodyPr wrap="square" rtlCol="0" anchor="ctr"/>
          <a:lstStyle/>
          <a:p>
            <a:pPr marL="0" indent="0">
              <a:buNone/>
            </a:pPr>
            <a:r>
              <a:rPr lang="en-US" sz="2000" b="1" dirty="0">
                <a:solidFill>
                  <a:srgbClr val="BFE3DC"/>
                </a:solidFill>
                <a:latin typeface="Calibri" pitchFamily="34" charset="0"/>
                <a:ea typeface="Calibri" pitchFamily="34" charset="-122"/>
                <a:cs typeface="Calibri" pitchFamily="34" charset="-120"/>
              </a:rPr>
              <a:t>04</a:t>
            </a:r>
            <a:endParaRPr lang="en-US" sz="2000" dirty="0"/>
          </a:p>
        </p:txBody>
      </p:sp>
      <p:sp>
        <p:nvSpPr>
          <p:cNvPr id="11" name="Text 8"/>
          <p:cNvSpPr/>
          <p:nvPr/>
        </p:nvSpPr>
        <p:spPr>
          <a:xfrm>
            <a:off x="1600200" y="4332186"/>
            <a:ext cx="8686800" cy="566928"/>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Site Operations Control</a:t>
            </a:r>
            <a:endParaRPr lang="en-US" sz="1800" dirty="0"/>
          </a:p>
        </p:txBody>
      </p:sp>
      <p:sp>
        <p:nvSpPr>
          <p:cNvPr id="12" name="Text 9"/>
          <p:cNvSpPr/>
          <p:nvPr/>
        </p:nvSpPr>
        <p:spPr>
          <a:xfrm>
            <a:off x="868680" y="5017986"/>
            <a:ext cx="822960" cy="566928"/>
          </a:xfrm>
          <a:prstGeom prst="rect">
            <a:avLst/>
          </a:prstGeom>
          <a:noFill/>
          <a:ln/>
        </p:spPr>
        <p:txBody>
          <a:bodyPr wrap="square" rtlCol="0" anchor="ctr"/>
          <a:lstStyle/>
          <a:p>
            <a:pPr marL="0" indent="0">
              <a:buNone/>
            </a:pPr>
            <a:r>
              <a:rPr lang="en-US" sz="2000" b="1" dirty="0">
                <a:solidFill>
                  <a:srgbClr val="BFE3DC"/>
                </a:solidFill>
                <a:latin typeface="Calibri" pitchFamily="34" charset="0"/>
                <a:ea typeface="Calibri" pitchFamily="34" charset="-122"/>
                <a:cs typeface="Calibri" pitchFamily="34" charset="-120"/>
              </a:rPr>
              <a:t>05</a:t>
            </a:r>
            <a:endParaRPr lang="en-US" sz="2000" dirty="0"/>
          </a:p>
        </p:txBody>
      </p:sp>
      <p:sp>
        <p:nvSpPr>
          <p:cNvPr id="13" name="Text 10"/>
          <p:cNvSpPr/>
          <p:nvPr/>
        </p:nvSpPr>
        <p:spPr>
          <a:xfrm>
            <a:off x="1600200" y="5017986"/>
            <a:ext cx="8686800" cy="566928"/>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Communication, KPIs &amp; Escalation</a:t>
            </a:r>
            <a:endParaRPr lang="en-US" sz="1800" dirty="0"/>
          </a:p>
        </p:txBody>
      </p:sp>
      <p:sp>
        <p:nvSpPr>
          <p:cNvPr id="14" name="Text 11"/>
          <p:cNvSpPr/>
          <p:nvPr/>
        </p:nvSpPr>
        <p:spPr>
          <a:xfrm>
            <a:off x="868680" y="5703786"/>
            <a:ext cx="822960" cy="566928"/>
          </a:xfrm>
          <a:prstGeom prst="rect">
            <a:avLst/>
          </a:prstGeom>
          <a:noFill/>
          <a:ln/>
        </p:spPr>
        <p:txBody>
          <a:bodyPr wrap="square" rtlCol="0" anchor="ctr"/>
          <a:lstStyle/>
          <a:p>
            <a:pPr marL="0" indent="0">
              <a:buNone/>
            </a:pPr>
            <a:r>
              <a:rPr lang="en-US" sz="2000" b="1" dirty="0">
                <a:solidFill>
                  <a:srgbClr val="BFE3DC"/>
                </a:solidFill>
                <a:latin typeface="Calibri" pitchFamily="34" charset="0"/>
                <a:ea typeface="Calibri" pitchFamily="34" charset="-122"/>
                <a:cs typeface="Calibri" pitchFamily="34" charset="-120"/>
              </a:rPr>
              <a:t>06</a:t>
            </a:r>
            <a:endParaRPr lang="en-US" sz="2000" dirty="0"/>
          </a:p>
        </p:txBody>
      </p:sp>
      <p:sp>
        <p:nvSpPr>
          <p:cNvPr id="15" name="Text 12"/>
          <p:cNvSpPr/>
          <p:nvPr/>
        </p:nvSpPr>
        <p:spPr>
          <a:xfrm>
            <a:off x="1600200" y="5703786"/>
            <a:ext cx="8686800" cy="566928"/>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Risk, Nonconformance &amp; Closeout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assets/bg_mi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331720"/>
            <a:ext cx="3291840" cy="2011680"/>
          </a:xfrm>
          <a:prstGeom prst="rect">
            <a:avLst/>
          </a:prstGeom>
          <a:noFill/>
          <a:ln/>
        </p:spPr>
        <p:txBody>
          <a:bodyPr wrap="square" rtlCol="0" anchor="ctr"/>
          <a:lstStyle/>
          <a:p>
            <a:pPr marL="0" indent="0">
              <a:buNone/>
            </a:pPr>
            <a:r>
              <a:rPr lang="en-US" sz="13000" b="1" dirty="0">
                <a:solidFill>
                  <a:srgbClr val="8FCFC3"/>
                </a:solidFill>
                <a:latin typeface="Calibri" pitchFamily="34" charset="0"/>
                <a:ea typeface="Calibri" pitchFamily="34" charset="-122"/>
                <a:cs typeface="Calibri" pitchFamily="34" charset="-120"/>
              </a:rPr>
              <a:t>01</a:t>
            </a:r>
            <a:endParaRPr lang="en-US" sz="13000" dirty="0"/>
          </a:p>
        </p:txBody>
      </p:sp>
      <p:sp>
        <p:nvSpPr>
          <p:cNvPr id="4" name="Text 1"/>
          <p:cNvSpPr/>
          <p:nvPr/>
        </p:nvSpPr>
        <p:spPr>
          <a:xfrm>
            <a:off x="3977640" y="2788920"/>
            <a:ext cx="7406640" cy="1188720"/>
          </a:xfrm>
          <a:prstGeom prst="rect">
            <a:avLst/>
          </a:prstGeom>
          <a:noFill/>
          <a:ln/>
        </p:spPr>
        <p:txBody>
          <a:bodyPr wrap="square" rtlCol="0" anchor="ctr"/>
          <a:lstStyle/>
          <a:p>
            <a:pPr marL="0" indent="0">
              <a:buNone/>
            </a:pPr>
            <a:r>
              <a:rPr lang="en-US" sz="3400" b="1" dirty="0">
                <a:solidFill>
                  <a:srgbClr val="004549"/>
                </a:solidFill>
                <a:latin typeface="Calibri" pitchFamily="34" charset="0"/>
                <a:ea typeface="Calibri" pitchFamily="34" charset="-122"/>
                <a:cs typeface="Calibri" pitchFamily="34" charset="-120"/>
              </a:rPr>
              <a:t>Purpose &amp; Governing Principles</a:t>
            </a:r>
            <a:endParaRPr lang="en-US" sz="3400" dirty="0"/>
          </a:p>
        </p:txBody>
      </p:sp>
      <p:sp>
        <p:nvSpPr>
          <p:cNvPr id="5" name="Text 2"/>
          <p:cNvSpPr/>
          <p:nvPr/>
        </p:nvSpPr>
        <p:spPr>
          <a:xfrm>
            <a:off x="3995928" y="3611880"/>
            <a:ext cx="7132320" cy="548640"/>
          </a:xfrm>
          <a:prstGeom prst="rect">
            <a:avLst/>
          </a:prstGeom>
          <a:noFill/>
          <a:ln/>
        </p:spPr>
        <p:txBody>
          <a:bodyPr wrap="square" rtlCol="0" anchor="ctr"/>
          <a:lstStyle/>
          <a:p>
            <a:pPr marL="0" indent="0">
              <a:buNone/>
            </a:pPr>
            <a:r>
              <a:rPr lang="en-US" sz="1400" i="1" dirty="0">
                <a:solidFill>
                  <a:srgbClr val="004549"/>
                </a:solidFill>
                <a:latin typeface="Calibri" pitchFamily="34" charset="0"/>
                <a:ea typeface="Calibri" pitchFamily="34" charset="-122"/>
                <a:cs typeface="Calibri" pitchFamily="34" charset="-120"/>
              </a:rPr>
              <a:t>Why this procedure exists and the rules that are never negotiable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01 · PURPOSE</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Purpose &amp; Objectives</a:t>
            </a:r>
            <a:endParaRPr lang="en-US" sz="3000" dirty="0"/>
          </a:p>
        </p:txBody>
      </p:sp>
      <p:sp>
        <p:nvSpPr>
          <p:cNvPr id="5" name="Text 2"/>
          <p:cNvSpPr/>
          <p:nvPr/>
        </p:nvSpPr>
        <p:spPr>
          <a:xfrm>
            <a:off x="502920" y="1417320"/>
            <a:ext cx="10789920" cy="685800"/>
          </a:xfrm>
          <a:prstGeom prst="rect">
            <a:avLst/>
          </a:prstGeom>
          <a:noFill/>
          <a:ln/>
        </p:spPr>
        <p:txBody>
          <a:bodyPr wrap="square" rtlCol="0" anchor="ctr"/>
          <a:lstStyle/>
          <a:p>
            <a:pPr marL="0" indent="0">
              <a:buNone/>
            </a:pPr>
            <a:r>
              <a:rPr lang="en-US" sz="1350" i="1" dirty="0">
                <a:solidFill>
                  <a:srgbClr val="5A626E"/>
                </a:solidFill>
                <a:latin typeface="Calibri" pitchFamily="34" charset="0"/>
                <a:ea typeface="Calibri" pitchFamily="34" charset="-122"/>
                <a:cs typeface="Calibri" pitchFamily="34" charset="-120"/>
              </a:rPr>
              <a:t>This procedure establishes the mandatory framework for planning, approving, coordinating, executing, monitoring and closing logistics activities across MG / E&amp;C construction and infrastructure projects.</a:t>
            </a:r>
            <a:endParaRPr lang="en-US" sz="1350" dirty="0"/>
          </a:p>
        </p:txBody>
      </p:sp>
      <p:sp>
        <p:nvSpPr>
          <p:cNvPr id="6" name="Shape 3"/>
          <p:cNvSpPr/>
          <p:nvPr/>
        </p:nvSpPr>
        <p:spPr>
          <a:xfrm>
            <a:off x="502920" y="2331720"/>
            <a:ext cx="457200" cy="457200"/>
          </a:xfrm>
          <a:prstGeom prst="ellipse">
            <a:avLst/>
          </a:prstGeom>
          <a:solidFill>
            <a:srgbClr val="43A99A"/>
          </a:solidFill>
          <a:ln/>
        </p:spPr>
        <p:txBody>
          <a:bodyPr/>
          <a:lstStyle/>
          <a:p>
            <a:endParaRPr lang="en-US"/>
          </a:p>
        </p:txBody>
      </p:sp>
      <p:sp>
        <p:nvSpPr>
          <p:cNvPr id="7" name="Text 4"/>
          <p:cNvSpPr/>
          <p:nvPr/>
        </p:nvSpPr>
        <p:spPr>
          <a:xfrm>
            <a:off x="502920" y="2331720"/>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188720" y="2304288"/>
            <a:ext cx="2834640" cy="45720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Protect performance</a:t>
            </a:r>
            <a:endParaRPr lang="en-US" sz="1400" dirty="0"/>
          </a:p>
        </p:txBody>
      </p:sp>
      <p:sp>
        <p:nvSpPr>
          <p:cNvPr id="9" name="Text 6"/>
          <p:cNvSpPr/>
          <p:nvPr/>
        </p:nvSpPr>
        <p:spPr>
          <a:xfrm>
            <a:off x="3977640" y="2304288"/>
            <a:ext cx="7223760" cy="5029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Safeguard project schedule, cost, quality and HSE performance.</a:t>
            </a:r>
            <a:endParaRPr lang="en-US" sz="1250" dirty="0"/>
          </a:p>
        </p:txBody>
      </p:sp>
      <p:sp>
        <p:nvSpPr>
          <p:cNvPr id="10" name="Shape 7"/>
          <p:cNvSpPr/>
          <p:nvPr/>
        </p:nvSpPr>
        <p:spPr>
          <a:xfrm>
            <a:off x="502920" y="3081528"/>
            <a:ext cx="457200" cy="457200"/>
          </a:xfrm>
          <a:prstGeom prst="ellipse">
            <a:avLst/>
          </a:prstGeom>
          <a:solidFill>
            <a:srgbClr val="43A99A"/>
          </a:solidFill>
          <a:ln/>
        </p:spPr>
        <p:txBody>
          <a:bodyPr/>
          <a:lstStyle/>
          <a:p>
            <a:endParaRPr lang="en-US"/>
          </a:p>
        </p:txBody>
      </p:sp>
      <p:sp>
        <p:nvSpPr>
          <p:cNvPr id="11" name="Text 8"/>
          <p:cNvSpPr/>
          <p:nvPr/>
        </p:nvSpPr>
        <p:spPr>
          <a:xfrm>
            <a:off x="502920" y="3081528"/>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p:nvPr/>
        </p:nvSpPr>
        <p:spPr>
          <a:xfrm>
            <a:off x="1188720" y="3054096"/>
            <a:ext cx="2834640" cy="45720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Prevent disruption</a:t>
            </a:r>
            <a:endParaRPr lang="en-US" sz="1400" dirty="0"/>
          </a:p>
        </p:txBody>
      </p:sp>
      <p:sp>
        <p:nvSpPr>
          <p:cNvPr id="13" name="Text 10"/>
          <p:cNvSpPr/>
          <p:nvPr/>
        </p:nvSpPr>
        <p:spPr>
          <a:xfrm>
            <a:off x="3977640" y="3054096"/>
            <a:ext cx="7223760" cy="5029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Prevent congestion, double handling, idle resources and workfront disruption.</a:t>
            </a:r>
            <a:endParaRPr lang="en-US" sz="1250" dirty="0"/>
          </a:p>
        </p:txBody>
      </p:sp>
      <p:sp>
        <p:nvSpPr>
          <p:cNvPr id="14" name="Shape 11"/>
          <p:cNvSpPr/>
          <p:nvPr/>
        </p:nvSpPr>
        <p:spPr>
          <a:xfrm>
            <a:off x="502920" y="3831336"/>
            <a:ext cx="457200" cy="457200"/>
          </a:xfrm>
          <a:prstGeom prst="ellipse">
            <a:avLst/>
          </a:prstGeom>
          <a:solidFill>
            <a:srgbClr val="43A99A"/>
          </a:solidFill>
          <a:ln/>
        </p:spPr>
        <p:txBody>
          <a:bodyPr/>
          <a:lstStyle/>
          <a:p>
            <a:endParaRPr lang="en-US"/>
          </a:p>
        </p:txBody>
      </p:sp>
      <p:sp>
        <p:nvSpPr>
          <p:cNvPr id="15" name="Text 12"/>
          <p:cNvSpPr/>
          <p:nvPr/>
        </p:nvSpPr>
        <p:spPr>
          <a:xfrm>
            <a:off x="502920" y="3831336"/>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3"/>
          <p:cNvSpPr/>
          <p:nvPr/>
        </p:nvSpPr>
        <p:spPr>
          <a:xfrm>
            <a:off x="1188720" y="3803904"/>
            <a:ext cx="2834640" cy="45720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Maintain safe access</a:t>
            </a:r>
            <a:endParaRPr lang="en-US" sz="1400" dirty="0"/>
          </a:p>
        </p:txBody>
      </p:sp>
      <p:sp>
        <p:nvSpPr>
          <p:cNvPr id="17" name="Text 14"/>
          <p:cNvSpPr/>
          <p:nvPr/>
        </p:nvSpPr>
        <p:spPr>
          <a:xfrm>
            <a:off x="3977640" y="3803904"/>
            <a:ext cx="7223760" cy="5029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Maintain safe public traffic, property, pedestrian and emergency access.</a:t>
            </a:r>
            <a:endParaRPr lang="en-US" sz="1250" dirty="0"/>
          </a:p>
        </p:txBody>
      </p:sp>
      <p:sp>
        <p:nvSpPr>
          <p:cNvPr id="18" name="Shape 15"/>
          <p:cNvSpPr/>
          <p:nvPr/>
        </p:nvSpPr>
        <p:spPr>
          <a:xfrm>
            <a:off x="502920" y="4581144"/>
            <a:ext cx="457200" cy="457200"/>
          </a:xfrm>
          <a:prstGeom prst="ellipse">
            <a:avLst/>
          </a:prstGeom>
          <a:solidFill>
            <a:srgbClr val="43A99A"/>
          </a:solidFill>
          <a:ln/>
        </p:spPr>
        <p:txBody>
          <a:bodyPr/>
          <a:lstStyle/>
          <a:p>
            <a:endParaRPr lang="en-US"/>
          </a:p>
        </p:txBody>
      </p:sp>
      <p:sp>
        <p:nvSpPr>
          <p:cNvPr id="19" name="Text 16"/>
          <p:cNvSpPr/>
          <p:nvPr/>
        </p:nvSpPr>
        <p:spPr>
          <a:xfrm>
            <a:off x="502920" y="4581144"/>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7"/>
          <p:cNvSpPr/>
          <p:nvPr/>
        </p:nvSpPr>
        <p:spPr>
          <a:xfrm>
            <a:off x="1188720" y="4553712"/>
            <a:ext cx="2834640" cy="45720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Control interfaces</a:t>
            </a:r>
            <a:endParaRPr lang="en-US" sz="1400" dirty="0"/>
          </a:p>
        </p:txBody>
      </p:sp>
      <p:sp>
        <p:nvSpPr>
          <p:cNvPr id="21" name="Text 18"/>
          <p:cNvSpPr/>
          <p:nvPr/>
        </p:nvSpPr>
        <p:spPr>
          <a:xfrm>
            <a:off x="3977640" y="4553712"/>
            <a:ext cx="7223760" cy="5029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Control logistics interfaces with suppliers, subcontractors, authorities and adjacent stakeholders.</a:t>
            </a:r>
            <a:endParaRPr lang="en-US" sz="1250" dirty="0"/>
          </a:p>
        </p:txBody>
      </p:sp>
      <p:sp>
        <p:nvSpPr>
          <p:cNvPr id="22" name="Shape 19"/>
          <p:cNvSpPr/>
          <p:nvPr/>
        </p:nvSpPr>
        <p:spPr>
          <a:xfrm>
            <a:off x="502920" y="5330952"/>
            <a:ext cx="457200" cy="457200"/>
          </a:xfrm>
          <a:prstGeom prst="ellipse">
            <a:avLst/>
          </a:prstGeom>
          <a:solidFill>
            <a:srgbClr val="43A99A"/>
          </a:solidFill>
          <a:ln/>
        </p:spPr>
        <p:txBody>
          <a:bodyPr/>
          <a:lstStyle/>
          <a:p>
            <a:endParaRPr lang="en-US"/>
          </a:p>
        </p:txBody>
      </p:sp>
      <p:sp>
        <p:nvSpPr>
          <p:cNvPr id="23" name="Text 20"/>
          <p:cNvSpPr/>
          <p:nvPr/>
        </p:nvSpPr>
        <p:spPr>
          <a:xfrm>
            <a:off x="502920" y="5330952"/>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1"/>
          <p:cNvSpPr/>
          <p:nvPr/>
        </p:nvSpPr>
        <p:spPr>
          <a:xfrm>
            <a:off x="1188720" y="5303520"/>
            <a:ext cx="2834640" cy="45720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Every project needs a plan</a:t>
            </a:r>
            <a:endParaRPr lang="en-US" sz="1400" dirty="0"/>
          </a:p>
        </p:txBody>
      </p:sp>
      <p:sp>
        <p:nvSpPr>
          <p:cNvPr id="25" name="Text 22"/>
          <p:cNvSpPr/>
          <p:nvPr/>
        </p:nvSpPr>
        <p:spPr>
          <a:xfrm>
            <a:off x="3977640" y="5303520"/>
            <a:ext cx="7223760" cy="5029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Require every project to prepare a project-specific Logistics Management Plan (LMP).</a:t>
            </a:r>
            <a:endParaRPr lang="en-US" sz="1250" dirty="0"/>
          </a:p>
        </p:txBody>
      </p:sp>
      <p:sp>
        <p:nvSpPr>
          <p:cNvPr id="27" name="Text 23"/>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73152"/>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01 · NON-NEGOTIABLES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Governing Principles</a:t>
            </a:r>
            <a:endParaRPr lang="en-US" sz="3000" dirty="0"/>
          </a:p>
        </p:txBody>
      </p:sp>
      <p:sp>
        <p:nvSpPr>
          <p:cNvPr id="5" name="Shape 2"/>
          <p:cNvSpPr/>
          <p:nvPr/>
        </p:nvSpPr>
        <p:spPr>
          <a:xfrm>
            <a:off x="502920" y="1508760"/>
            <a:ext cx="5257800" cy="1170432"/>
          </a:xfrm>
          <a:prstGeom prst="roundRect">
            <a:avLst>
              <a:gd name="adj" fmla="val 6250"/>
            </a:avLst>
          </a:prstGeom>
          <a:solidFill>
            <a:srgbClr val="D9ECE7"/>
          </a:solidFill>
          <a:ln/>
        </p:spPr>
        <p:txBody>
          <a:bodyPr/>
          <a:lstStyle/>
          <a:p>
            <a:endParaRPr lang="en-US"/>
          </a:p>
        </p:txBody>
      </p:sp>
      <p:sp>
        <p:nvSpPr>
          <p:cNvPr id="6" name="Shape 3"/>
          <p:cNvSpPr/>
          <p:nvPr/>
        </p:nvSpPr>
        <p:spPr>
          <a:xfrm>
            <a:off x="704088" y="2029968"/>
            <a:ext cx="128016" cy="128016"/>
          </a:xfrm>
          <a:prstGeom prst="ellipse">
            <a:avLst/>
          </a:prstGeom>
          <a:solidFill>
            <a:srgbClr val="43A99A"/>
          </a:solidFill>
          <a:ln/>
        </p:spPr>
        <p:txBody>
          <a:bodyPr/>
          <a:lstStyle/>
          <a:p>
            <a:endParaRPr lang="en-US"/>
          </a:p>
        </p:txBody>
      </p:sp>
      <p:sp>
        <p:nvSpPr>
          <p:cNvPr id="7" name="Text 4"/>
          <p:cNvSpPr/>
          <p:nvPr/>
        </p:nvSpPr>
        <p:spPr>
          <a:xfrm>
            <a:off x="960120" y="160020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No logistics activity proceeds without an approved requirement, owner and confirmed workfront.</a:t>
            </a:r>
            <a:endParaRPr lang="en-US" sz="1250" dirty="0"/>
          </a:p>
        </p:txBody>
      </p:sp>
      <p:sp>
        <p:nvSpPr>
          <p:cNvPr id="8" name="Shape 5"/>
          <p:cNvSpPr/>
          <p:nvPr/>
        </p:nvSpPr>
        <p:spPr>
          <a:xfrm>
            <a:off x="6080760" y="1508760"/>
            <a:ext cx="5257800" cy="1170432"/>
          </a:xfrm>
          <a:prstGeom prst="roundRect">
            <a:avLst>
              <a:gd name="adj" fmla="val 6250"/>
            </a:avLst>
          </a:prstGeom>
          <a:solidFill>
            <a:srgbClr val="D9ECE7"/>
          </a:solidFill>
          <a:ln/>
        </p:spPr>
        <p:txBody>
          <a:bodyPr/>
          <a:lstStyle/>
          <a:p>
            <a:endParaRPr lang="en-US"/>
          </a:p>
        </p:txBody>
      </p:sp>
      <p:sp>
        <p:nvSpPr>
          <p:cNvPr id="9" name="Shape 6"/>
          <p:cNvSpPr/>
          <p:nvPr/>
        </p:nvSpPr>
        <p:spPr>
          <a:xfrm>
            <a:off x="6281928" y="2029968"/>
            <a:ext cx="128016" cy="128016"/>
          </a:xfrm>
          <a:prstGeom prst="ellipse">
            <a:avLst/>
          </a:prstGeom>
          <a:solidFill>
            <a:srgbClr val="43A99A"/>
          </a:solidFill>
          <a:ln/>
        </p:spPr>
        <p:txBody>
          <a:bodyPr/>
          <a:lstStyle/>
          <a:p>
            <a:endParaRPr lang="en-US"/>
          </a:p>
        </p:txBody>
      </p:sp>
      <p:sp>
        <p:nvSpPr>
          <p:cNvPr id="10" name="Text 7"/>
          <p:cNvSpPr/>
          <p:nvPr/>
        </p:nvSpPr>
        <p:spPr>
          <a:xfrm>
            <a:off x="6537960" y="160020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No mobilization before the applicable mobilization gate has been satisfied.</a:t>
            </a:r>
            <a:endParaRPr lang="en-US" sz="1250" dirty="0"/>
          </a:p>
        </p:txBody>
      </p:sp>
      <p:sp>
        <p:nvSpPr>
          <p:cNvPr id="11" name="Shape 8"/>
          <p:cNvSpPr/>
          <p:nvPr/>
        </p:nvSpPr>
        <p:spPr>
          <a:xfrm>
            <a:off x="502920" y="2834640"/>
            <a:ext cx="5257800" cy="1170432"/>
          </a:xfrm>
          <a:prstGeom prst="roundRect">
            <a:avLst>
              <a:gd name="adj" fmla="val 6250"/>
            </a:avLst>
          </a:prstGeom>
          <a:solidFill>
            <a:srgbClr val="D9ECE7"/>
          </a:solidFill>
          <a:ln/>
        </p:spPr>
        <p:txBody>
          <a:bodyPr/>
          <a:lstStyle/>
          <a:p>
            <a:endParaRPr lang="en-US"/>
          </a:p>
        </p:txBody>
      </p:sp>
      <p:sp>
        <p:nvSpPr>
          <p:cNvPr id="12" name="Shape 9"/>
          <p:cNvSpPr/>
          <p:nvPr/>
        </p:nvSpPr>
        <p:spPr>
          <a:xfrm>
            <a:off x="704088" y="3355848"/>
            <a:ext cx="128016" cy="128016"/>
          </a:xfrm>
          <a:prstGeom prst="ellipse">
            <a:avLst/>
          </a:prstGeom>
          <a:solidFill>
            <a:srgbClr val="43A99A"/>
          </a:solidFill>
          <a:ln/>
        </p:spPr>
        <p:txBody>
          <a:bodyPr/>
          <a:lstStyle/>
          <a:p>
            <a:endParaRPr lang="en-US"/>
          </a:p>
        </p:txBody>
      </p:sp>
      <p:sp>
        <p:nvSpPr>
          <p:cNvPr id="13" name="Text 10"/>
          <p:cNvSpPr/>
          <p:nvPr/>
        </p:nvSpPr>
        <p:spPr>
          <a:xfrm>
            <a:off x="960120" y="292608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No live-traffic movement without TMP controls and Traffic / HSE confirmation.</a:t>
            </a:r>
            <a:endParaRPr lang="en-US" sz="1250" dirty="0"/>
          </a:p>
        </p:txBody>
      </p:sp>
      <p:sp>
        <p:nvSpPr>
          <p:cNvPr id="14" name="Shape 11"/>
          <p:cNvSpPr/>
          <p:nvPr/>
        </p:nvSpPr>
        <p:spPr>
          <a:xfrm>
            <a:off x="6080760" y="2834640"/>
            <a:ext cx="5257800" cy="1170432"/>
          </a:xfrm>
          <a:prstGeom prst="roundRect">
            <a:avLst>
              <a:gd name="adj" fmla="val 6250"/>
            </a:avLst>
          </a:prstGeom>
          <a:solidFill>
            <a:srgbClr val="D9ECE7"/>
          </a:solidFill>
          <a:ln/>
        </p:spPr>
        <p:txBody>
          <a:bodyPr/>
          <a:lstStyle/>
          <a:p>
            <a:endParaRPr lang="en-US"/>
          </a:p>
        </p:txBody>
      </p:sp>
      <p:sp>
        <p:nvSpPr>
          <p:cNvPr id="15" name="Shape 12"/>
          <p:cNvSpPr/>
          <p:nvPr/>
        </p:nvSpPr>
        <p:spPr>
          <a:xfrm>
            <a:off x="6281928" y="3355848"/>
            <a:ext cx="128016" cy="128016"/>
          </a:xfrm>
          <a:prstGeom prst="ellipse">
            <a:avLst/>
          </a:prstGeom>
          <a:solidFill>
            <a:srgbClr val="43A99A"/>
          </a:solidFill>
          <a:ln/>
        </p:spPr>
        <p:txBody>
          <a:bodyPr/>
          <a:lstStyle/>
          <a:p>
            <a:endParaRPr lang="en-US"/>
          </a:p>
        </p:txBody>
      </p:sp>
      <p:sp>
        <p:nvSpPr>
          <p:cNvPr id="16" name="Text 13"/>
          <p:cNvSpPr/>
          <p:nvPr/>
        </p:nvSpPr>
        <p:spPr>
          <a:xfrm>
            <a:off x="6537960" y="292608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No abnormal load without route verification, permits and escorts.</a:t>
            </a:r>
            <a:endParaRPr lang="en-US" sz="1250" dirty="0"/>
          </a:p>
        </p:txBody>
      </p:sp>
      <p:sp>
        <p:nvSpPr>
          <p:cNvPr id="17" name="Shape 14"/>
          <p:cNvSpPr/>
          <p:nvPr/>
        </p:nvSpPr>
        <p:spPr>
          <a:xfrm>
            <a:off x="502920" y="4160520"/>
            <a:ext cx="5257800" cy="1170432"/>
          </a:xfrm>
          <a:prstGeom prst="roundRect">
            <a:avLst>
              <a:gd name="adj" fmla="val 6250"/>
            </a:avLst>
          </a:prstGeom>
          <a:solidFill>
            <a:srgbClr val="D9ECE7"/>
          </a:solidFill>
          <a:ln/>
        </p:spPr>
        <p:txBody>
          <a:bodyPr/>
          <a:lstStyle/>
          <a:p>
            <a:endParaRPr lang="en-US"/>
          </a:p>
        </p:txBody>
      </p:sp>
      <p:sp>
        <p:nvSpPr>
          <p:cNvPr id="18" name="Shape 15"/>
          <p:cNvSpPr/>
          <p:nvPr/>
        </p:nvSpPr>
        <p:spPr>
          <a:xfrm>
            <a:off x="704088" y="4681728"/>
            <a:ext cx="128016" cy="128016"/>
          </a:xfrm>
          <a:prstGeom prst="ellipse">
            <a:avLst/>
          </a:prstGeom>
          <a:solidFill>
            <a:srgbClr val="43A99A"/>
          </a:solidFill>
          <a:ln/>
        </p:spPr>
        <p:txBody>
          <a:bodyPr/>
          <a:lstStyle/>
          <a:p>
            <a:endParaRPr lang="en-US"/>
          </a:p>
        </p:txBody>
      </p:sp>
      <p:sp>
        <p:nvSpPr>
          <p:cNvPr id="19" name="Text 16"/>
          <p:cNvSpPr/>
          <p:nvPr/>
        </p:nvSpPr>
        <p:spPr>
          <a:xfrm>
            <a:off x="960120" y="425196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Materials are traceable from purchase and dispatch through receipt, storage and installation.</a:t>
            </a:r>
            <a:endParaRPr lang="en-US" sz="1250" dirty="0"/>
          </a:p>
        </p:txBody>
      </p:sp>
      <p:sp>
        <p:nvSpPr>
          <p:cNvPr id="20" name="Shape 17"/>
          <p:cNvSpPr/>
          <p:nvPr/>
        </p:nvSpPr>
        <p:spPr>
          <a:xfrm>
            <a:off x="6080760" y="4160520"/>
            <a:ext cx="5257800" cy="1170432"/>
          </a:xfrm>
          <a:prstGeom prst="roundRect">
            <a:avLst>
              <a:gd name="adj" fmla="val 6250"/>
            </a:avLst>
          </a:prstGeom>
          <a:solidFill>
            <a:srgbClr val="D9ECE7"/>
          </a:solidFill>
          <a:ln/>
        </p:spPr>
        <p:txBody>
          <a:bodyPr/>
          <a:lstStyle/>
          <a:p>
            <a:endParaRPr lang="en-US"/>
          </a:p>
        </p:txBody>
      </p:sp>
      <p:sp>
        <p:nvSpPr>
          <p:cNvPr id="21" name="Shape 18"/>
          <p:cNvSpPr/>
          <p:nvPr/>
        </p:nvSpPr>
        <p:spPr>
          <a:xfrm>
            <a:off x="6281928" y="4681728"/>
            <a:ext cx="128016" cy="128016"/>
          </a:xfrm>
          <a:prstGeom prst="ellipse">
            <a:avLst/>
          </a:prstGeom>
          <a:solidFill>
            <a:srgbClr val="43A99A"/>
          </a:solidFill>
          <a:ln/>
        </p:spPr>
        <p:txBody>
          <a:bodyPr/>
          <a:lstStyle/>
          <a:p>
            <a:endParaRPr lang="en-US"/>
          </a:p>
        </p:txBody>
      </p:sp>
      <p:sp>
        <p:nvSpPr>
          <p:cNvPr id="22" name="Text 19"/>
          <p:cNvSpPr/>
          <p:nvPr/>
        </p:nvSpPr>
        <p:spPr>
          <a:xfrm>
            <a:off x="6537960" y="425196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Any deviation is risk-assessed, approved and recorded before implementation.</a:t>
            </a:r>
            <a:endParaRPr lang="en-US" sz="1250" dirty="0"/>
          </a:p>
        </p:txBody>
      </p:sp>
      <p:sp>
        <p:nvSpPr>
          <p:cNvPr id="23" name="Shape 20"/>
          <p:cNvSpPr/>
          <p:nvPr/>
        </p:nvSpPr>
        <p:spPr>
          <a:xfrm>
            <a:off x="502920" y="5486400"/>
            <a:ext cx="5257800" cy="1170432"/>
          </a:xfrm>
          <a:prstGeom prst="roundRect">
            <a:avLst>
              <a:gd name="adj" fmla="val 6250"/>
            </a:avLst>
          </a:prstGeom>
          <a:solidFill>
            <a:srgbClr val="D9ECE7"/>
          </a:solidFill>
          <a:ln/>
        </p:spPr>
        <p:txBody>
          <a:bodyPr/>
          <a:lstStyle/>
          <a:p>
            <a:endParaRPr lang="en-US"/>
          </a:p>
        </p:txBody>
      </p:sp>
      <p:sp>
        <p:nvSpPr>
          <p:cNvPr id="24" name="Shape 21"/>
          <p:cNvSpPr/>
          <p:nvPr/>
        </p:nvSpPr>
        <p:spPr>
          <a:xfrm>
            <a:off x="704088" y="6007608"/>
            <a:ext cx="128016" cy="128016"/>
          </a:xfrm>
          <a:prstGeom prst="ellipse">
            <a:avLst/>
          </a:prstGeom>
          <a:solidFill>
            <a:srgbClr val="43A99A"/>
          </a:solidFill>
          <a:ln/>
        </p:spPr>
        <p:txBody>
          <a:bodyPr/>
          <a:lstStyle/>
          <a:p>
            <a:endParaRPr lang="en-US"/>
          </a:p>
        </p:txBody>
      </p:sp>
      <p:sp>
        <p:nvSpPr>
          <p:cNvPr id="25" name="Text 22"/>
          <p:cNvSpPr/>
          <p:nvPr/>
        </p:nvSpPr>
        <p:spPr>
          <a:xfrm>
            <a:off x="960120" y="557784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Every person in logistics operations has authority to stop an unsafe or unauthorized movement.</a:t>
            </a:r>
            <a:endParaRPr lang="en-US" sz="1250" dirty="0"/>
          </a:p>
        </p:txBody>
      </p:sp>
      <p:sp>
        <p:nvSpPr>
          <p:cNvPr id="27" name="Text 23"/>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assets/bg_mi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331720"/>
            <a:ext cx="3291840" cy="2011680"/>
          </a:xfrm>
          <a:prstGeom prst="rect">
            <a:avLst/>
          </a:prstGeom>
          <a:noFill/>
          <a:ln/>
        </p:spPr>
        <p:txBody>
          <a:bodyPr wrap="square" rtlCol="0" anchor="ctr"/>
          <a:lstStyle/>
          <a:p>
            <a:pPr marL="0" indent="0">
              <a:buNone/>
            </a:pPr>
            <a:r>
              <a:rPr lang="en-US" sz="13000" b="1" dirty="0">
                <a:solidFill>
                  <a:srgbClr val="8FCFC3"/>
                </a:solidFill>
                <a:latin typeface="Calibri" pitchFamily="34" charset="0"/>
                <a:ea typeface="Calibri" pitchFamily="34" charset="-122"/>
                <a:cs typeface="Calibri" pitchFamily="34" charset="-120"/>
              </a:rPr>
              <a:t>02</a:t>
            </a:r>
            <a:endParaRPr lang="en-US" sz="13000" dirty="0"/>
          </a:p>
        </p:txBody>
      </p:sp>
      <p:sp>
        <p:nvSpPr>
          <p:cNvPr id="4" name="Text 1"/>
          <p:cNvSpPr/>
          <p:nvPr/>
        </p:nvSpPr>
        <p:spPr>
          <a:xfrm>
            <a:off x="3977640" y="2788920"/>
            <a:ext cx="7406640" cy="1188720"/>
          </a:xfrm>
          <a:prstGeom prst="rect">
            <a:avLst/>
          </a:prstGeom>
          <a:noFill/>
          <a:ln/>
        </p:spPr>
        <p:txBody>
          <a:bodyPr wrap="square" rtlCol="0" anchor="ctr"/>
          <a:lstStyle/>
          <a:p>
            <a:pPr marL="0" indent="0">
              <a:buNone/>
            </a:pPr>
            <a:r>
              <a:rPr lang="en-US" sz="3400" b="1" dirty="0">
                <a:solidFill>
                  <a:srgbClr val="004549"/>
                </a:solidFill>
                <a:latin typeface="Calibri" pitchFamily="34" charset="0"/>
                <a:ea typeface="Calibri" pitchFamily="34" charset="-122"/>
                <a:cs typeface="Calibri" pitchFamily="34" charset="-120"/>
              </a:rPr>
              <a:t>Roles &amp; Responsibilities</a:t>
            </a:r>
            <a:endParaRPr lang="en-US" sz="3400" dirty="0"/>
          </a:p>
        </p:txBody>
      </p:sp>
      <p:sp>
        <p:nvSpPr>
          <p:cNvPr id="5" name="Text 2"/>
          <p:cNvSpPr/>
          <p:nvPr/>
        </p:nvSpPr>
        <p:spPr>
          <a:xfrm>
            <a:off x="3995928" y="3611880"/>
            <a:ext cx="7132320" cy="548640"/>
          </a:xfrm>
          <a:prstGeom prst="rect">
            <a:avLst/>
          </a:prstGeom>
          <a:noFill/>
          <a:ln/>
        </p:spPr>
        <p:txBody>
          <a:bodyPr wrap="square" rtlCol="0" anchor="ctr"/>
          <a:lstStyle/>
          <a:p>
            <a:pPr marL="0" indent="0">
              <a:buNone/>
            </a:pPr>
            <a:r>
              <a:rPr lang="en-US" sz="1400" i="1" dirty="0">
                <a:solidFill>
                  <a:srgbClr val="004549"/>
                </a:solidFill>
                <a:latin typeface="Calibri" pitchFamily="34" charset="0"/>
                <a:ea typeface="Calibri" pitchFamily="34" charset="-122"/>
                <a:cs typeface="Calibri" pitchFamily="34" charset="-120"/>
              </a:rPr>
              <a:t>Who owns what across leadership, site execution and support functions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02 · ROLES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Leadership &amp; Management</a:t>
            </a:r>
            <a:endParaRPr lang="en-US" sz="3000" dirty="0"/>
          </a:p>
        </p:txBody>
      </p:sp>
      <p:sp>
        <p:nvSpPr>
          <p:cNvPr id="5" name="Shape 2"/>
          <p:cNvSpPr/>
          <p:nvPr/>
        </p:nvSpPr>
        <p:spPr>
          <a:xfrm>
            <a:off x="502920" y="1463040"/>
            <a:ext cx="3538728" cy="4434840"/>
          </a:xfrm>
          <a:prstGeom prst="roundRect">
            <a:avLst>
              <a:gd name="adj" fmla="val 2067"/>
            </a:avLst>
          </a:prstGeom>
          <a:solidFill>
            <a:srgbClr val="FFFFFF"/>
          </a:solidFill>
          <a:ln w="12700">
            <a:solidFill>
              <a:srgbClr val="DCEAE7"/>
            </a:solidFill>
            <a:prstDash val="solid"/>
          </a:ln>
        </p:spPr>
        <p:txBody>
          <a:bodyPr/>
          <a:lstStyle/>
          <a:p>
            <a:endParaRPr lang="en-US"/>
          </a:p>
        </p:txBody>
      </p:sp>
      <p:sp>
        <p:nvSpPr>
          <p:cNvPr id="6" name="Shape 3"/>
          <p:cNvSpPr/>
          <p:nvPr/>
        </p:nvSpPr>
        <p:spPr>
          <a:xfrm>
            <a:off x="502920" y="1463040"/>
            <a:ext cx="3538728" cy="685800"/>
          </a:xfrm>
          <a:prstGeom prst="rect">
            <a:avLst/>
          </a:prstGeom>
          <a:solidFill>
            <a:srgbClr val="004549"/>
          </a:solidFill>
          <a:ln/>
        </p:spPr>
        <p:txBody>
          <a:bodyPr/>
          <a:lstStyle/>
          <a:p>
            <a:endParaRPr lang="en-US"/>
          </a:p>
        </p:txBody>
      </p:sp>
      <p:sp>
        <p:nvSpPr>
          <p:cNvPr id="7" name="Text 4"/>
          <p:cNvSpPr/>
          <p:nvPr/>
        </p:nvSpPr>
        <p:spPr>
          <a:xfrm>
            <a:off x="502920" y="1463040"/>
            <a:ext cx="3538728"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Project Director</a:t>
            </a:r>
            <a:endParaRPr lang="en-US" sz="1550" dirty="0"/>
          </a:p>
        </p:txBody>
      </p:sp>
      <p:sp>
        <p:nvSpPr>
          <p:cNvPr id="8" name="Shape 5"/>
          <p:cNvSpPr/>
          <p:nvPr/>
        </p:nvSpPr>
        <p:spPr>
          <a:xfrm>
            <a:off x="758952" y="2523744"/>
            <a:ext cx="82296" cy="82296"/>
          </a:xfrm>
          <a:prstGeom prst="ellipse">
            <a:avLst/>
          </a:prstGeom>
          <a:solidFill>
            <a:srgbClr val="43A99A"/>
          </a:solidFill>
          <a:ln/>
        </p:spPr>
        <p:txBody>
          <a:bodyPr/>
          <a:lstStyle/>
          <a:p>
            <a:endParaRPr lang="en-US"/>
          </a:p>
        </p:txBody>
      </p:sp>
      <p:sp>
        <p:nvSpPr>
          <p:cNvPr id="9" name="Text 6"/>
          <p:cNvSpPr/>
          <p:nvPr/>
        </p:nvSpPr>
        <p:spPr>
          <a:xfrm>
            <a:off x="960120" y="246888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Approves logistics strategy and major resources.</a:t>
            </a:r>
            <a:endParaRPr lang="en-US" sz="1200" dirty="0"/>
          </a:p>
        </p:txBody>
      </p:sp>
      <p:sp>
        <p:nvSpPr>
          <p:cNvPr id="10" name="Shape 7"/>
          <p:cNvSpPr/>
          <p:nvPr/>
        </p:nvSpPr>
        <p:spPr>
          <a:xfrm>
            <a:off x="758952" y="3575304"/>
            <a:ext cx="82296" cy="82296"/>
          </a:xfrm>
          <a:prstGeom prst="ellipse">
            <a:avLst/>
          </a:prstGeom>
          <a:solidFill>
            <a:srgbClr val="43A99A"/>
          </a:solidFill>
          <a:ln/>
        </p:spPr>
        <p:txBody>
          <a:bodyPr/>
          <a:lstStyle/>
          <a:p>
            <a:endParaRPr lang="en-US"/>
          </a:p>
        </p:txBody>
      </p:sp>
      <p:sp>
        <p:nvSpPr>
          <p:cNvPr id="11" name="Text 8"/>
          <p:cNvSpPr/>
          <p:nvPr/>
        </p:nvSpPr>
        <p:spPr>
          <a:xfrm>
            <a:off x="960120" y="352044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Resolves escalated constraints affecting milestones, cost or stakeholders.</a:t>
            </a:r>
            <a:endParaRPr lang="en-US" sz="1200" dirty="0"/>
          </a:p>
        </p:txBody>
      </p:sp>
      <p:sp>
        <p:nvSpPr>
          <p:cNvPr id="12" name="Shape 9"/>
          <p:cNvSpPr/>
          <p:nvPr/>
        </p:nvSpPr>
        <p:spPr>
          <a:xfrm>
            <a:off x="758952" y="4626864"/>
            <a:ext cx="82296" cy="82296"/>
          </a:xfrm>
          <a:prstGeom prst="ellipse">
            <a:avLst/>
          </a:prstGeom>
          <a:solidFill>
            <a:srgbClr val="43A99A"/>
          </a:solidFill>
          <a:ln/>
        </p:spPr>
        <p:txBody>
          <a:bodyPr/>
          <a:lstStyle/>
          <a:p>
            <a:endParaRPr lang="en-US"/>
          </a:p>
        </p:txBody>
      </p:sp>
      <p:sp>
        <p:nvSpPr>
          <p:cNvPr id="13" name="Text 10"/>
          <p:cNvSpPr/>
          <p:nvPr/>
        </p:nvSpPr>
        <p:spPr>
          <a:xfrm>
            <a:off x="960120" y="457200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Ensures coordination across projects sharing resources or routes.</a:t>
            </a:r>
            <a:endParaRPr lang="en-US" sz="1200" dirty="0"/>
          </a:p>
        </p:txBody>
      </p:sp>
      <p:sp>
        <p:nvSpPr>
          <p:cNvPr id="14" name="Shape 11"/>
          <p:cNvSpPr/>
          <p:nvPr/>
        </p:nvSpPr>
        <p:spPr>
          <a:xfrm>
            <a:off x="4297680" y="1463040"/>
            <a:ext cx="3538728" cy="4434840"/>
          </a:xfrm>
          <a:prstGeom prst="roundRect">
            <a:avLst>
              <a:gd name="adj" fmla="val 2067"/>
            </a:avLst>
          </a:prstGeom>
          <a:solidFill>
            <a:srgbClr val="FFFFFF"/>
          </a:solidFill>
          <a:ln w="12700">
            <a:solidFill>
              <a:srgbClr val="DCEAE7"/>
            </a:solidFill>
            <a:prstDash val="solid"/>
          </a:ln>
        </p:spPr>
        <p:txBody>
          <a:bodyPr/>
          <a:lstStyle/>
          <a:p>
            <a:endParaRPr lang="en-US"/>
          </a:p>
        </p:txBody>
      </p:sp>
      <p:sp>
        <p:nvSpPr>
          <p:cNvPr id="15" name="Shape 12"/>
          <p:cNvSpPr/>
          <p:nvPr/>
        </p:nvSpPr>
        <p:spPr>
          <a:xfrm>
            <a:off x="4297680" y="1463040"/>
            <a:ext cx="3538728" cy="685800"/>
          </a:xfrm>
          <a:prstGeom prst="rect">
            <a:avLst/>
          </a:prstGeom>
          <a:solidFill>
            <a:srgbClr val="004549"/>
          </a:solidFill>
          <a:ln/>
        </p:spPr>
        <p:txBody>
          <a:bodyPr/>
          <a:lstStyle/>
          <a:p>
            <a:endParaRPr lang="en-US"/>
          </a:p>
        </p:txBody>
      </p:sp>
      <p:sp>
        <p:nvSpPr>
          <p:cNvPr id="16" name="Text 13"/>
          <p:cNvSpPr/>
          <p:nvPr/>
        </p:nvSpPr>
        <p:spPr>
          <a:xfrm>
            <a:off x="4297680" y="1463040"/>
            <a:ext cx="3538728"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Project Manager</a:t>
            </a:r>
            <a:endParaRPr lang="en-US" sz="1550" dirty="0"/>
          </a:p>
        </p:txBody>
      </p:sp>
      <p:sp>
        <p:nvSpPr>
          <p:cNvPr id="17" name="Shape 14"/>
          <p:cNvSpPr/>
          <p:nvPr/>
        </p:nvSpPr>
        <p:spPr>
          <a:xfrm>
            <a:off x="4553712" y="2523744"/>
            <a:ext cx="82296" cy="82296"/>
          </a:xfrm>
          <a:prstGeom prst="ellipse">
            <a:avLst/>
          </a:prstGeom>
          <a:solidFill>
            <a:srgbClr val="43A99A"/>
          </a:solidFill>
          <a:ln/>
        </p:spPr>
        <p:txBody>
          <a:bodyPr/>
          <a:lstStyle/>
          <a:p>
            <a:endParaRPr lang="en-US"/>
          </a:p>
        </p:txBody>
      </p:sp>
      <p:sp>
        <p:nvSpPr>
          <p:cNvPr id="18" name="Text 15"/>
          <p:cNvSpPr/>
          <p:nvPr/>
        </p:nvSpPr>
        <p:spPr>
          <a:xfrm>
            <a:off x="4754880" y="246888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Approves the project LMP before operations commence.</a:t>
            </a:r>
            <a:endParaRPr lang="en-US" sz="1200" dirty="0"/>
          </a:p>
        </p:txBody>
      </p:sp>
      <p:sp>
        <p:nvSpPr>
          <p:cNvPr id="19" name="Shape 16"/>
          <p:cNvSpPr/>
          <p:nvPr/>
        </p:nvSpPr>
        <p:spPr>
          <a:xfrm>
            <a:off x="4553712" y="3575304"/>
            <a:ext cx="82296" cy="82296"/>
          </a:xfrm>
          <a:prstGeom prst="ellipse">
            <a:avLst/>
          </a:prstGeom>
          <a:solidFill>
            <a:srgbClr val="43A99A"/>
          </a:solidFill>
          <a:ln/>
        </p:spPr>
        <p:txBody>
          <a:bodyPr/>
          <a:lstStyle/>
          <a:p>
            <a:endParaRPr lang="en-US"/>
          </a:p>
        </p:txBody>
      </p:sp>
      <p:sp>
        <p:nvSpPr>
          <p:cNvPr id="20" name="Text 17"/>
          <p:cNvSpPr/>
          <p:nvPr/>
        </p:nvSpPr>
        <p:spPr>
          <a:xfrm>
            <a:off x="4754880" y="352044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Chairs or delegates the weekly logistics coordination meeting.</a:t>
            </a:r>
            <a:endParaRPr lang="en-US" sz="1200" dirty="0"/>
          </a:p>
        </p:txBody>
      </p:sp>
      <p:sp>
        <p:nvSpPr>
          <p:cNvPr id="21" name="Shape 18"/>
          <p:cNvSpPr/>
          <p:nvPr/>
        </p:nvSpPr>
        <p:spPr>
          <a:xfrm>
            <a:off x="4553712" y="4626864"/>
            <a:ext cx="82296" cy="82296"/>
          </a:xfrm>
          <a:prstGeom prst="ellipse">
            <a:avLst/>
          </a:prstGeom>
          <a:solidFill>
            <a:srgbClr val="43A99A"/>
          </a:solidFill>
          <a:ln/>
        </p:spPr>
        <p:txBody>
          <a:bodyPr/>
          <a:lstStyle/>
          <a:p>
            <a:endParaRPr lang="en-US"/>
          </a:p>
        </p:txBody>
      </p:sp>
      <p:sp>
        <p:nvSpPr>
          <p:cNvPr id="22" name="Text 19"/>
          <p:cNvSpPr/>
          <p:nvPr/>
        </p:nvSpPr>
        <p:spPr>
          <a:xfrm>
            <a:off x="4754880" y="457200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Reviews KPI performance, risks and unresolved corrective actions.</a:t>
            </a:r>
            <a:endParaRPr lang="en-US" sz="1200" dirty="0"/>
          </a:p>
        </p:txBody>
      </p:sp>
      <p:sp>
        <p:nvSpPr>
          <p:cNvPr id="23" name="Shape 20"/>
          <p:cNvSpPr/>
          <p:nvPr/>
        </p:nvSpPr>
        <p:spPr>
          <a:xfrm>
            <a:off x="8092440" y="1463040"/>
            <a:ext cx="3538728" cy="4434840"/>
          </a:xfrm>
          <a:prstGeom prst="roundRect">
            <a:avLst>
              <a:gd name="adj" fmla="val 2067"/>
            </a:avLst>
          </a:prstGeom>
          <a:solidFill>
            <a:srgbClr val="FFFFFF"/>
          </a:solidFill>
          <a:ln w="12700">
            <a:solidFill>
              <a:srgbClr val="DCEAE7"/>
            </a:solidFill>
            <a:prstDash val="solid"/>
          </a:ln>
        </p:spPr>
        <p:txBody>
          <a:bodyPr/>
          <a:lstStyle/>
          <a:p>
            <a:endParaRPr lang="en-US"/>
          </a:p>
        </p:txBody>
      </p:sp>
      <p:sp>
        <p:nvSpPr>
          <p:cNvPr id="24" name="Shape 21"/>
          <p:cNvSpPr/>
          <p:nvPr/>
        </p:nvSpPr>
        <p:spPr>
          <a:xfrm>
            <a:off x="8092440" y="1463040"/>
            <a:ext cx="3538728" cy="685800"/>
          </a:xfrm>
          <a:prstGeom prst="rect">
            <a:avLst/>
          </a:prstGeom>
          <a:solidFill>
            <a:srgbClr val="004549"/>
          </a:solidFill>
          <a:ln/>
        </p:spPr>
        <p:txBody>
          <a:bodyPr/>
          <a:lstStyle/>
          <a:p>
            <a:endParaRPr lang="en-US"/>
          </a:p>
        </p:txBody>
      </p:sp>
      <p:sp>
        <p:nvSpPr>
          <p:cNvPr id="25" name="Text 22"/>
          <p:cNvSpPr/>
          <p:nvPr/>
        </p:nvSpPr>
        <p:spPr>
          <a:xfrm>
            <a:off x="8092440" y="1463040"/>
            <a:ext cx="3538728"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Logistics Manager</a:t>
            </a:r>
            <a:endParaRPr lang="en-US" sz="1550" dirty="0"/>
          </a:p>
        </p:txBody>
      </p:sp>
      <p:sp>
        <p:nvSpPr>
          <p:cNvPr id="26" name="Shape 23"/>
          <p:cNvSpPr/>
          <p:nvPr/>
        </p:nvSpPr>
        <p:spPr>
          <a:xfrm>
            <a:off x="8348472" y="2523744"/>
            <a:ext cx="82296" cy="82296"/>
          </a:xfrm>
          <a:prstGeom prst="ellipse">
            <a:avLst/>
          </a:prstGeom>
          <a:solidFill>
            <a:srgbClr val="43A99A"/>
          </a:solidFill>
          <a:ln/>
        </p:spPr>
        <p:txBody>
          <a:bodyPr/>
          <a:lstStyle/>
          <a:p>
            <a:endParaRPr lang="en-US"/>
          </a:p>
        </p:txBody>
      </p:sp>
      <p:sp>
        <p:nvSpPr>
          <p:cNvPr id="27" name="Text 24"/>
          <p:cNvSpPr/>
          <p:nvPr/>
        </p:nvSpPr>
        <p:spPr>
          <a:xfrm>
            <a:off x="8549640" y="246888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Develops, implements and maintains the project LMP.</a:t>
            </a:r>
            <a:endParaRPr lang="en-US" sz="1200" dirty="0"/>
          </a:p>
        </p:txBody>
      </p:sp>
      <p:sp>
        <p:nvSpPr>
          <p:cNvPr id="28" name="Shape 25"/>
          <p:cNvSpPr/>
          <p:nvPr/>
        </p:nvSpPr>
        <p:spPr>
          <a:xfrm>
            <a:off x="8348472" y="3575304"/>
            <a:ext cx="82296" cy="82296"/>
          </a:xfrm>
          <a:prstGeom prst="ellipse">
            <a:avLst/>
          </a:prstGeom>
          <a:solidFill>
            <a:srgbClr val="43A99A"/>
          </a:solidFill>
          <a:ln/>
        </p:spPr>
        <p:txBody>
          <a:bodyPr/>
          <a:lstStyle/>
          <a:p>
            <a:endParaRPr lang="en-US"/>
          </a:p>
        </p:txBody>
      </p:sp>
      <p:sp>
        <p:nvSpPr>
          <p:cNvPr id="29" name="Text 26"/>
          <p:cNvSpPr/>
          <p:nvPr/>
        </p:nvSpPr>
        <p:spPr>
          <a:xfrm>
            <a:off x="8549640" y="352044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Manages access routes, gates, delivery schedules and logistics zones.</a:t>
            </a:r>
            <a:endParaRPr lang="en-US" sz="1200" dirty="0"/>
          </a:p>
        </p:txBody>
      </p:sp>
      <p:sp>
        <p:nvSpPr>
          <p:cNvPr id="30" name="Shape 27"/>
          <p:cNvSpPr/>
          <p:nvPr/>
        </p:nvSpPr>
        <p:spPr>
          <a:xfrm>
            <a:off x="8348472" y="4626864"/>
            <a:ext cx="82296" cy="82296"/>
          </a:xfrm>
          <a:prstGeom prst="ellipse">
            <a:avLst/>
          </a:prstGeom>
          <a:solidFill>
            <a:srgbClr val="43A99A"/>
          </a:solidFill>
          <a:ln/>
        </p:spPr>
        <p:txBody>
          <a:bodyPr/>
          <a:lstStyle/>
          <a:p>
            <a:endParaRPr lang="en-US"/>
          </a:p>
        </p:txBody>
      </p:sp>
      <p:sp>
        <p:nvSpPr>
          <p:cNvPr id="31" name="Text 28"/>
          <p:cNvSpPr/>
          <p:nvPr/>
        </p:nvSpPr>
        <p:spPr>
          <a:xfrm>
            <a:off x="8549640" y="457200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Authorized to stop or reschedule any unsafe or unapproved movement.</a:t>
            </a:r>
            <a:endParaRPr lang="en-US" sz="1200" dirty="0"/>
          </a:p>
        </p:txBody>
      </p:sp>
      <p:sp>
        <p:nvSpPr>
          <p:cNvPr id="33" name="Text 29"/>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02 · ROLES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Site Execution Team</a:t>
            </a:r>
            <a:endParaRPr lang="en-US" sz="3000" dirty="0"/>
          </a:p>
        </p:txBody>
      </p:sp>
      <p:sp>
        <p:nvSpPr>
          <p:cNvPr id="5" name="Shape 2"/>
          <p:cNvSpPr/>
          <p:nvPr/>
        </p:nvSpPr>
        <p:spPr>
          <a:xfrm>
            <a:off x="502920" y="1463040"/>
            <a:ext cx="3538728" cy="4434840"/>
          </a:xfrm>
          <a:prstGeom prst="roundRect">
            <a:avLst>
              <a:gd name="adj" fmla="val 2067"/>
            </a:avLst>
          </a:prstGeom>
          <a:solidFill>
            <a:srgbClr val="FFFFFF"/>
          </a:solidFill>
          <a:ln w="12700">
            <a:solidFill>
              <a:srgbClr val="DCEAE7"/>
            </a:solidFill>
            <a:prstDash val="solid"/>
          </a:ln>
        </p:spPr>
        <p:txBody>
          <a:bodyPr/>
          <a:lstStyle/>
          <a:p>
            <a:endParaRPr lang="en-US"/>
          </a:p>
        </p:txBody>
      </p:sp>
      <p:sp>
        <p:nvSpPr>
          <p:cNvPr id="6" name="Shape 3"/>
          <p:cNvSpPr/>
          <p:nvPr/>
        </p:nvSpPr>
        <p:spPr>
          <a:xfrm>
            <a:off x="502920" y="1463040"/>
            <a:ext cx="3538728" cy="685800"/>
          </a:xfrm>
          <a:prstGeom prst="rect">
            <a:avLst/>
          </a:prstGeom>
          <a:solidFill>
            <a:srgbClr val="43A99A"/>
          </a:solidFill>
          <a:ln/>
        </p:spPr>
        <p:txBody>
          <a:bodyPr/>
          <a:lstStyle/>
          <a:p>
            <a:endParaRPr lang="en-US"/>
          </a:p>
        </p:txBody>
      </p:sp>
      <p:sp>
        <p:nvSpPr>
          <p:cNvPr id="7" name="Text 4"/>
          <p:cNvSpPr/>
          <p:nvPr/>
        </p:nvSpPr>
        <p:spPr>
          <a:xfrm>
            <a:off x="502920" y="1463040"/>
            <a:ext cx="3538728"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Construction Manager</a:t>
            </a:r>
            <a:endParaRPr lang="en-US" sz="1550" dirty="0"/>
          </a:p>
        </p:txBody>
      </p:sp>
      <p:sp>
        <p:nvSpPr>
          <p:cNvPr id="8" name="Shape 5"/>
          <p:cNvSpPr/>
          <p:nvPr/>
        </p:nvSpPr>
        <p:spPr>
          <a:xfrm>
            <a:off x="758952" y="2523744"/>
            <a:ext cx="82296" cy="82296"/>
          </a:xfrm>
          <a:prstGeom prst="ellipse">
            <a:avLst/>
          </a:prstGeom>
          <a:solidFill>
            <a:srgbClr val="004549"/>
          </a:solidFill>
          <a:ln/>
        </p:spPr>
        <p:txBody>
          <a:bodyPr/>
          <a:lstStyle/>
          <a:p>
            <a:endParaRPr lang="en-US"/>
          </a:p>
        </p:txBody>
      </p:sp>
      <p:sp>
        <p:nvSpPr>
          <p:cNvPr id="9" name="Text 6"/>
          <p:cNvSpPr/>
          <p:nvPr/>
        </p:nvSpPr>
        <p:spPr>
          <a:xfrm>
            <a:off x="960120" y="246888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Confirms workfront readiness and material demand.</a:t>
            </a:r>
            <a:endParaRPr lang="en-US" sz="1200" dirty="0"/>
          </a:p>
        </p:txBody>
      </p:sp>
      <p:sp>
        <p:nvSpPr>
          <p:cNvPr id="10" name="Shape 7"/>
          <p:cNvSpPr/>
          <p:nvPr/>
        </p:nvSpPr>
        <p:spPr>
          <a:xfrm>
            <a:off x="758952" y="3575304"/>
            <a:ext cx="82296" cy="82296"/>
          </a:xfrm>
          <a:prstGeom prst="ellipse">
            <a:avLst/>
          </a:prstGeom>
          <a:solidFill>
            <a:srgbClr val="004549"/>
          </a:solidFill>
          <a:ln/>
        </p:spPr>
        <p:txBody>
          <a:bodyPr/>
          <a:lstStyle/>
          <a:p>
            <a:endParaRPr lang="en-US"/>
          </a:p>
        </p:txBody>
      </p:sp>
      <p:sp>
        <p:nvSpPr>
          <p:cNvPr id="11" name="Text 8"/>
          <p:cNvSpPr/>
          <p:nvPr/>
        </p:nvSpPr>
        <p:spPr>
          <a:xfrm>
            <a:off x="960120" y="352044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Provides construction sequencing and short-term priorities.</a:t>
            </a:r>
            <a:endParaRPr lang="en-US" sz="1200" dirty="0"/>
          </a:p>
        </p:txBody>
      </p:sp>
      <p:sp>
        <p:nvSpPr>
          <p:cNvPr id="12" name="Shape 9"/>
          <p:cNvSpPr/>
          <p:nvPr/>
        </p:nvSpPr>
        <p:spPr>
          <a:xfrm>
            <a:off x="758952" y="4626864"/>
            <a:ext cx="82296" cy="82296"/>
          </a:xfrm>
          <a:prstGeom prst="ellipse">
            <a:avLst/>
          </a:prstGeom>
          <a:solidFill>
            <a:srgbClr val="004549"/>
          </a:solidFill>
          <a:ln/>
        </p:spPr>
        <p:txBody>
          <a:bodyPr/>
          <a:lstStyle/>
          <a:p>
            <a:endParaRPr lang="en-US"/>
          </a:p>
        </p:txBody>
      </p:sp>
      <p:sp>
        <p:nvSpPr>
          <p:cNvPr id="13" name="Text 10"/>
          <p:cNvSpPr/>
          <p:nvPr/>
        </p:nvSpPr>
        <p:spPr>
          <a:xfrm>
            <a:off x="960120" y="457200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Nominates unloading points and responsible receiving personnel.</a:t>
            </a:r>
            <a:endParaRPr lang="en-US" sz="1200" dirty="0"/>
          </a:p>
        </p:txBody>
      </p:sp>
      <p:sp>
        <p:nvSpPr>
          <p:cNvPr id="14" name="Shape 11"/>
          <p:cNvSpPr/>
          <p:nvPr/>
        </p:nvSpPr>
        <p:spPr>
          <a:xfrm>
            <a:off x="4297680" y="1463040"/>
            <a:ext cx="3538728" cy="4434840"/>
          </a:xfrm>
          <a:prstGeom prst="roundRect">
            <a:avLst>
              <a:gd name="adj" fmla="val 2067"/>
            </a:avLst>
          </a:prstGeom>
          <a:solidFill>
            <a:srgbClr val="FFFFFF"/>
          </a:solidFill>
          <a:ln w="12700">
            <a:solidFill>
              <a:srgbClr val="DCEAE7"/>
            </a:solidFill>
            <a:prstDash val="solid"/>
          </a:ln>
        </p:spPr>
        <p:txBody>
          <a:bodyPr/>
          <a:lstStyle/>
          <a:p>
            <a:endParaRPr lang="en-US"/>
          </a:p>
        </p:txBody>
      </p:sp>
      <p:sp>
        <p:nvSpPr>
          <p:cNvPr id="15" name="Shape 12"/>
          <p:cNvSpPr/>
          <p:nvPr/>
        </p:nvSpPr>
        <p:spPr>
          <a:xfrm>
            <a:off x="4297680" y="1463040"/>
            <a:ext cx="3538728" cy="685800"/>
          </a:xfrm>
          <a:prstGeom prst="rect">
            <a:avLst/>
          </a:prstGeom>
          <a:solidFill>
            <a:srgbClr val="43A99A"/>
          </a:solidFill>
          <a:ln/>
        </p:spPr>
        <p:txBody>
          <a:bodyPr/>
          <a:lstStyle/>
          <a:p>
            <a:endParaRPr lang="en-US"/>
          </a:p>
        </p:txBody>
      </p:sp>
      <p:sp>
        <p:nvSpPr>
          <p:cNvPr id="16" name="Text 13"/>
          <p:cNvSpPr/>
          <p:nvPr/>
        </p:nvSpPr>
        <p:spPr>
          <a:xfrm>
            <a:off x="4297680" y="1463040"/>
            <a:ext cx="3538728"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Logistics Supervisor</a:t>
            </a:r>
            <a:endParaRPr lang="en-US" sz="1550" dirty="0"/>
          </a:p>
        </p:txBody>
      </p:sp>
      <p:sp>
        <p:nvSpPr>
          <p:cNvPr id="17" name="Shape 14"/>
          <p:cNvSpPr/>
          <p:nvPr/>
        </p:nvSpPr>
        <p:spPr>
          <a:xfrm>
            <a:off x="4553712" y="2523744"/>
            <a:ext cx="82296" cy="82296"/>
          </a:xfrm>
          <a:prstGeom prst="ellipse">
            <a:avLst/>
          </a:prstGeom>
          <a:solidFill>
            <a:srgbClr val="004549"/>
          </a:solidFill>
          <a:ln/>
        </p:spPr>
        <p:txBody>
          <a:bodyPr/>
          <a:lstStyle/>
          <a:p>
            <a:endParaRPr lang="en-US"/>
          </a:p>
        </p:txBody>
      </p:sp>
      <p:sp>
        <p:nvSpPr>
          <p:cNvPr id="18" name="Text 15"/>
          <p:cNvSpPr/>
          <p:nvPr/>
        </p:nvSpPr>
        <p:spPr>
          <a:xfrm>
            <a:off x="4754880" y="246888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Implements the approved LMP and daily logistics programme.</a:t>
            </a:r>
            <a:endParaRPr lang="en-US" sz="1200" dirty="0"/>
          </a:p>
        </p:txBody>
      </p:sp>
      <p:sp>
        <p:nvSpPr>
          <p:cNvPr id="19" name="Shape 16"/>
          <p:cNvSpPr/>
          <p:nvPr/>
        </p:nvSpPr>
        <p:spPr>
          <a:xfrm>
            <a:off x="4553712" y="3575304"/>
            <a:ext cx="82296" cy="82296"/>
          </a:xfrm>
          <a:prstGeom prst="ellipse">
            <a:avLst/>
          </a:prstGeom>
          <a:solidFill>
            <a:srgbClr val="004549"/>
          </a:solidFill>
          <a:ln/>
        </p:spPr>
        <p:txBody>
          <a:bodyPr/>
          <a:lstStyle/>
          <a:p>
            <a:endParaRPr lang="en-US"/>
          </a:p>
        </p:txBody>
      </p:sp>
      <p:sp>
        <p:nvSpPr>
          <p:cNvPr id="20" name="Text 17"/>
          <p:cNvSpPr/>
          <p:nvPr/>
        </p:nvSpPr>
        <p:spPr>
          <a:xfrm>
            <a:off x="4754880" y="352044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Verifies bookings, permits, driver and vehicle documents.</a:t>
            </a:r>
            <a:endParaRPr lang="en-US" sz="1200" dirty="0"/>
          </a:p>
        </p:txBody>
      </p:sp>
      <p:sp>
        <p:nvSpPr>
          <p:cNvPr id="21" name="Shape 18"/>
          <p:cNvSpPr/>
          <p:nvPr/>
        </p:nvSpPr>
        <p:spPr>
          <a:xfrm>
            <a:off x="4553712" y="4626864"/>
            <a:ext cx="82296" cy="82296"/>
          </a:xfrm>
          <a:prstGeom prst="ellipse">
            <a:avLst/>
          </a:prstGeom>
          <a:solidFill>
            <a:srgbClr val="004549"/>
          </a:solidFill>
          <a:ln/>
        </p:spPr>
        <p:txBody>
          <a:bodyPr/>
          <a:lstStyle/>
          <a:p>
            <a:endParaRPr lang="en-US"/>
          </a:p>
        </p:txBody>
      </p:sp>
      <p:sp>
        <p:nvSpPr>
          <p:cNvPr id="22" name="Text 19"/>
          <p:cNvSpPr/>
          <p:nvPr/>
        </p:nvSpPr>
        <p:spPr>
          <a:xfrm>
            <a:off x="4754880" y="457200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Coordinates with Construction, Stores, HSE, Traffic and Security.</a:t>
            </a:r>
            <a:endParaRPr lang="en-US" sz="1200" dirty="0"/>
          </a:p>
        </p:txBody>
      </p:sp>
      <p:sp>
        <p:nvSpPr>
          <p:cNvPr id="23" name="Shape 20"/>
          <p:cNvSpPr/>
          <p:nvPr/>
        </p:nvSpPr>
        <p:spPr>
          <a:xfrm>
            <a:off x="8092440" y="1463040"/>
            <a:ext cx="3538728" cy="4434840"/>
          </a:xfrm>
          <a:prstGeom prst="roundRect">
            <a:avLst>
              <a:gd name="adj" fmla="val 2067"/>
            </a:avLst>
          </a:prstGeom>
          <a:solidFill>
            <a:srgbClr val="FFFFFF"/>
          </a:solidFill>
          <a:ln w="12700">
            <a:solidFill>
              <a:srgbClr val="DCEAE7"/>
            </a:solidFill>
            <a:prstDash val="solid"/>
          </a:ln>
        </p:spPr>
        <p:txBody>
          <a:bodyPr/>
          <a:lstStyle/>
          <a:p>
            <a:endParaRPr lang="en-US"/>
          </a:p>
        </p:txBody>
      </p:sp>
      <p:sp>
        <p:nvSpPr>
          <p:cNvPr id="24" name="Shape 21"/>
          <p:cNvSpPr/>
          <p:nvPr/>
        </p:nvSpPr>
        <p:spPr>
          <a:xfrm>
            <a:off x="8092440" y="1463040"/>
            <a:ext cx="3538728" cy="685800"/>
          </a:xfrm>
          <a:prstGeom prst="rect">
            <a:avLst/>
          </a:prstGeom>
          <a:solidFill>
            <a:srgbClr val="43A99A"/>
          </a:solidFill>
          <a:ln/>
        </p:spPr>
        <p:txBody>
          <a:bodyPr/>
          <a:lstStyle/>
          <a:p>
            <a:endParaRPr lang="en-US"/>
          </a:p>
        </p:txBody>
      </p:sp>
      <p:sp>
        <p:nvSpPr>
          <p:cNvPr id="25" name="Text 22"/>
          <p:cNvSpPr/>
          <p:nvPr/>
        </p:nvSpPr>
        <p:spPr>
          <a:xfrm>
            <a:off x="8092440" y="1463040"/>
            <a:ext cx="3538728"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Logistics Foreman</a:t>
            </a:r>
            <a:endParaRPr lang="en-US" sz="1550" dirty="0"/>
          </a:p>
        </p:txBody>
      </p:sp>
      <p:sp>
        <p:nvSpPr>
          <p:cNvPr id="26" name="Shape 23"/>
          <p:cNvSpPr/>
          <p:nvPr/>
        </p:nvSpPr>
        <p:spPr>
          <a:xfrm>
            <a:off x="8348472" y="2523744"/>
            <a:ext cx="82296" cy="82296"/>
          </a:xfrm>
          <a:prstGeom prst="ellipse">
            <a:avLst/>
          </a:prstGeom>
          <a:solidFill>
            <a:srgbClr val="004549"/>
          </a:solidFill>
          <a:ln/>
        </p:spPr>
        <p:txBody>
          <a:bodyPr/>
          <a:lstStyle/>
          <a:p>
            <a:endParaRPr lang="en-US"/>
          </a:p>
        </p:txBody>
      </p:sp>
      <p:sp>
        <p:nvSpPr>
          <p:cNvPr id="27" name="Text 24"/>
          <p:cNvSpPr/>
          <p:nvPr/>
        </p:nvSpPr>
        <p:spPr>
          <a:xfrm>
            <a:off x="8549640" y="246888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Directs daily activities of workers, drivers and banksmen.</a:t>
            </a:r>
            <a:endParaRPr lang="en-US" sz="1200" dirty="0"/>
          </a:p>
        </p:txBody>
      </p:sp>
      <p:sp>
        <p:nvSpPr>
          <p:cNvPr id="28" name="Shape 25"/>
          <p:cNvSpPr/>
          <p:nvPr/>
        </p:nvSpPr>
        <p:spPr>
          <a:xfrm>
            <a:off x="8348472" y="3575304"/>
            <a:ext cx="82296" cy="82296"/>
          </a:xfrm>
          <a:prstGeom prst="ellipse">
            <a:avLst/>
          </a:prstGeom>
          <a:solidFill>
            <a:srgbClr val="004549"/>
          </a:solidFill>
          <a:ln/>
        </p:spPr>
        <p:txBody>
          <a:bodyPr/>
          <a:lstStyle/>
          <a:p>
            <a:endParaRPr lang="en-US"/>
          </a:p>
        </p:txBody>
      </p:sp>
      <p:sp>
        <p:nvSpPr>
          <p:cNvPr id="29" name="Text 26"/>
          <p:cNvSpPr/>
          <p:nvPr/>
        </p:nvSpPr>
        <p:spPr>
          <a:xfrm>
            <a:off x="8549640" y="352044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Runs toolbox talks and controls vehicle movement on site.</a:t>
            </a:r>
            <a:endParaRPr lang="en-US" sz="1200" dirty="0"/>
          </a:p>
        </p:txBody>
      </p:sp>
      <p:sp>
        <p:nvSpPr>
          <p:cNvPr id="30" name="Shape 27"/>
          <p:cNvSpPr/>
          <p:nvPr/>
        </p:nvSpPr>
        <p:spPr>
          <a:xfrm>
            <a:off x="8348472" y="4626864"/>
            <a:ext cx="82296" cy="82296"/>
          </a:xfrm>
          <a:prstGeom prst="ellipse">
            <a:avLst/>
          </a:prstGeom>
          <a:solidFill>
            <a:srgbClr val="004549"/>
          </a:solidFill>
          <a:ln/>
        </p:spPr>
        <p:txBody>
          <a:bodyPr/>
          <a:lstStyle/>
          <a:p>
            <a:endParaRPr lang="en-US"/>
          </a:p>
        </p:txBody>
      </p:sp>
      <p:sp>
        <p:nvSpPr>
          <p:cNvPr id="31" name="Text 28"/>
          <p:cNvSpPr/>
          <p:nvPr/>
        </p:nvSpPr>
        <p:spPr>
          <a:xfrm>
            <a:off x="8549640" y="457200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Reports damaged materials, unsafe conditions and delays immediately.</a:t>
            </a:r>
            <a:endParaRPr lang="en-US" sz="1200" dirty="0"/>
          </a:p>
        </p:txBody>
      </p:sp>
      <p:sp>
        <p:nvSpPr>
          <p:cNvPr id="33" name="Text 29"/>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02 · ROLES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Support &amp; Enabling Functions</a:t>
            </a:r>
            <a:endParaRPr lang="en-US" sz="3000" dirty="0"/>
          </a:p>
        </p:txBody>
      </p:sp>
      <p:sp>
        <p:nvSpPr>
          <p:cNvPr id="5" name="Shape 2"/>
          <p:cNvSpPr/>
          <p:nvPr/>
        </p:nvSpPr>
        <p:spPr>
          <a:xfrm>
            <a:off x="502920" y="1508760"/>
            <a:ext cx="2624328" cy="1965960"/>
          </a:xfrm>
          <a:prstGeom prst="roundRect">
            <a:avLst>
              <a:gd name="adj" fmla="val 3256"/>
            </a:avLst>
          </a:prstGeom>
          <a:solidFill>
            <a:srgbClr val="D9ECE7"/>
          </a:solidFill>
          <a:ln/>
        </p:spPr>
        <p:txBody>
          <a:bodyPr/>
          <a:lstStyle/>
          <a:p>
            <a:endParaRPr lang="en-US"/>
          </a:p>
        </p:txBody>
      </p:sp>
      <p:sp>
        <p:nvSpPr>
          <p:cNvPr id="6" name="Shape 3"/>
          <p:cNvSpPr/>
          <p:nvPr/>
        </p:nvSpPr>
        <p:spPr>
          <a:xfrm>
            <a:off x="704088" y="1709928"/>
            <a:ext cx="384048" cy="384048"/>
          </a:xfrm>
          <a:prstGeom prst="ellipse">
            <a:avLst/>
          </a:prstGeom>
          <a:solidFill>
            <a:srgbClr val="43A99A"/>
          </a:solidFill>
          <a:ln/>
        </p:spPr>
        <p:txBody>
          <a:bodyPr/>
          <a:lstStyle/>
          <a:p>
            <a:endParaRPr lang="en-US"/>
          </a:p>
        </p:txBody>
      </p:sp>
      <p:sp>
        <p:nvSpPr>
          <p:cNvPr id="7" name="Text 4"/>
          <p:cNvSpPr/>
          <p:nvPr/>
        </p:nvSpPr>
        <p:spPr>
          <a:xfrm>
            <a:off x="704088" y="1709928"/>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667512" y="2194560"/>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Planning</a:t>
            </a:r>
            <a:endParaRPr lang="en-US" sz="1250" dirty="0"/>
          </a:p>
        </p:txBody>
      </p:sp>
      <p:sp>
        <p:nvSpPr>
          <p:cNvPr id="9" name="Text 6"/>
          <p:cNvSpPr/>
          <p:nvPr/>
        </p:nvSpPr>
        <p:spPr>
          <a:xfrm>
            <a:off x="667512" y="2606040"/>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Integrates logistics into the baseline schedule and rolling look-ahead.</a:t>
            </a:r>
            <a:endParaRPr lang="en-US" sz="1000" dirty="0"/>
          </a:p>
        </p:txBody>
      </p:sp>
      <p:sp>
        <p:nvSpPr>
          <p:cNvPr id="10" name="Shape 7"/>
          <p:cNvSpPr/>
          <p:nvPr/>
        </p:nvSpPr>
        <p:spPr>
          <a:xfrm>
            <a:off x="3255264" y="1508760"/>
            <a:ext cx="2624328" cy="1965960"/>
          </a:xfrm>
          <a:prstGeom prst="roundRect">
            <a:avLst>
              <a:gd name="adj" fmla="val 3256"/>
            </a:avLst>
          </a:prstGeom>
          <a:solidFill>
            <a:srgbClr val="D9ECE7"/>
          </a:solidFill>
          <a:ln/>
        </p:spPr>
        <p:txBody>
          <a:bodyPr/>
          <a:lstStyle/>
          <a:p>
            <a:endParaRPr lang="en-US"/>
          </a:p>
        </p:txBody>
      </p:sp>
      <p:sp>
        <p:nvSpPr>
          <p:cNvPr id="11" name="Shape 8"/>
          <p:cNvSpPr/>
          <p:nvPr/>
        </p:nvSpPr>
        <p:spPr>
          <a:xfrm>
            <a:off x="3456432" y="1709928"/>
            <a:ext cx="384048" cy="384048"/>
          </a:xfrm>
          <a:prstGeom prst="ellipse">
            <a:avLst/>
          </a:prstGeom>
          <a:solidFill>
            <a:srgbClr val="43A99A"/>
          </a:solidFill>
          <a:ln/>
        </p:spPr>
        <p:txBody>
          <a:bodyPr/>
          <a:lstStyle/>
          <a:p>
            <a:endParaRPr lang="en-US"/>
          </a:p>
        </p:txBody>
      </p:sp>
      <p:sp>
        <p:nvSpPr>
          <p:cNvPr id="12" name="Text 9"/>
          <p:cNvSpPr/>
          <p:nvPr/>
        </p:nvSpPr>
        <p:spPr>
          <a:xfrm>
            <a:off x="3456432" y="1709928"/>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3419856" y="2194560"/>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Procurement &amp; Suppliers</a:t>
            </a:r>
            <a:endParaRPr lang="en-US" sz="1250" dirty="0"/>
          </a:p>
        </p:txBody>
      </p:sp>
      <p:sp>
        <p:nvSpPr>
          <p:cNvPr id="14" name="Text 11"/>
          <p:cNvSpPr/>
          <p:nvPr/>
        </p:nvSpPr>
        <p:spPr>
          <a:xfrm>
            <a:off x="3419856" y="2606040"/>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Aligns PO dates, confirms supplier readiness and transport arrangements.</a:t>
            </a:r>
            <a:endParaRPr lang="en-US" sz="1000" dirty="0"/>
          </a:p>
        </p:txBody>
      </p:sp>
      <p:sp>
        <p:nvSpPr>
          <p:cNvPr id="15" name="Shape 12"/>
          <p:cNvSpPr/>
          <p:nvPr/>
        </p:nvSpPr>
        <p:spPr>
          <a:xfrm>
            <a:off x="6007608" y="1508760"/>
            <a:ext cx="2624328" cy="1965960"/>
          </a:xfrm>
          <a:prstGeom prst="roundRect">
            <a:avLst>
              <a:gd name="adj" fmla="val 3256"/>
            </a:avLst>
          </a:prstGeom>
          <a:solidFill>
            <a:srgbClr val="D9ECE7"/>
          </a:solidFill>
          <a:ln/>
        </p:spPr>
        <p:txBody>
          <a:bodyPr/>
          <a:lstStyle/>
          <a:p>
            <a:endParaRPr lang="en-US"/>
          </a:p>
        </p:txBody>
      </p:sp>
      <p:sp>
        <p:nvSpPr>
          <p:cNvPr id="16" name="Shape 13"/>
          <p:cNvSpPr/>
          <p:nvPr/>
        </p:nvSpPr>
        <p:spPr>
          <a:xfrm>
            <a:off x="6208776" y="1709928"/>
            <a:ext cx="384048" cy="384048"/>
          </a:xfrm>
          <a:prstGeom prst="ellipse">
            <a:avLst/>
          </a:prstGeom>
          <a:solidFill>
            <a:srgbClr val="43A99A"/>
          </a:solidFill>
          <a:ln/>
        </p:spPr>
        <p:txBody>
          <a:bodyPr/>
          <a:lstStyle/>
          <a:p>
            <a:endParaRPr lang="en-US"/>
          </a:p>
        </p:txBody>
      </p:sp>
      <p:sp>
        <p:nvSpPr>
          <p:cNvPr id="17" name="Text 14"/>
          <p:cNvSpPr/>
          <p:nvPr/>
        </p:nvSpPr>
        <p:spPr>
          <a:xfrm>
            <a:off x="6208776" y="1709928"/>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5"/>
          <p:cNvSpPr/>
          <p:nvPr/>
        </p:nvSpPr>
        <p:spPr>
          <a:xfrm>
            <a:off x="6172200" y="2194560"/>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Store &amp; Warehouse</a:t>
            </a:r>
            <a:endParaRPr lang="en-US" sz="1250" dirty="0"/>
          </a:p>
        </p:txBody>
      </p:sp>
      <p:sp>
        <p:nvSpPr>
          <p:cNvPr id="19" name="Text 16"/>
          <p:cNvSpPr/>
          <p:nvPr/>
        </p:nvSpPr>
        <p:spPr>
          <a:xfrm>
            <a:off x="6172200" y="2606040"/>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Controls receiving documentation, quarantine and rejected materials.</a:t>
            </a:r>
            <a:endParaRPr lang="en-US" sz="1000" dirty="0"/>
          </a:p>
        </p:txBody>
      </p:sp>
      <p:sp>
        <p:nvSpPr>
          <p:cNvPr id="20" name="Shape 17"/>
          <p:cNvSpPr/>
          <p:nvPr/>
        </p:nvSpPr>
        <p:spPr>
          <a:xfrm>
            <a:off x="8759952" y="1508760"/>
            <a:ext cx="2624328" cy="1965960"/>
          </a:xfrm>
          <a:prstGeom prst="roundRect">
            <a:avLst>
              <a:gd name="adj" fmla="val 3256"/>
            </a:avLst>
          </a:prstGeom>
          <a:solidFill>
            <a:srgbClr val="D9ECE7"/>
          </a:solidFill>
          <a:ln/>
        </p:spPr>
        <p:txBody>
          <a:bodyPr/>
          <a:lstStyle/>
          <a:p>
            <a:endParaRPr lang="en-US"/>
          </a:p>
        </p:txBody>
      </p:sp>
      <p:sp>
        <p:nvSpPr>
          <p:cNvPr id="21" name="Shape 18"/>
          <p:cNvSpPr/>
          <p:nvPr/>
        </p:nvSpPr>
        <p:spPr>
          <a:xfrm>
            <a:off x="8961120" y="1709928"/>
            <a:ext cx="384048" cy="384048"/>
          </a:xfrm>
          <a:prstGeom prst="ellipse">
            <a:avLst/>
          </a:prstGeom>
          <a:solidFill>
            <a:srgbClr val="43A99A"/>
          </a:solidFill>
          <a:ln/>
        </p:spPr>
        <p:txBody>
          <a:bodyPr/>
          <a:lstStyle/>
          <a:p>
            <a:endParaRPr lang="en-US"/>
          </a:p>
        </p:txBody>
      </p:sp>
      <p:sp>
        <p:nvSpPr>
          <p:cNvPr id="22" name="Text 19"/>
          <p:cNvSpPr/>
          <p:nvPr/>
        </p:nvSpPr>
        <p:spPr>
          <a:xfrm>
            <a:off x="8961120" y="1709928"/>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0"/>
          <p:cNvSpPr/>
          <p:nvPr/>
        </p:nvSpPr>
        <p:spPr>
          <a:xfrm>
            <a:off x="8924544" y="2194560"/>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QA/QC</a:t>
            </a:r>
            <a:endParaRPr lang="en-US" sz="1250" dirty="0"/>
          </a:p>
        </p:txBody>
      </p:sp>
      <p:sp>
        <p:nvSpPr>
          <p:cNvPr id="24" name="Text 21"/>
          <p:cNvSpPr/>
          <p:nvPr/>
        </p:nvSpPr>
        <p:spPr>
          <a:xfrm>
            <a:off x="8924544" y="2606040"/>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Defines inspection requirements and controls nonconforming materials.</a:t>
            </a:r>
            <a:endParaRPr lang="en-US" sz="1000" dirty="0"/>
          </a:p>
        </p:txBody>
      </p:sp>
      <p:sp>
        <p:nvSpPr>
          <p:cNvPr id="25" name="Shape 22"/>
          <p:cNvSpPr/>
          <p:nvPr/>
        </p:nvSpPr>
        <p:spPr>
          <a:xfrm>
            <a:off x="502920" y="3675888"/>
            <a:ext cx="2624328" cy="1965960"/>
          </a:xfrm>
          <a:prstGeom prst="roundRect">
            <a:avLst>
              <a:gd name="adj" fmla="val 3256"/>
            </a:avLst>
          </a:prstGeom>
          <a:solidFill>
            <a:srgbClr val="D9ECE7"/>
          </a:solidFill>
          <a:ln/>
        </p:spPr>
        <p:txBody>
          <a:bodyPr/>
          <a:lstStyle/>
          <a:p>
            <a:endParaRPr lang="en-US"/>
          </a:p>
        </p:txBody>
      </p:sp>
      <p:sp>
        <p:nvSpPr>
          <p:cNvPr id="26" name="Shape 23"/>
          <p:cNvSpPr/>
          <p:nvPr/>
        </p:nvSpPr>
        <p:spPr>
          <a:xfrm>
            <a:off x="704088" y="3877056"/>
            <a:ext cx="384048" cy="384048"/>
          </a:xfrm>
          <a:prstGeom prst="ellipse">
            <a:avLst/>
          </a:prstGeom>
          <a:solidFill>
            <a:srgbClr val="43A99A"/>
          </a:solidFill>
          <a:ln/>
        </p:spPr>
        <p:txBody>
          <a:bodyPr/>
          <a:lstStyle/>
          <a:p>
            <a:endParaRPr lang="en-US"/>
          </a:p>
        </p:txBody>
      </p:sp>
      <p:sp>
        <p:nvSpPr>
          <p:cNvPr id="27" name="Text 24"/>
          <p:cNvSpPr/>
          <p:nvPr/>
        </p:nvSpPr>
        <p:spPr>
          <a:xfrm>
            <a:off x="704088" y="3877056"/>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5"/>
          <p:cNvSpPr/>
          <p:nvPr/>
        </p:nvSpPr>
        <p:spPr>
          <a:xfrm>
            <a:off x="667512" y="4361688"/>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HSE</a:t>
            </a:r>
            <a:endParaRPr lang="en-US" sz="1250" dirty="0"/>
          </a:p>
        </p:txBody>
      </p:sp>
      <p:sp>
        <p:nvSpPr>
          <p:cNvPr id="29" name="Text 26"/>
          <p:cNvSpPr/>
          <p:nvPr/>
        </p:nvSpPr>
        <p:spPr>
          <a:xfrm>
            <a:off x="667512" y="4773168"/>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Reviews risk assessments, JHAs, PTWs and verifies compliance.</a:t>
            </a:r>
            <a:endParaRPr lang="en-US" sz="1000" dirty="0"/>
          </a:p>
        </p:txBody>
      </p:sp>
      <p:sp>
        <p:nvSpPr>
          <p:cNvPr id="30" name="Shape 27"/>
          <p:cNvSpPr/>
          <p:nvPr/>
        </p:nvSpPr>
        <p:spPr>
          <a:xfrm>
            <a:off x="3255264" y="3675888"/>
            <a:ext cx="2624328" cy="1965960"/>
          </a:xfrm>
          <a:prstGeom prst="roundRect">
            <a:avLst>
              <a:gd name="adj" fmla="val 3256"/>
            </a:avLst>
          </a:prstGeom>
          <a:solidFill>
            <a:srgbClr val="D9ECE7"/>
          </a:solidFill>
          <a:ln/>
        </p:spPr>
        <p:txBody>
          <a:bodyPr/>
          <a:lstStyle/>
          <a:p>
            <a:endParaRPr lang="en-US"/>
          </a:p>
        </p:txBody>
      </p:sp>
      <p:sp>
        <p:nvSpPr>
          <p:cNvPr id="31" name="Shape 28"/>
          <p:cNvSpPr/>
          <p:nvPr/>
        </p:nvSpPr>
        <p:spPr>
          <a:xfrm>
            <a:off x="3456432" y="3877056"/>
            <a:ext cx="384048" cy="384048"/>
          </a:xfrm>
          <a:prstGeom prst="ellipse">
            <a:avLst/>
          </a:prstGeom>
          <a:solidFill>
            <a:srgbClr val="43A99A"/>
          </a:solidFill>
          <a:ln/>
        </p:spPr>
        <p:txBody>
          <a:bodyPr/>
          <a:lstStyle/>
          <a:p>
            <a:endParaRPr lang="en-US"/>
          </a:p>
        </p:txBody>
      </p:sp>
      <p:sp>
        <p:nvSpPr>
          <p:cNvPr id="32" name="Text 29"/>
          <p:cNvSpPr/>
          <p:nvPr/>
        </p:nvSpPr>
        <p:spPr>
          <a:xfrm>
            <a:off x="3456432" y="3877056"/>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0"/>
          <p:cNvSpPr/>
          <p:nvPr/>
        </p:nvSpPr>
        <p:spPr>
          <a:xfrm>
            <a:off x="3419856" y="4361688"/>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Traffic Mgmt. &amp; Engineer</a:t>
            </a:r>
            <a:endParaRPr lang="en-US" sz="1250" dirty="0"/>
          </a:p>
        </p:txBody>
      </p:sp>
      <p:sp>
        <p:nvSpPr>
          <p:cNvPr id="34" name="Text 31"/>
          <p:cNvSpPr/>
          <p:nvPr/>
        </p:nvSpPr>
        <p:spPr>
          <a:xfrm>
            <a:off x="3419856" y="4773168"/>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Stages TMP approvals, route design and traffic-switch controls.</a:t>
            </a:r>
            <a:endParaRPr lang="en-US" sz="1000" dirty="0"/>
          </a:p>
        </p:txBody>
      </p:sp>
      <p:sp>
        <p:nvSpPr>
          <p:cNvPr id="35" name="Shape 32"/>
          <p:cNvSpPr/>
          <p:nvPr/>
        </p:nvSpPr>
        <p:spPr>
          <a:xfrm>
            <a:off x="6007608" y="3675888"/>
            <a:ext cx="2624328" cy="1965960"/>
          </a:xfrm>
          <a:prstGeom prst="roundRect">
            <a:avLst>
              <a:gd name="adj" fmla="val 3256"/>
            </a:avLst>
          </a:prstGeom>
          <a:solidFill>
            <a:srgbClr val="D9ECE7"/>
          </a:solidFill>
          <a:ln/>
        </p:spPr>
        <p:txBody>
          <a:bodyPr/>
          <a:lstStyle/>
          <a:p>
            <a:endParaRPr lang="en-US"/>
          </a:p>
        </p:txBody>
      </p:sp>
      <p:sp>
        <p:nvSpPr>
          <p:cNvPr id="36" name="Shape 33"/>
          <p:cNvSpPr/>
          <p:nvPr/>
        </p:nvSpPr>
        <p:spPr>
          <a:xfrm>
            <a:off x="6208776" y="3877056"/>
            <a:ext cx="384048" cy="384048"/>
          </a:xfrm>
          <a:prstGeom prst="ellipse">
            <a:avLst/>
          </a:prstGeom>
          <a:solidFill>
            <a:srgbClr val="43A99A"/>
          </a:solidFill>
          <a:ln/>
        </p:spPr>
        <p:txBody>
          <a:bodyPr/>
          <a:lstStyle/>
          <a:p>
            <a:endParaRPr lang="en-US"/>
          </a:p>
        </p:txBody>
      </p:sp>
      <p:sp>
        <p:nvSpPr>
          <p:cNvPr id="37" name="Text 34"/>
          <p:cNvSpPr/>
          <p:nvPr/>
        </p:nvSpPr>
        <p:spPr>
          <a:xfrm>
            <a:off x="6208776" y="3877056"/>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8" name="Text 35"/>
          <p:cNvSpPr/>
          <p:nvPr/>
        </p:nvSpPr>
        <p:spPr>
          <a:xfrm>
            <a:off x="6172200" y="4361688"/>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Security</a:t>
            </a:r>
            <a:endParaRPr lang="en-US" sz="1250" dirty="0"/>
          </a:p>
        </p:txBody>
      </p:sp>
      <p:sp>
        <p:nvSpPr>
          <p:cNvPr id="39" name="Text 36"/>
          <p:cNvSpPr/>
          <p:nvPr/>
        </p:nvSpPr>
        <p:spPr>
          <a:xfrm>
            <a:off x="6172200" y="4773168"/>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Controls gate access, ID checks and vehicle authorization.</a:t>
            </a:r>
            <a:endParaRPr lang="en-US" sz="1000" dirty="0"/>
          </a:p>
        </p:txBody>
      </p:sp>
      <p:sp>
        <p:nvSpPr>
          <p:cNvPr id="40" name="Shape 37"/>
          <p:cNvSpPr/>
          <p:nvPr/>
        </p:nvSpPr>
        <p:spPr>
          <a:xfrm>
            <a:off x="8759952" y="3675888"/>
            <a:ext cx="2624328" cy="1965960"/>
          </a:xfrm>
          <a:prstGeom prst="roundRect">
            <a:avLst>
              <a:gd name="adj" fmla="val 3256"/>
            </a:avLst>
          </a:prstGeom>
          <a:solidFill>
            <a:srgbClr val="D9ECE7"/>
          </a:solidFill>
          <a:ln/>
        </p:spPr>
        <p:txBody>
          <a:bodyPr/>
          <a:lstStyle/>
          <a:p>
            <a:endParaRPr lang="en-US"/>
          </a:p>
        </p:txBody>
      </p:sp>
      <p:sp>
        <p:nvSpPr>
          <p:cNvPr id="41" name="Shape 38"/>
          <p:cNvSpPr/>
          <p:nvPr/>
        </p:nvSpPr>
        <p:spPr>
          <a:xfrm>
            <a:off x="8961120" y="3877056"/>
            <a:ext cx="384048" cy="384048"/>
          </a:xfrm>
          <a:prstGeom prst="ellipse">
            <a:avLst/>
          </a:prstGeom>
          <a:solidFill>
            <a:srgbClr val="43A99A"/>
          </a:solidFill>
          <a:ln/>
        </p:spPr>
        <p:txBody>
          <a:bodyPr/>
          <a:lstStyle/>
          <a:p>
            <a:endParaRPr lang="en-US"/>
          </a:p>
        </p:txBody>
      </p:sp>
      <p:sp>
        <p:nvSpPr>
          <p:cNvPr id="42" name="Text 39"/>
          <p:cNvSpPr/>
          <p:nvPr/>
        </p:nvSpPr>
        <p:spPr>
          <a:xfrm>
            <a:off x="8961120" y="3877056"/>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3" name="Text 40"/>
          <p:cNvSpPr/>
          <p:nvPr/>
        </p:nvSpPr>
        <p:spPr>
          <a:xfrm>
            <a:off x="8924544" y="4361688"/>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Interface &amp; Stakeholder / PDIM</a:t>
            </a:r>
            <a:endParaRPr lang="en-US" sz="1250" dirty="0"/>
          </a:p>
        </p:txBody>
      </p:sp>
      <p:sp>
        <p:nvSpPr>
          <p:cNvPr id="44" name="Text 41"/>
          <p:cNvSpPr/>
          <p:nvPr/>
        </p:nvSpPr>
        <p:spPr>
          <a:xfrm>
            <a:off x="8924544" y="4773168"/>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Coordinates authorities, utilities and cross-functional integration.</a:t>
            </a:r>
            <a:endParaRPr lang="en-US" sz="1000" dirty="0"/>
          </a:p>
        </p:txBody>
      </p:sp>
      <p:sp>
        <p:nvSpPr>
          <p:cNvPr id="46" name="Text 42"/>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83766" y="35290"/>
            <a:ext cx="12191695" cy="6858000"/>
          </a:xfrm>
          <a:prstGeom prst="rect">
            <a:avLst/>
          </a:prstGeom>
        </p:spPr>
      </p:pic>
      <p:sp>
        <p:nvSpPr>
          <p:cNvPr id="16" name="Shape 13"/>
          <p:cNvSpPr/>
          <p:nvPr/>
        </p:nvSpPr>
        <p:spPr>
          <a:xfrm>
            <a:off x="6478285" y="4600382"/>
            <a:ext cx="559408" cy="1068693"/>
          </a:xfrm>
          <a:prstGeom prst="line">
            <a:avLst/>
          </a:prstGeom>
          <a:noFill/>
          <a:ln w="19050">
            <a:solidFill>
              <a:srgbClr val="8FCFC3"/>
            </a:solidFill>
            <a:prstDash val="solid"/>
          </a:ln>
        </p:spPr>
        <p:txBody>
          <a:bodyPr/>
          <a:lstStyle/>
          <a:p>
            <a:endParaRPr lang="en-US"/>
          </a:p>
        </p:txBody>
      </p:sp>
      <p:sp>
        <p:nvSpPr>
          <p:cNvPr id="19" name="Shape 16"/>
          <p:cNvSpPr/>
          <p:nvPr/>
        </p:nvSpPr>
        <p:spPr>
          <a:xfrm flipH="1">
            <a:off x="5093651" y="4600383"/>
            <a:ext cx="559408" cy="940882"/>
          </a:xfrm>
          <a:prstGeom prst="line">
            <a:avLst/>
          </a:prstGeom>
          <a:noFill/>
          <a:ln w="19050">
            <a:solidFill>
              <a:srgbClr val="8FCFC3"/>
            </a:solidFill>
            <a:prstDash val="solid"/>
          </a:ln>
        </p:spPr>
        <p:txBody>
          <a:bodyPr/>
          <a:lstStyle/>
          <a:p>
            <a:endParaRPr lang="en-US"/>
          </a:p>
        </p:txBody>
      </p:sp>
      <p:sp>
        <p:nvSpPr>
          <p:cNvPr id="30" name="Shape 10">
            <a:extLst>
              <a:ext uri="{FF2B5EF4-FFF2-40B4-BE49-F238E27FC236}">
                <a16:creationId xmlns:a16="http://schemas.microsoft.com/office/drawing/2014/main" id="{FEF0FE44-49E5-A825-BAA1-C3AC51E743BA}"/>
              </a:ext>
            </a:extLst>
          </p:cNvPr>
          <p:cNvSpPr/>
          <p:nvPr/>
        </p:nvSpPr>
        <p:spPr>
          <a:xfrm flipV="1">
            <a:off x="6686924" y="2559199"/>
            <a:ext cx="1116108" cy="588314"/>
          </a:xfrm>
          <a:prstGeom prst="line">
            <a:avLst/>
          </a:prstGeom>
          <a:noFill/>
          <a:ln w="19050">
            <a:solidFill>
              <a:srgbClr val="8FCFC3"/>
            </a:solidFill>
            <a:prstDash val="solid"/>
          </a:ln>
        </p:spPr>
        <p:txBody>
          <a:bodyPr/>
          <a:lstStyle/>
          <a:p>
            <a:endParaRPr lang="en-US"/>
          </a:p>
        </p:txBody>
      </p:sp>
      <p:sp>
        <p:nvSpPr>
          <p:cNvPr id="32" name="Shape 19">
            <a:extLst>
              <a:ext uri="{FF2B5EF4-FFF2-40B4-BE49-F238E27FC236}">
                <a16:creationId xmlns:a16="http://schemas.microsoft.com/office/drawing/2014/main" id="{5522B3C0-6F65-2D23-048A-E572AA0AEF96}"/>
              </a:ext>
            </a:extLst>
          </p:cNvPr>
          <p:cNvSpPr/>
          <p:nvPr/>
        </p:nvSpPr>
        <p:spPr>
          <a:xfrm flipH="1" flipV="1">
            <a:off x="4328310" y="2641188"/>
            <a:ext cx="993857" cy="576215"/>
          </a:xfrm>
          <a:prstGeom prst="line">
            <a:avLst/>
          </a:prstGeom>
          <a:noFill/>
          <a:ln w="19050">
            <a:solidFill>
              <a:srgbClr val="8FCFC3"/>
            </a:solidFill>
            <a:prstDash val="solid"/>
          </a:ln>
        </p:spPr>
        <p:txBody>
          <a:bodyPr/>
          <a:lstStyle/>
          <a:p>
            <a:endParaRPr lang="en-US"/>
          </a:p>
        </p:txBody>
      </p:sp>
      <p:sp>
        <p:nvSpPr>
          <p:cNvPr id="34" name="Shape 19">
            <a:extLst>
              <a:ext uri="{FF2B5EF4-FFF2-40B4-BE49-F238E27FC236}">
                <a16:creationId xmlns:a16="http://schemas.microsoft.com/office/drawing/2014/main" id="{3C800D64-A129-D9F1-E526-66435C7C1FEC}"/>
              </a:ext>
            </a:extLst>
          </p:cNvPr>
          <p:cNvSpPr/>
          <p:nvPr/>
        </p:nvSpPr>
        <p:spPr>
          <a:xfrm flipV="1">
            <a:off x="6065672" y="1803196"/>
            <a:ext cx="15088" cy="1134029"/>
          </a:xfrm>
          <a:prstGeom prst="line">
            <a:avLst/>
          </a:prstGeom>
          <a:noFill/>
          <a:ln w="19050">
            <a:solidFill>
              <a:srgbClr val="8FCFC3"/>
            </a:solidFill>
            <a:prstDash val="solid"/>
          </a:ln>
        </p:spPr>
        <p:txBody>
          <a:bodyPr/>
          <a:lstStyle/>
          <a:p>
            <a:endParaRPr lang="en-US"/>
          </a:p>
        </p:txBody>
      </p:sp>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02 · RELATIONS WITH OTHER TEAMS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Logistics Interfaces at Site</a:t>
            </a:r>
            <a:endParaRPr lang="en-US" sz="3000" dirty="0"/>
          </a:p>
        </p:txBody>
      </p:sp>
      <p:sp>
        <p:nvSpPr>
          <p:cNvPr id="5" name="Shape 2"/>
          <p:cNvSpPr/>
          <p:nvPr/>
        </p:nvSpPr>
        <p:spPr>
          <a:xfrm>
            <a:off x="5148072" y="2862072"/>
            <a:ext cx="1865376" cy="1865376"/>
          </a:xfrm>
          <a:prstGeom prst="ellipse">
            <a:avLst/>
          </a:prstGeom>
          <a:solidFill>
            <a:srgbClr val="004549"/>
          </a:solidFill>
          <a:ln/>
        </p:spPr>
        <p:txBody>
          <a:bodyPr/>
          <a:lstStyle/>
          <a:p>
            <a:endParaRPr lang="en-US" dirty="0"/>
          </a:p>
        </p:txBody>
      </p:sp>
      <p:sp>
        <p:nvSpPr>
          <p:cNvPr id="6" name="Text 3"/>
          <p:cNvSpPr/>
          <p:nvPr/>
        </p:nvSpPr>
        <p:spPr>
          <a:xfrm>
            <a:off x="5148072" y="2862072"/>
            <a:ext cx="1865376" cy="1865376"/>
          </a:xfrm>
          <a:prstGeom prst="rect">
            <a:avLst/>
          </a:prstGeom>
          <a:noFill/>
          <a:ln/>
        </p:spPr>
        <p:txBody>
          <a:bodyPr wrap="square" rtlCol="0" anchor="ctr"/>
          <a:lstStyle/>
          <a:p>
            <a:pPr marL="0" indent="0" algn="ctr">
              <a:lnSpc>
                <a:spcPts val="1700"/>
              </a:lnSpc>
              <a:buNone/>
            </a:pPr>
            <a:r>
              <a:rPr lang="en-US" sz="1500" b="1" dirty="0">
                <a:solidFill>
                  <a:srgbClr val="FFFFFF"/>
                </a:solidFill>
                <a:latin typeface="Calibri" pitchFamily="34" charset="0"/>
                <a:ea typeface="Calibri" pitchFamily="34" charset="-122"/>
                <a:cs typeface="Calibri" pitchFamily="34" charset="-120"/>
              </a:rPr>
              <a:t>LOGISTICS</a:t>
            </a:r>
            <a:endParaRPr lang="en-US" sz="1500" dirty="0"/>
          </a:p>
          <a:p>
            <a:pPr marL="0" indent="0" algn="ctr">
              <a:lnSpc>
                <a:spcPts val="1700"/>
              </a:lnSpc>
              <a:buNone/>
            </a:pPr>
            <a:r>
              <a:rPr lang="en-US" sz="1500" b="1" dirty="0">
                <a:solidFill>
                  <a:srgbClr val="FFFFFF"/>
                </a:solidFill>
                <a:latin typeface="Calibri" pitchFamily="34" charset="0"/>
                <a:ea typeface="Calibri" pitchFamily="34" charset="-122"/>
                <a:cs typeface="Calibri" pitchFamily="34" charset="-120"/>
              </a:rPr>
              <a:t>TEAM</a:t>
            </a:r>
            <a:endParaRPr lang="en-US" sz="1500" dirty="0"/>
          </a:p>
        </p:txBody>
      </p:sp>
      <p:sp>
        <p:nvSpPr>
          <p:cNvPr id="7" name="Shape 4"/>
          <p:cNvSpPr/>
          <p:nvPr/>
        </p:nvSpPr>
        <p:spPr>
          <a:xfrm>
            <a:off x="6080760" y="2919862"/>
            <a:ext cx="0" cy="0"/>
          </a:xfrm>
          <a:prstGeom prst="line">
            <a:avLst/>
          </a:prstGeom>
          <a:noFill/>
          <a:ln w="19050">
            <a:solidFill>
              <a:srgbClr val="8FCFC3"/>
            </a:solidFill>
            <a:prstDash val="solid"/>
          </a:ln>
        </p:spPr>
        <p:txBody>
          <a:bodyPr/>
          <a:lstStyle/>
          <a:p>
            <a:endParaRPr lang="en-US"/>
          </a:p>
        </p:txBody>
      </p:sp>
      <p:sp>
        <p:nvSpPr>
          <p:cNvPr id="8" name="Shape 5"/>
          <p:cNvSpPr/>
          <p:nvPr/>
        </p:nvSpPr>
        <p:spPr>
          <a:xfrm>
            <a:off x="5422392" y="486461"/>
            <a:ext cx="1316736" cy="1316736"/>
          </a:xfrm>
          <a:prstGeom prst="ellipse">
            <a:avLst/>
          </a:prstGeom>
          <a:solidFill>
            <a:srgbClr val="D9ECE7"/>
          </a:solidFill>
          <a:ln w="15875">
            <a:solidFill>
              <a:srgbClr val="43A99A"/>
            </a:solidFill>
            <a:prstDash val="solid"/>
          </a:ln>
        </p:spPr>
        <p:txBody>
          <a:bodyPr/>
          <a:lstStyle/>
          <a:p>
            <a:endParaRPr lang="en-US"/>
          </a:p>
        </p:txBody>
      </p:sp>
      <p:sp>
        <p:nvSpPr>
          <p:cNvPr id="9" name="Text 6"/>
          <p:cNvSpPr/>
          <p:nvPr/>
        </p:nvSpPr>
        <p:spPr>
          <a:xfrm>
            <a:off x="5422392" y="486461"/>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Construction</a:t>
            </a:r>
            <a:endParaRPr lang="en-US" sz="1050" dirty="0"/>
          </a:p>
        </p:txBody>
      </p:sp>
      <p:sp>
        <p:nvSpPr>
          <p:cNvPr id="11" name="Shape 8"/>
          <p:cNvSpPr/>
          <p:nvPr/>
        </p:nvSpPr>
        <p:spPr>
          <a:xfrm>
            <a:off x="7674348" y="1484187"/>
            <a:ext cx="1316736" cy="1316736"/>
          </a:xfrm>
          <a:prstGeom prst="ellipse">
            <a:avLst/>
          </a:prstGeom>
          <a:solidFill>
            <a:srgbClr val="D9ECE7"/>
          </a:solidFill>
          <a:ln w="15875">
            <a:solidFill>
              <a:srgbClr val="43A99A"/>
            </a:solidFill>
            <a:prstDash val="solid"/>
          </a:ln>
        </p:spPr>
        <p:txBody>
          <a:bodyPr/>
          <a:lstStyle/>
          <a:p>
            <a:endParaRPr lang="en-US"/>
          </a:p>
        </p:txBody>
      </p:sp>
      <p:sp>
        <p:nvSpPr>
          <p:cNvPr id="12" name="Text 9"/>
          <p:cNvSpPr/>
          <p:nvPr/>
        </p:nvSpPr>
        <p:spPr>
          <a:xfrm>
            <a:off x="7674348" y="1484187"/>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Procurement &amp;</a:t>
            </a:r>
            <a:endParaRPr lang="en-US" sz="1050" dirty="0"/>
          </a:p>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Suppliers</a:t>
            </a:r>
            <a:endParaRPr lang="en-US" sz="1050" dirty="0"/>
          </a:p>
        </p:txBody>
      </p:sp>
      <p:sp>
        <p:nvSpPr>
          <p:cNvPr id="13" name="Shape 10"/>
          <p:cNvSpPr/>
          <p:nvPr/>
        </p:nvSpPr>
        <p:spPr>
          <a:xfrm>
            <a:off x="7007893" y="3989443"/>
            <a:ext cx="1256978" cy="263945"/>
          </a:xfrm>
          <a:prstGeom prst="line">
            <a:avLst/>
          </a:prstGeom>
          <a:noFill/>
          <a:ln w="19050">
            <a:solidFill>
              <a:srgbClr val="8FCFC3"/>
            </a:solidFill>
            <a:prstDash val="solid"/>
          </a:ln>
        </p:spPr>
        <p:txBody>
          <a:bodyPr/>
          <a:lstStyle/>
          <a:p>
            <a:endParaRPr lang="en-US"/>
          </a:p>
        </p:txBody>
      </p:sp>
      <p:sp>
        <p:nvSpPr>
          <p:cNvPr id="14" name="Shape 11"/>
          <p:cNvSpPr/>
          <p:nvPr/>
        </p:nvSpPr>
        <p:spPr>
          <a:xfrm>
            <a:off x="8230535" y="3726057"/>
            <a:ext cx="1316736" cy="1316736"/>
          </a:xfrm>
          <a:prstGeom prst="ellipse">
            <a:avLst/>
          </a:prstGeom>
          <a:solidFill>
            <a:srgbClr val="D9ECE7"/>
          </a:solidFill>
          <a:ln w="15875">
            <a:solidFill>
              <a:srgbClr val="43A99A"/>
            </a:solidFill>
            <a:prstDash val="solid"/>
          </a:ln>
        </p:spPr>
        <p:txBody>
          <a:bodyPr/>
          <a:lstStyle/>
          <a:p>
            <a:endParaRPr lang="en-US"/>
          </a:p>
        </p:txBody>
      </p:sp>
      <p:sp>
        <p:nvSpPr>
          <p:cNvPr id="15" name="Text 12"/>
          <p:cNvSpPr/>
          <p:nvPr/>
        </p:nvSpPr>
        <p:spPr>
          <a:xfrm>
            <a:off x="8230535" y="3726057"/>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Stores &amp;</a:t>
            </a:r>
            <a:endParaRPr lang="en-US" sz="1050" dirty="0"/>
          </a:p>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QA/QC</a:t>
            </a:r>
            <a:endParaRPr lang="en-US" sz="1050" dirty="0"/>
          </a:p>
        </p:txBody>
      </p:sp>
      <p:sp>
        <p:nvSpPr>
          <p:cNvPr id="17" name="Shape 14"/>
          <p:cNvSpPr/>
          <p:nvPr/>
        </p:nvSpPr>
        <p:spPr>
          <a:xfrm>
            <a:off x="6672133" y="5523898"/>
            <a:ext cx="1316736" cy="1316736"/>
          </a:xfrm>
          <a:prstGeom prst="ellipse">
            <a:avLst/>
          </a:prstGeom>
          <a:solidFill>
            <a:srgbClr val="D9ECE7"/>
          </a:solidFill>
          <a:ln w="15875">
            <a:solidFill>
              <a:srgbClr val="43A99A"/>
            </a:solidFill>
            <a:prstDash val="solid"/>
          </a:ln>
        </p:spPr>
        <p:txBody>
          <a:bodyPr/>
          <a:lstStyle/>
          <a:p>
            <a:endParaRPr lang="en-US"/>
          </a:p>
        </p:txBody>
      </p:sp>
      <p:sp>
        <p:nvSpPr>
          <p:cNvPr id="18" name="Text 15"/>
          <p:cNvSpPr/>
          <p:nvPr/>
        </p:nvSpPr>
        <p:spPr>
          <a:xfrm>
            <a:off x="6672133" y="5523898"/>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HSE &amp;</a:t>
            </a:r>
            <a:endParaRPr lang="en-US" sz="1050" dirty="0"/>
          </a:p>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Traffic Mgmt.</a:t>
            </a:r>
            <a:endParaRPr lang="en-US" sz="1050" dirty="0"/>
          </a:p>
        </p:txBody>
      </p:sp>
      <p:sp>
        <p:nvSpPr>
          <p:cNvPr id="20" name="Shape 17"/>
          <p:cNvSpPr/>
          <p:nvPr/>
        </p:nvSpPr>
        <p:spPr>
          <a:xfrm>
            <a:off x="4172651" y="5523898"/>
            <a:ext cx="1316736" cy="1316736"/>
          </a:xfrm>
          <a:prstGeom prst="ellipse">
            <a:avLst/>
          </a:prstGeom>
          <a:solidFill>
            <a:srgbClr val="D9ECE7"/>
          </a:solidFill>
          <a:ln w="15875">
            <a:solidFill>
              <a:srgbClr val="43A99A"/>
            </a:solidFill>
            <a:prstDash val="solid"/>
          </a:ln>
        </p:spPr>
        <p:txBody>
          <a:bodyPr/>
          <a:lstStyle/>
          <a:p>
            <a:endParaRPr lang="en-US"/>
          </a:p>
        </p:txBody>
      </p:sp>
      <p:sp>
        <p:nvSpPr>
          <p:cNvPr id="21" name="Text 18"/>
          <p:cNvSpPr/>
          <p:nvPr/>
        </p:nvSpPr>
        <p:spPr>
          <a:xfrm>
            <a:off x="4172651" y="5523898"/>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Security</a:t>
            </a:r>
            <a:endParaRPr lang="en-US" sz="1050" dirty="0"/>
          </a:p>
        </p:txBody>
      </p:sp>
      <p:sp>
        <p:nvSpPr>
          <p:cNvPr id="22" name="Shape 19"/>
          <p:cNvSpPr/>
          <p:nvPr/>
        </p:nvSpPr>
        <p:spPr>
          <a:xfrm flipH="1">
            <a:off x="3930985" y="3989443"/>
            <a:ext cx="1222642" cy="263945"/>
          </a:xfrm>
          <a:prstGeom prst="line">
            <a:avLst/>
          </a:prstGeom>
          <a:noFill/>
          <a:ln w="19050">
            <a:solidFill>
              <a:srgbClr val="8FCFC3"/>
            </a:solidFill>
            <a:prstDash val="solid"/>
          </a:ln>
        </p:spPr>
        <p:txBody>
          <a:bodyPr/>
          <a:lstStyle/>
          <a:p>
            <a:endParaRPr lang="en-US"/>
          </a:p>
        </p:txBody>
      </p:sp>
      <p:sp>
        <p:nvSpPr>
          <p:cNvPr id="23" name="Shape 20"/>
          <p:cNvSpPr/>
          <p:nvPr/>
        </p:nvSpPr>
        <p:spPr>
          <a:xfrm>
            <a:off x="2614249" y="3726057"/>
            <a:ext cx="1316736" cy="1316736"/>
          </a:xfrm>
          <a:prstGeom prst="ellipse">
            <a:avLst/>
          </a:prstGeom>
          <a:solidFill>
            <a:srgbClr val="D9ECE7"/>
          </a:solidFill>
          <a:ln w="15875">
            <a:solidFill>
              <a:srgbClr val="43A99A"/>
            </a:solidFill>
            <a:prstDash val="solid"/>
          </a:ln>
        </p:spPr>
        <p:txBody>
          <a:bodyPr/>
          <a:lstStyle/>
          <a:p>
            <a:endParaRPr lang="en-US"/>
          </a:p>
        </p:txBody>
      </p:sp>
      <p:sp>
        <p:nvSpPr>
          <p:cNvPr id="24" name="Text 21"/>
          <p:cNvSpPr/>
          <p:nvPr/>
        </p:nvSpPr>
        <p:spPr>
          <a:xfrm>
            <a:off x="2614249" y="3726057"/>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Interface, Stakeholders</a:t>
            </a:r>
            <a:endParaRPr lang="en-US" sz="1050" dirty="0"/>
          </a:p>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&amp; Authorities</a:t>
            </a:r>
            <a:endParaRPr lang="en-US" sz="1050" dirty="0"/>
          </a:p>
        </p:txBody>
      </p:sp>
      <p:sp>
        <p:nvSpPr>
          <p:cNvPr id="25" name="Shape 22"/>
          <p:cNvSpPr/>
          <p:nvPr/>
        </p:nvSpPr>
        <p:spPr>
          <a:xfrm>
            <a:off x="5337257" y="3249270"/>
            <a:ext cx="0" cy="0"/>
          </a:xfrm>
          <a:prstGeom prst="line">
            <a:avLst/>
          </a:prstGeom>
          <a:noFill/>
          <a:ln w="19050">
            <a:solidFill>
              <a:srgbClr val="8FCFC3"/>
            </a:solidFill>
            <a:prstDash val="solid"/>
          </a:ln>
        </p:spPr>
        <p:txBody>
          <a:bodyPr/>
          <a:lstStyle/>
          <a:p>
            <a:endParaRPr lang="en-US"/>
          </a:p>
        </p:txBody>
      </p:sp>
      <p:sp>
        <p:nvSpPr>
          <p:cNvPr id="26" name="Shape 23"/>
          <p:cNvSpPr/>
          <p:nvPr/>
        </p:nvSpPr>
        <p:spPr>
          <a:xfrm>
            <a:off x="3170436" y="1484187"/>
            <a:ext cx="1316736" cy="1316736"/>
          </a:xfrm>
          <a:prstGeom prst="ellipse">
            <a:avLst/>
          </a:prstGeom>
          <a:solidFill>
            <a:srgbClr val="D9ECE7"/>
          </a:solidFill>
          <a:ln w="15875">
            <a:solidFill>
              <a:srgbClr val="43A99A"/>
            </a:solidFill>
            <a:prstDash val="solid"/>
          </a:ln>
        </p:spPr>
        <p:txBody>
          <a:bodyPr/>
          <a:lstStyle/>
          <a:p>
            <a:endParaRPr lang="en-US"/>
          </a:p>
        </p:txBody>
      </p:sp>
      <p:sp>
        <p:nvSpPr>
          <p:cNvPr id="27" name="Text 24"/>
          <p:cNvSpPr/>
          <p:nvPr/>
        </p:nvSpPr>
        <p:spPr>
          <a:xfrm>
            <a:off x="3170436" y="1484187"/>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Planning</a:t>
            </a:r>
            <a:endParaRPr lang="en-US" sz="1050" dirty="0"/>
          </a:p>
        </p:txBody>
      </p:sp>
      <p:sp>
        <p:nvSpPr>
          <p:cNvPr id="29" name="Text 25"/>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assets/bg_mi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331720"/>
            <a:ext cx="3291840" cy="2011680"/>
          </a:xfrm>
          <a:prstGeom prst="rect">
            <a:avLst/>
          </a:prstGeom>
          <a:noFill/>
          <a:ln/>
        </p:spPr>
        <p:txBody>
          <a:bodyPr wrap="square" rtlCol="0" anchor="ctr"/>
          <a:lstStyle/>
          <a:p>
            <a:pPr marL="0" indent="0">
              <a:buNone/>
            </a:pPr>
            <a:r>
              <a:rPr lang="en-US" sz="13000" b="1" dirty="0">
                <a:solidFill>
                  <a:srgbClr val="8FCFC3"/>
                </a:solidFill>
                <a:latin typeface="Calibri" pitchFamily="34" charset="0"/>
                <a:ea typeface="Calibri" pitchFamily="34" charset="-122"/>
                <a:cs typeface="Calibri" pitchFamily="34" charset="-120"/>
              </a:rPr>
              <a:t>03</a:t>
            </a:r>
            <a:endParaRPr lang="en-US" sz="13000" dirty="0"/>
          </a:p>
        </p:txBody>
      </p:sp>
      <p:sp>
        <p:nvSpPr>
          <p:cNvPr id="4" name="Text 1"/>
          <p:cNvSpPr/>
          <p:nvPr/>
        </p:nvSpPr>
        <p:spPr>
          <a:xfrm>
            <a:off x="3977640" y="2788920"/>
            <a:ext cx="7406640" cy="1188720"/>
          </a:xfrm>
          <a:prstGeom prst="rect">
            <a:avLst/>
          </a:prstGeom>
          <a:noFill/>
          <a:ln/>
        </p:spPr>
        <p:txBody>
          <a:bodyPr wrap="square" rtlCol="0" anchor="ctr"/>
          <a:lstStyle/>
          <a:p>
            <a:pPr marL="0" indent="0">
              <a:buNone/>
            </a:pPr>
            <a:r>
              <a:rPr lang="en-US" sz="3400" b="1" dirty="0">
                <a:solidFill>
                  <a:srgbClr val="004549"/>
                </a:solidFill>
                <a:latin typeface="Calibri" pitchFamily="34" charset="0"/>
                <a:ea typeface="Calibri" pitchFamily="34" charset="-122"/>
                <a:cs typeface="Calibri" pitchFamily="34" charset="-120"/>
              </a:rPr>
              <a:t>Approval Gates &amp; Delivery Process</a:t>
            </a:r>
            <a:endParaRPr lang="en-US" sz="3400" dirty="0"/>
          </a:p>
        </p:txBody>
      </p:sp>
      <p:sp>
        <p:nvSpPr>
          <p:cNvPr id="5" name="Text 2"/>
          <p:cNvSpPr/>
          <p:nvPr/>
        </p:nvSpPr>
        <p:spPr>
          <a:xfrm>
            <a:off x="3995928" y="3611880"/>
            <a:ext cx="7132320" cy="548640"/>
          </a:xfrm>
          <a:prstGeom prst="rect">
            <a:avLst/>
          </a:prstGeom>
          <a:noFill/>
          <a:ln/>
        </p:spPr>
        <p:txBody>
          <a:bodyPr wrap="square" rtlCol="0" anchor="ctr"/>
          <a:lstStyle/>
          <a:p>
            <a:pPr marL="0" indent="0">
              <a:buNone/>
            </a:pPr>
            <a:r>
              <a:rPr lang="en-US" sz="1400" i="1" dirty="0">
                <a:solidFill>
                  <a:srgbClr val="004549"/>
                </a:solidFill>
                <a:latin typeface="Calibri" pitchFamily="34" charset="0"/>
                <a:ea typeface="Calibri" pitchFamily="34" charset="-122"/>
                <a:cs typeface="Calibri" pitchFamily="34" charset="-120"/>
              </a:rPr>
              <a:t>The control points and workflow every delivery must pass through</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03 · APPROVAL GATES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Mandatory Logistics Approval Gates</a:t>
            </a:r>
            <a:endParaRPr lang="en-US" sz="3000" dirty="0"/>
          </a:p>
        </p:txBody>
      </p:sp>
      <p:sp>
        <p:nvSpPr>
          <p:cNvPr id="5" name="Shape 2"/>
          <p:cNvSpPr/>
          <p:nvPr/>
        </p:nvSpPr>
        <p:spPr>
          <a:xfrm>
            <a:off x="502920" y="1691640"/>
            <a:ext cx="1709928" cy="1828800"/>
          </a:xfrm>
          <a:prstGeom prst="roundRect">
            <a:avLst>
              <a:gd name="adj" fmla="val 3743"/>
            </a:avLst>
          </a:prstGeom>
          <a:solidFill>
            <a:srgbClr val="D9ECE7"/>
          </a:solidFill>
          <a:ln/>
        </p:spPr>
        <p:txBody>
          <a:bodyPr/>
          <a:lstStyle/>
          <a:p>
            <a:endParaRPr lang="en-US"/>
          </a:p>
        </p:txBody>
      </p:sp>
      <p:sp>
        <p:nvSpPr>
          <p:cNvPr id="6" name="Text 3"/>
          <p:cNvSpPr/>
          <p:nvPr/>
        </p:nvSpPr>
        <p:spPr>
          <a:xfrm>
            <a:off x="502920" y="1819656"/>
            <a:ext cx="1709928" cy="320040"/>
          </a:xfrm>
          <a:prstGeom prst="rect">
            <a:avLst/>
          </a:prstGeom>
          <a:noFill/>
          <a:ln/>
        </p:spPr>
        <p:txBody>
          <a:bodyPr wrap="square" rtlCol="0" anchor="ctr"/>
          <a:lstStyle/>
          <a:p>
            <a:pPr marL="0" indent="0" algn="ctr">
              <a:buNone/>
            </a:pPr>
            <a:r>
              <a:rPr lang="en-US" sz="1300" b="1" dirty="0">
                <a:solidFill>
                  <a:srgbClr val="43A99A"/>
                </a:solidFill>
                <a:latin typeface="Calibri" pitchFamily="34" charset="0"/>
                <a:ea typeface="Calibri" pitchFamily="34" charset="-122"/>
                <a:cs typeface="Calibri" pitchFamily="34" charset="-120"/>
              </a:rPr>
              <a:t>Gate 0</a:t>
            </a:r>
            <a:endParaRPr lang="en-US" sz="1300" dirty="0"/>
          </a:p>
        </p:txBody>
      </p:sp>
      <p:sp>
        <p:nvSpPr>
          <p:cNvPr id="7" name="Text 4"/>
          <p:cNvSpPr/>
          <p:nvPr/>
        </p:nvSpPr>
        <p:spPr>
          <a:xfrm>
            <a:off x="576072" y="2194560"/>
            <a:ext cx="1563624" cy="822960"/>
          </a:xfrm>
          <a:prstGeom prst="rect">
            <a:avLst/>
          </a:prstGeom>
          <a:noFill/>
          <a:ln/>
        </p:spPr>
        <p:txBody>
          <a:bodyPr wrap="square" rtlCol="0" anchor="t"/>
          <a:lstStyle/>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Contract</a:t>
            </a:r>
            <a:endParaRPr lang="en-US" sz="1100" dirty="0"/>
          </a:p>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Activation</a:t>
            </a:r>
            <a:endParaRPr lang="en-US" sz="1100" dirty="0"/>
          </a:p>
        </p:txBody>
      </p:sp>
      <p:sp>
        <p:nvSpPr>
          <p:cNvPr id="8" name="Text 5"/>
          <p:cNvSpPr/>
          <p:nvPr/>
        </p:nvSpPr>
        <p:spPr>
          <a:xfrm>
            <a:off x="576072" y="3063240"/>
            <a:ext cx="1563624" cy="411480"/>
          </a:xfrm>
          <a:prstGeom prst="rect">
            <a:avLst/>
          </a:prstGeom>
          <a:noFill/>
          <a:ln/>
        </p:spPr>
        <p:txBody>
          <a:bodyPr wrap="square" rtlCol="0" anchor="ctr"/>
          <a:lstStyle/>
          <a:p>
            <a:pPr marL="0" indent="0" algn="ctr">
              <a:buNone/>
            </a:pPr>
            <a:r>
              <a:rPr lang="en-US" sz="850" dirty="0">
                <a:solidFill>
                  <a:srgbClr val="5A626E"/>
                </a:solidFill>
                <a:latin typeface="Calibri" pitchFamily="34" charset="0"/>
                <a:ea typeface="Calibri" pitchFamily="34" charset="-122"/>
                <a:cs typeface="Calibri" pitchFamily="34" charset="-120"/>
              </a:rPr>
              <a:t>PD / PM</a:t>
            </a:r>
            <a:endParaRPr lang="en-US" sz="850" dirty="0"/>
          </a:p>
        </p:txBody>
      </p:sp>
      <p:sp>
        <p:nvSpPr>
          <p:cNvPr id="9" name="Text 6"/>
          <p:cNvSpPr/>
          <p:nvPr/>
        </p:nvSpPr>
        <p:spPr>
          <a:xfrm>
            <a:off x="2212848" y="2377440"/>
            <a:ext cx="128016" cy="457200"/>
          </a:xfrm>
          <a:prstGeom prst="rect">
            <a:avLst/>
          </a:prstGeom>
          <a:noFill/>
          <a:ln/>
        </p:spPr>
        <p:txBody>
          <a:bodyPr wrap="square" rtlCol="0" anchor="ctr"/>
          <a:lstStyle/>
          <a:p>
            <a:pPr marL="0" indent="0" algn="ctr">
              <a:buNone/>
            </a:pPr>
            <a:r>
              <a:rPr lang="en-US" sz="1600" b="1" dirty="0">
                <a:solidFill>
                  <a:srgbClr val="43A99A"/>
                </a:solidFill>
                <a:latin typeface="Calibri" pitchFamily="34" charset="0"/>
                <a:ea typeface="Calibri" pitchFamily="34" charset="-122"/>
                <a:cs typeface="Calibri" pitchFamily="34" charset="-120"/>
              </a:rPr>
              <a:t>→</a:t>
            </a:r>
            <a:endParaRPr lang="en-US" sz="1600" dirty="0"/>
          </a:p>
        </p:txBody>
      </p:sp>
      <p:sp>
        <p:nvSpPr>
          <p:cNvPr id="10" name="Shape 7"/>
          <p:cNvSpPr/>
          <p:nvPr/>
        </p:nvSpPr>
        <p:spPr>
          <a:xfrm>
            <a:off x="2340864" y="1691640"/>
            <a:ext cx="1709928" cy="1828800"/>
          </a:xfrm>
          <a:prstGeom prst="roundRect">
            <a:avLst>
              <a:gd name="adj" fmla="val 3743"/>
            </a:avLst>
          </a:prstGeom>
          <a:solidFill>
            <a:srgbClr val="D9ECE7"/>
          </a:solidFill>
          <a:ln/>
        </p:spPr>
        <p:txBody>
          <a:bodyPr/>
          <a:lstStyle/>
          <a:p>
            <a:endParaRPr lang="en-US"/>
          </a:p>
        </p:txBody>
      </p:sp>
      <p:sp>
        <p:nvSpPr>
          <p:cNvPr id="11" name="Text 8"/>
          <p:cNvSpPr/>
          <p:nvPr/>
        </p:nvSpPr>
        <p:spPr>
          <a:xfrm>
            <a:off x="2340864" y="1819656"/>
            <a:ext cx="1709928" cy="320040"/>
          </a:xfrm>
          <a:prstGeom prst="rect">
            <a:avLst/>
          </a:prstGeom>
          <a:noFill/>
          <a:ln/>
        </p:spPr>
        <p:txBody>
          <a:bodyPr wrap="square" rtlCol="0" anchor="ctr"/>
          <a:lstStyle/>
          <a:p>
            <a:pPr marL="0" indent="0" algn="ctr">
              <a:buNone/>
            </a:pPr>
            <a:r>
              <a:rPr lang="en-US" sz="1300" b="1" dirty="0">
                <a:solidFill>
                  <a:srgbClr val="43A99A"/>
                </a:solidFill>
                <a:latin typeface="Calibri" pitchFamily="34" charset="0"/>
                <a:ea typeface="Calibri" pitchFamily="34" charset="-122"/>
                <a:cs typeface="Calibri" pitchFamily="34" charset="-120"/>
              </a:rPr>
              <a:t>Gate 1</a:t>
            </a:r>
            <a:endParaRPr lang="en-US" sz="1300" dirty="0"/>
          </a:p>
        </p:txBody>
      </p:sp>
      <p:sp>
        <p:nvSpPr>
          <p:cNvPr id="12" name="Text 9"/>
          <p:cNvSpPr/>
          <p:nvPr/>
        </p:nvSpPr>
        <p:spPr>
          <a:xfrm>
            <a:off x="2414016" y="2194560"/>
            <a:ext cx="1563624" cy="822960"/>
          </a:xfrm>
          <a:prstGeom prst="rect">
            <a:avLst/>
          </a:prstGeom>
          <a:noFill/>
          <a:ln/>
        </p:spPr>
        <p:txBody>
          <a:bodyPr wrap="square" rtlCol="0" anchor="t"/>
          <a:lstStyle/>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Coordination &amp;</a:t>
            </a:r>
            <a:endParaRPr lang="en-US" sz="1100" dirty="0"/>
          </a:p>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HSE Readiness</a:t>
            </a:r>
            <a:endParaRPr lang="en-US" sz="1100" dirty="0"/>
          </a:p>
        </p:txBody>
      </p:sp>
      <p:sp>
        <p:nvSpPr>
          <p:cNvPr id="13" name="Text 10"/>
          <p:cNvSpPr/>
          <p:nvPr/>
        </p:nvSpPr>
        <p:spPr>
          <a:xfrm>
            <a:off x="2414016" y="3063240"/>
            <a:ext cx="1563624" cy="411480"/>
          </a:xfrm>
          <a:prstGeom prst="rect">
            <a:avLst/>
          </a:prstGeom>
          <a:noFill/>
          <a:ln/>
        </p:spPr>
        <p:txBody>
          <a:bodyPr wrap="square" rtlCol="0" anchor="ctr"/>
          <a:lstStyle/>
          <a:p>
            <a:pPr marL="0" indent="0" algn="ctr">
              <a:buNone/>
            </a:pPr>
            <a:r>
              <a:rPr lang="en-US" sz="850" dirty="0">
                <a:solidFill>
                  <a:srgbClr val="5A626E"/>
                </a:solidFill>
                <a:latin typeface="Calibri" pitchFamily="34" charset="0"/>
                <a:ea typeface="Calibri" pitchFamily="34" charset="-122"/>
                <a:cs typeface="Calibri" pitchFamily="34" charset="-120"/>
              </a:rPr>
              <a:t>PM / HSE / Technical</a:t>
            </a:r>
            <a:endParaRPr lang="en-US" sz="850" dirty="0"/>
          </a:p>
        </p:txBody>
      </p:sp>
      <p:sp>
        <p:nvSpPr>
          <p:cNvPr id="14" name="Text 11"/>
          <p:cNvSpPr/>
          <p:nvPr/>
        </p:nvSpPr>
        <p:spPr>
          <a:xfrm>
            <a:off x="4050792" y="2377440"/>
            <a:ext cx="128016" cy="457200"/>
          </a:xfrm>
          <a:prstGeom prst="rect">
            <a:avLst/>
          </a:prstGeom>
          <a:noFill/>
          <a:ln/>
        </p:spPr>
        <p:txBody>
          <a:bodyPr wrap="square" rtlCol="0" anchor="ctr"/>
          <a:lstStyle/>
          <a:p>
            <a:pPr marL="0" indent="0" algn="ctr">
              <a:buNone/>
            </a:pPr>
            <a:r>
              <a:rPr lang="en-US" sz="1600" b="1" dirty="0">
                <a:solidFill>
                  <a:srgbClr val="43A99A"/>
                </a:solidFill>
                <a:latin typeface="Calibri" pitchFamily="34" charset="0"/>
                <a:ea typeface="Calibri" pitchFamily="34" charset="-122"/>
                <a:cs typeface="Calibri" pitchFamily="34" charset="-120"/>
              </a:rPr>
              <a:t>→</a:t>
            </a:r>
            <a:endParaRPr lang="en-US" sz="1600" dirty="0"/>
          </a:p>
        </p:txBody>
      </p:sp>
      <p:sp>
        <p:nvSpPr>
          <p:cNvPr id="15" name="Shape 12"/>
          <p:cNvSpPr/>
          <p:nvPr/>
        </p:nvSpPr>
        <p:spPr>
          <a:xfrm>
            <a:off x="4178808" y="1691640"/>
            <a:ext cx="1709928" cy="1828800"/>
          </a:xfrm>
          <a:prstGeom prst="roundRect">
            <a:avLst>
              <a:gd name="adj" fmla="val 3743"/>
            </a:avLst>
          </a:prstGeom>
          <a:solidFill>
            <a:srgbClr val="D9ECE7"/>
          </a:solidFill>
          <a:ln/>
        </p:spPr>
        <p:txBody>
          <a:bodyPr/>
          <a:lstStyle/>
          <a:p>
            <a:endParaRPr lang="en-US"/>
          </a:p>
        </p:txBody>
      </p:sp>
      <p:sp>
        <p:nvSpPr>
          <p:cNvPr id="16" name="Text 13"/>
          <p:cNvSpPr/>
          <p:nvPr/>
        </p:nvSpPr>
        <p:spPr>
          <a:xfrm>
            <a:off x="4178808" y="1819656"/>
            <a:ext cx="1709928" cy="320040"/>
          </a:xfrm>
          <a:prstGeom prst="rect">
            <a:avLst/>
          </a:prstGeom>
          <a:noFill/>
          <a:ln/>
        </p:spPr>
        <p:txBody>
          <a:bodyPr wrap="square" rtlCol="0" anchor="ctr"/>
          <a:lstStyle/>
          <a:p>
            <a:pPr marL="0" indent="0" algn="ctr">
              <a:buNone/>
            </a:pPr>
            <a:r>
              <a:rPr lang="en-US" sz="1300" b="1" dirty="0">
                <a:solidFill>
                  <a:srgbClr val="43A99A"/>
                </a:solidFill>
                <a:latin typeface="Calibri" pitchFamily="34" charset="0"/>
                <a:ea typeface="Calibri" pitchFamily="34" charset="-122"/>
                <a:cs typeface="Calibri" pitchFamily="34" charset="-120"/>
              </a:rPr>
              <a:t>Gate 2</a:t>
            </a:r>
            <a:endParaRPr lang="en-US" sz="1300" dirty="0"/>
          </a:p>
        </p:txBody>
      </p:sp>
      <p:sp>
        <p:nvSpPr>
          <p:cNvPr id="17" name="Text 14"/>
          <p:cNvSpPr/>
          <p:nvPr/>
        </p:nvSpPr>
        <p:spPr>
          <a:xfrm>
            <a:off x="4251960" y="2194560"/>
            <a:ext cx="1563624" cy="822960"/>
          </a:xfrm>
          <a:prstGeom prst="rect">
            <a:avLst/>
          </a:prstGeom>
          <a:noFill/>
          <a:ln/>
        </p:spPr>
        <p:txBody>
          <a:bodyPr wrap="square" rtlCol="0" anchor="t"/>
          <a:lstStyle/>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Site Establishment</a:t>
            </a:r>
            <a:endParaRPr lang="en-US" sz="1100" dirty="0"/>
          </a:p>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Readiness</a:t>
            </a:r>
            <a:endParaRPr lang="en-US" sz="1100" dirty="0"/>
          </a:p>
        </p:txBody>
      </p:sp>
      <p:sp>
        <p:nvSpPr>
          <p:cNvPr id="18" name="Text 15"/>
          <p:cNvSpPr/>
          <p:nvPr/>
        </p:nvSpPr>
        <p:spPr>
          <a:xfrm>
            <a:off x="4251960" y="3063240"/>
            <a:ext cx="1563624" cy="411480"/>
          </a:xfrm>
          <a:prstGeom prst="rect">
            <a:avLst/>
          </a:prstGeom>
          <a:noFill/>
          <a:ln/>
        </p:spPr>
        <p:txBody>
          <a:bodyPr wrap="square" rtlCol="0" anchor="ctr"/>
          <a:lstStyle/>
          <a:p>
            <a:pPr marL="0" indent="0" algn="ctr">
              <a:buNone/>
            </a:pPr>
            <a:r>
              <a:rPr lang="en-US" sz="850" dirty="0">
                <a:solidFill>
                  <a:srgbClr val="5A626E"/>
                </a:solidFill>
                <a:latin typeface="Calibri" pitchFamily="34" charset="0"/>
                <a:ea typeface="Calibri" pitchFamily="34" charset="-122"/>
                <a:cs typeface="Calibri" pitchFamily="34" charset="-120"/>
              </a:rPr>
              <a:t>PM / Constr. / HSE</a:t>
            </a:r>
            <a:endParaRPr lang="en-US" sz="850" dirty="0"/>
          </a:p>
        </p:txBody>
      </p:sp>
      <p:sp>
        <p:nvSpPr>
          <p:cNvPr id="19" name="Text 16"/>
          <p:cNvSpPr/>
          <p:nvPr/>
        </p:nvSpPr>
        <p:spPr>
          <a:xfrm>
            <a:off x="5888736" y="2377440"/>
            <a:ext cx="128016" cy="457200"/>
          </a:xfrm>
          <a:prstGeom prst="rect">
            <a:avLst/>
          </a:prstGeom>
          <a:noFill/>
          <a:ln/>
        </p:spPr>
        <p:txBody>
          <a:bodyPr wrap="square" rtlCol="0" anchor="ctr"/>
          <a:lstStyle/>
          <a:p>
            <a:pPr marL="0" indent="0" algn="ctr">
              <a:buNone/>
            </a:pPr>
            <a:r>
              <a:rPr lang="en-US" sz="1600" b="1" dirty="0">
                <a:solidFill>
                  <a:srgbClr val="43A99A"/>
                </a:solidFill>
                <a:latin typeface="Calibri" pitchFamily="34" charset="0"/>
                <a:ea typeface="Calibri" pitchFamily="34" charset="-122"/>
                <a:cs typeface="Calibri" pitchFamily="34" charset="-120"/>
              </a:rPr>
              <a:t>→</a:t>
            </a:r>
            <a:endParaRPr lang="en-US" sz="1600" dirty="0"/>
          </a:p>
        </p:txBody>
      </p:sp>
      <p:sp>
        <p:nvSpPr>
          <p:cNvPr id="20" name="Shape 17"/>
          <p:cNvSpPr/>
          <p:nvPr/>
        </p:nvSpPr>
        <p:spPr>
          <a:xfrm>
            <a:off x="6016752" y="1691640"/>
            <a:ext cx="1709928" cy="1828800"/>
          </a:xfrm>
          <a:prstGeom prst="roundRect">
            <a:avLst>
              <a:gd name="adj" fmla="val 3743"/>
            </a:avLst>
          </a:prstGeom>
          <a:solidFill>
            <a:srgbClr val="D9ECE7"/>
          </a:solidFill>
          <a:ln/>
        </p:spPr>
        <p:txBody>
          <a:bodyPr/>
          <a:lstStyle/>
          <a:p>
            <a:endParaRPr lang="en-US"/>
          </a:p>
        </p:txBody>
      </p:sp>
      <p:sp>
        <p:nvSpPr>
          <p:cNvPr id="21" name="Text 18"/>
          <p:cNvSpPr/>
          <p:nvPr/>
        </p:nvSpPr>
        <p:spPr>
          <a:xfrm>
            <a:off x="6016752" y="1819656"/>
            <a:ext cx="1709928" cy="320040"/>
          </a:xfrm>
          <a:prstGeom prst="rect">
            <a:avLst/>
          </a:prstGeom>
          <a:noFill/>
          <a:ln/>
        </p:spPr>
        <p:txBody>
          <a:bodyPr wrap="square" rtlCol="0" anchor="ctr"/>
          <a:lstStyle/>
          <a:p>
            <a:pPr marL="0" indent="0" algn="ctr">
              <a:buNone/>
            </a:pPr>
            <a:r>
              <a:rPr lang="en-US" sz="1300" b="1" dirty="0">
                <a:solidFill>
                  <a:srgbClr val="43A99A"/>
                </a:solidFill>
                <a:latin typeface="Calibri" pitchFamily="34" charset="0"/>
                <a:ea typeface="Calibri" pitchFamily="34" charset="-122"/>
                <a:cs typeface="Calibri" pitchFamily="34" charset="-120"/>
              </a:rPr>
              <a:t>Gate 3</a:t>
            </a:r>
            <a:endParaRPr lang="en-US" sz="1300" dirty="0"/>
          </a:p>
        </p:txBody>
      </p:sp>
      <p:sp>
        <p:nvSpPr>
          <p:cNvPr id="22" name="Text 19"/>
          <p:cNvSpPr/>
          <p:nvPr/>
        </p:nvSpPr>
        <p:spPr>
          <a:xfrm>
            <a:off x="6089904" y="2194560"/>
            <a:ext cx="1563624" cy="822960"/>
          </a:xfrm>
          <a:prstGeom prst="rect">
            <a:avLst/>
          </a:prstGeom>
          <a:noFill/>
          <a:ln/>
        </p:spPr>
        <p:txBody>
          <a:bodyPr wrap="square" rtlCol="0" anchor="t"/>
          <a:lstStyle/>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Workfront</a:t>
            </a:r>
            <a:endParaRPr lang="en-US" sz="1100" dirty="0"/>
          </a:p>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Release</a:t>
            </a:r>
            <a:endParaRPr lang="en-US" sz="1100" dirty="0"/>
          </a:p>
        </p:txBody>
      </p:sp>
      <p:sp>
        <p:nvSpPr>
          <p:cNvPr id="23" name="Text 20"/>
          <p:cNvSpPr/>
          <p:nvPr/>
        </p:nvSpPr>
        <p:spPr>
          <a:xfrm>
            <a:off x="6089904" y="3063240"/>
            <a:ext cx="1563624" cy="411480"/>
          </a:xfrm>
          <a:prstGeom prst="rect">
            <a:avLst/>
          </a:prstGeom>
          <a:noFill/>
          <a:ln/>
        </p:spPr>
        <p:txBody>
          <a:bodyPr wrap="square" rtlCol="0" anchor="ctr"/>
          <a:lstStyle/>
          <a:p>
            <a:pPr marL="0" indent="0" algn="ctr">
              <a:buNone/>
            </a:pPr>
            <a:r>
              <a:rPr lang="en-US" sz="850" dirty="0">
                <a:solidFill>
                  <a:srgbClr val="5A626E"/>
                </a:solidFill>
                <a:latin typeface="Calibri" pitchFamily="34" charset="0"/>
                <a:ea typeface="Calibri" pitchFamily="34" charset="-122"/>
                <a:cs typeface="Calibri" pitchFamily="34" charset="-120"/>
              </a:rPr>
              <a:t>Constr. / Log. / HSE / QA</a:t>
            </a:r>
            <a:endParaRPr lang="en-US" sz="850" dirty="0"/>
          </a:p>
        </p:txBody>
      </p:sp>
      <p:sp>
        <p:nvSpPr>
          <p:cNvPr id="24" name="Text 21"/>
          <p:cNvSpPr/>
          <p:nvPr/>
        </p:nvSpPr>
        <p:spPr>
          <a:xfrm>
            <a:off x="7726680" y="2377440"/>
            <a:ext cx="128016" cy="457200"/>
          </a:xfrm>
          <a:prstGeom prst="rect">
            <a:avLst/>
          </a:prstGeom>
          <a:noFill/>
          <a:ln/>
        </p:spPr>
        <p:txBody>
          <a:bodyPr wrap="square" rtlCol="0" anchor="ctr"/>
          <a:lstStyle/>
          <a:p>
            <a:pPr marL="0" indent="0" algn="ctr">
              <a:buNone/>
            </a:pPr>
            <a:r>
              <a:rPr lang="en-US" sz="1600" b="1" dirty="0">
                <a:solidFill>
                  <a:srgbClr val="43A99A"/>
                </a:solidFill>
                <a:latin typeface="Calibri" pitchFamily="34" charset="0"/>
                <a:ea typeface="Calibri" pitchFamily="34" charset="-122"/>
                <a:cs typeface="Calibri" pitchFamily="34" charset="-120"/>
              </a:rPr>
              <a:t>→</a:t>
            </a:r>
            <a:endParaRPr lang="en-US" sz="1600" dirty="0"/>
          </a:p>
        </p:txBody>
      </p:sp>
      <p:sp>
        <p:nvSpPr>
          <p:cNvPr id="25" name="Shape 22"/>
          <p:cNvSpPr/>
          <p:nvPr/>
        </p:nvSpPr>
        <p:spPr>
          <a:xfrm>
            <a:off x="7854696" y="1691640"/>
            <a:ext cx="1709928" cy="1828800"/>
          </a:xfrm>
          <a:prstGeom prst="roundRect">
            <a:avLst>
              <a:gd name="adj" fmla="val 3743"/>
            </a:avLst>
          </a:prstGeom>
          <a:solidFill>
            <a:srgbClr val="D9ECE7"/>
          </a:solidFill>
          <a:ln/>
        </p:spPr>
        <p:txBody>
          <a:bodyPr/>
          <a:lstStyle/>
          <a:p>
            <a:endParaRPr lang="en-US"/>
          </a:p>
        </p:txBody>
      </p:sp>
      <p:sp>
        <p:nvSpPr>
          <p:cNvPr id="26" name="Text 23"/>
          <p:cNvSpPr/>
          <p:nvPr/>
        </p:nvSpPr>
        <p:spPr>
          <a:xfrm>
            <a:off x="7854696" y="1819656"/>
            <a:ext cx="1709928" cy="320040"/>
          </a:xfrm>
          <a:prstGeom prst="rect">
            <a:avLst/>
          </a:prstGeom>
          <a:noFill/>
          <a:ln/>
        </p:spPr>
        <p:txBody>
          <a:bodyPr wrap="square" rtlCol="0" anchor="ctr"/>
          <a:lstStyle/>
          <a:p>
            <a:pPr marL="0" indent="0" algn="ctr">
              <a:buNone/>
            </a:pPr>
            <a:r>
              <a:rPr lang="en-US" sz="1300" b="1" dirty="0">
                <a:solidFill>
                  <a:srgbClr val="43A99A"/>
                </a:solidFill>
                <a:latin typeface="Calibri" pitchFamily="34" charset="0"/>
                <a:ea typeface="Calibri" pitchFamily="34" charset="-122"/>
                <a:cs typeface="Calibri" pitchFamily="34" charset="-120"/>
              </a:rPr>
              <a:t>Gate 4</a:t>
            </a:r>
            <a:endParaRPr lang="en-US" sz="1300" dirty="0"/>
          </a:p>
        </p:txBody>
      </p:sp>
      <p:sp>
        <p:nvSpPr>
          <p:cNvPr id="27" name="Text 24"/>
          <p:cNvSpPr/>
          <p:nvPr/>
        </p:nvSpPr>
        <p:spPr>
          <a:xfrm>
            <a:off x="7927848" y="2194560"/>
            <a:ext cx="1563624" cy="822960"/>
          </a:xfrm>
          <a:prstGeom prst="rect">
            <a:avLst/>
          </a:prstGeom>
          <a:noFill/>
          <a:ln/>
        </p:spPr>
        <p:txBody>
          <a:bodyPr wrap="square" rtlCol="0" anchor="t"/>
          <a:lstStyle/>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Resources</a:t>
            </a:r>
            <a:endParaRPr lang="en-US" sz="1100" dirty="0"/>
          </a:p>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Movement</a:t>
            </a:r>
            <a:endParaRPr lang="en-US" sz="1100" dirty="0"/>
          </a:p>
        </p:txBody>
      </p:sp>
      <p:sp>
        <p:nvSpPr>
          <p:cNvPr id="28" name="Text 25"/>
          <p:cNvSpPr/>
          <p:nvPr/>
        </p:nvSpPr>
        <p:spPr>
          <a:xfrm>
            <a:off x="7927848" y="3063240"/>
            <a:ext cx="1563624" cy="411480"/>
          </a:xfrm>
          <a:prstGeom prst="rect">
            <a:avLst/>
          </a:prstGeom>
          <a:noFill/>
          <a:ln/>
        </p:spPr>
        <p:txBody>
          <a:bodyPr wrap="square" rtlCol="0" anchor="ctr"/>
          <a:lstStyle/>
          <a:p>
            <a:pPr marL="0" indent="0" algn="ctr">
              <a:buNone/>
            </a:pPr>
            <a:r>
              <a:rPr lang="en-US" sz="850" dirty="0">
                <a:solidFill>
                  <a:srgbClr val="5A626E"/>
                </a:solidFill>
                <a:latin typeface="Calibri" pitchFamily="34" charset="0"/>
                <a:ea typeface="Calibri" pitchFamily="34" charset="-122"/>
                <a:cs typeface="Calibri" pitchFamily="34" charset="-120"/>
              </a:rPr>
              <a:t>Log. / HSE / Traffic</a:t>
            </a:r>
            <a:endParaRPr lang="en-US" sz="850" dirty="0"/>
          </a:p>
        </p:txBody>
      </p:sp>
      <p:sp>
        <p:nvSpPr>
          <p:cNvPr id="29" name="Text 26"/>
          <p:cNvSpPr/>
          <p:nvPr/>
        </p:nvSpPr>
        <p:spPr>
          <a:xfrm>
            <a:off x="9564624" y="2377440"/>
            <a:ext cx="128016" cy="457200"/>
          </a:xfrm>
          <a:prstGeom prst="rect">
            <a:avLst/>
          </a:prstGeom>
          <a:noFill/>
          <a:ln/>
        </p:spPr>
        <p:txBody>
          <a:bodyPr wrap="square" rtlCol="0" anchor="ctr"/>
          <a:lstStyle/>
          <a:p>
            <a:pPr marL="0" indent="0" algn="ctr">
              <a:buNone/>
            </a:pPr>
            <a:r>
              <a:rPr lang="en-US" sz="1600" b="1" dirty="0">
                <a:solidFill>
                  <a:srgbClr val="43A99A"/>
                </a:solidFill>
                <a:latin typeface="Calibri" pitchFamily="34" charset="0"/>
                <a:ea typeface="Calibri" pitchFamily="34" charset="-122"/>
                <a:cs typeface="Calibri" pitchFamily="34" charset="-120"/>
              </a:rPr>
              <a:t>→</a:t>
            </a:r>
            <a:endParaRPr lang="en-US" sz="1600" dirty="0"/>
          </a:p>
        </p:txBody>
      </p:sp>
      <p:sp>
        <p:nvSpPr>
          <p:cNvPr id="30" name="Shape 27"/>
          <p:cNvSpPr/>
          <p:nvPr/>
        </p:nvSpPr>
        <p:spPr>
          <a:xfrm>
            <a:off x="9692640" y="1691640"/>
            <a:ext cx="1709928" cy="1828800"/>
          </a:xfrm>
          <a:prstGeom prst="roundRect">
            <a:avLst>
              <a:gd name="adj" fmla="val 3743"/>
            </a:avLst>
          </a:prstGeom>
          <a:solidFill>
            <a:srgbClr val="004549"/>
          </a:solidFill>
          <a:ln/>
        </p:spPr>
        <p:txBody>
          <a:bodyPr/>
          <a:lstStyle/>
          <a:p>
            <a:endParaRPr lang="en-US"/>
          </a:p>
        </p:txBody>
      </p:sp>
      <p:sp>
        <p:nvSpPr>
          <p:cNvPr id="31" name="Text 28"/>
          <p:cNvSpPr/>
          <p:nvPr/>
        </p:nvSpPr>
        <p:spPr>
          <a:xfrm>
            <a:off x="9692640" y="1819656"/>
            <a:ext cx="1709928" cy="320040"/>
          </a:xfrm>
          <a:prstGeom prst="rect">
            <a:avLst/>
          </a:prstGeom>
          <a:noFill/>
          <a:ln/>
        </p:spPr>
        <p:txBody>
          <a:bodyPr wrap="square" rtlCol="0" anchor="ctr"/>
          <a:lstStyle/>
          <a:p>
            <a:pPr marL="0" indent="0" algn="ctr">
              <a:buNone/>
            </a:pPr>
            <a:r>
              <a:rPr lang="en-US" sz="1300" b="1" dirty="0">
                <a:solidFill>
                  <a:srgbClr val="8FCFC3"/>
                </a:solidFill>
                <a:latin typeface="Calibri" pitchFamily="34" charset="0"/>
                <a:ea typeface="Calibri" pitchFamily="34" charset="-122"/>
                <a:cs typeface="Calibri" pitchFamily="34" charset="-120"/>
              </a:rPr>
              <a:t>Gate 5</a:t>
            </a:r>
            <a:endParaRPr lang="en-US" sz="1300" dirty="0"/>
          </a:p>
        </p:txBody>
      </p:sp>
      <p:sp>
        <p:nvSpPr>
          <p:cNvPr id="32" name="Text 29"/>
          <p:cNvSpPr/>
          <p:nvPr/>
        </p:nvSpPr>
        <p:spPr>
          <a:xfrm>
            <a:off x="9765792" y="2194560"/>
            <a:ext cx="1563624" cy="822960"/>
          </a:xfrm>
          <a:prstGeom prst="rect">
            <a:avLst/>
          </a:prstGeom>
          <a:noFill/>
          <a:ln/>
        </p:spPr>
        <p:txBody>
          <a:bodyPr wrap="square" rtlCol="0" anchor="t"/>
          <a:lstStyle/>
          <a:p>
            <a:pPr marL="0" indent="0" algn="ctr">
              <a:lnSpc>
                <a:spcPts val="1200"/>
              </a:lnSpc>
              <a:buNone/>
            </a:pPr>
            <a:r>
              <a:rPr lang="en-US" sz="1100" b="1" dirty="0">
                <a:solidFill>
                  <a:srgbClr val="FFFFFF"/>
                </a:solidFill>
                <a:latin typeface="Calibri" pitchFamily="34" charset="0"/>
                <a:ea typeface="Calibri" pitchFamily="34" charset="-122"/>
                <a:cs typeface="Calibri" pitchFamily="34" charset="-120"/>
              </a:rPr>
              <a:t>Demobilization</a:t>
            </a:r>
            <a:endParaRPr lang="en-US" sz="1100" dirty="0"/>
          </a:p>
          <a:p>
            <a:pPr marL="0" indent="0" algn="ctr">
              <a:lnSpc>
                <a:spcPts val="1200"/>
              </a:lnSpc>
              <a:buNone/>
            </a:pPr>
            <a:r>
              <a:rPr lang="en-US" sz="1100" b="1" dirty="0">
                <a:solidFill>
                  <a:srgbClr val="FFFFFF"/>
                </a:solidFill>
                <a:latin typeface="Calibri" pitchFamily="34" charset="0"/>
                <a:ea typeface="Calibri" pitchFamily="34" charset="-122"/>
                <a:cs typeface="Calibri" pitchFamily="34" charset="-120"/>
              </a:rPr>
              <a:t>&amp; Closeout</a:t>
            </a:r>
            <a:endParaRPr lang="en-US" sz="1100" dirty="0"/>
          </a:p>
        </p:txBody>
      </p:sp>
      <p:sp>
        <p:nvSpPr>
          <p:cNvPr id="33" name="Text 30"/>
          <p:cNvSpPr/>
          <p:nvPr/>
        </p:nvSpPr>
        <p:spPr>
          <a:xfrm>
            <a:off x="9765792" y="3063240"/>
            <a:ext cx="1563624" cy="411480"/>
          </a:xfrm>
          <a:prstGeom prst="rect">
            <a:avLst/>
          </a:prstGeom>
          <a:noFill/>
          <a:ln/>
        </p:spPr>
        <p:txBody>
          <a:bodyPr wrap="square" rtlCol="0" anchor="ctr"/>
          <a:lstStyle/>
          <a:p>
            <a:pPr marL="0" indent="0" algn="ctr">
              <a:buNone/>
            </a:pPr>
            <a:r>
              <a:rPr lang="en-US" sz="850" dirty="0">
                <a:solidFill>
                  <a:srgbClr val="BFE3DC"/>
                </a:solidFill>
                <a:latin typeface="Calibri" pitchFamily="34" charset="0"/>
                <a:ea typeface="Calibri" pitchFamily="34" charset="-122"/>
                <a:cs typeface="Calibri" pitchFamily="34" charset="-120"/>
              </a:rPr>
              <a:t>PM &amp; functions</a:t>
            </a:r>
            <a:endParaRPr lang="en-US" sz="850" dirty="0"/>
          </a:p>
        </p:txBody>
      </p:sp>
      <p:sp>
        <p:nvSpPr>
          <p:cNvPr id="34" name="Text 31"/>
          <p:cNvSpPr/>
          <p:nvPr/>
        </p:nvSpPr>
        <p:spPr>
          <a:xfrm>
            <a:off x="502920" y="3977640"/>
            <a:ext cx="10607040" cy="548640"/>
          </a:xfrm>
          <a:prstGeom prst="rect">
            <a:avLst/>
          </a:prstGeom>
          <a:noFill/>
          <a:ln/>
        </p:spPr>
        <p:txBody>
          <a:bodyPr wrap="square" rtlCol="0" anchor="ctr"/>
          <a:lstStyle/>
          <a:p>
            <a:pPr marL="0" indent="0">
              <a:buNone/>
            </a:pPr>
            <a:r>
              <a:rPr lang="en-US" sz="1250" i="1" dirty="0">
                <a:solidFill>
                  <a:srgbClr val="5A626E"/>
                </a:solidFill>
                <a:latin typeface="Calibri" pitchFamily="34" charset="0"/>
                <a:ea typeface="Calibri" pitchFamily="34" charset="-122"/>
                <a:cs typeface="Calibri" pitchFamily="34" charset="-120"/>
              </a:rPr>
              <a:t>No gate may be bypassed through verbal instruction. Emergency deviations must be documented and approved by authorized management and HSE representatives.</a:t>
            </a:r>
            <a:endParaRPr lang="en-US" sz="1250" dirty="0"/>
          </a:p>
        </p:txBody>
      </p:sp>
      <p:sp>
        <p:nvSpPr>
          <p:cNvPr id="35" name="Text 32"/>
          <p:cNvSpPr/>
          <p:nvPr/>
        </p:nvSpPr>
        <p:spPr>
          <a:xfrm>
            <a:off x="502920" y="4709160"/>
            <a:ext cx="7315200" cy="36576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Required Project Logistics Documents (examples)</a:t>
            </a:r>
            <a:endParaRPr lang="en-US" sz="1400" dirty="0"/>
          </a:p>
        </p:txBody>
      </p:sp>
      <p:sp>
        <p:nvSpPr>
          <p:cNvPr id="36" name="Shape 33"/>
          <p:cNvSpPr/>
          <p:nvPr/>
        </p:nvSpPr>
        <p:spPr>
          <a:xfrm>
            <a:off x="502920" y="5221224"/>
            <a:ext cx="82296" cy="82296"/>
          </a:xfrm>
          <a:prstGeom prst="ellipse">
            <a:avLst/>
          </a:prstGeom>
          <a:solidFill>
            <a:srgbClr val="43A99A"/>
          </a:solidFill>
          <a:ln/>
        </p:spPr>
        <p:txBody>
          <a:bodyPr/>
          <a:lstStyle/>
          <a:p>
            <a:endParaRPr lang="en-US"/>
          </a:p>
        </p:txBody>
      </p:sp>
      <p:sp>
        <p:nvSpPr>
          <p:cNvPr id="37" name="Text 34"/>
          <p:cNvSpPr/>
          <p:nvPr/>
        </p:nvSpPr>
        <p:spPr>
          <a:xfrm>
            <a:off x="704088" y="5093208"/>
            <a:ext cx="329184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Logistics Management Plan</a:t>
            </a:r>
            <a:endParaRPr lang="en-US" sz="1100" dirty="0"/>
          </a:p>
        </p:txBody>
      </p:sp>
      <p:sp>
        <p:nvSpPr>
          <p:cNvPr id="38" name="Shape 35"/>
          <p:cNvSpPr/>
          <p:nvPr/>
        </p:nvSpPr>
        <p:spPr>
          <a:xfrm>
            <a:off x="4114800" y="5221224"/>
            <a:ext cx="82296" cy="82296"/>
          </a:xfrm>
          <a:prstGeom prst="ellipse">
            <a:avLst/>
          </a:prstGeom>
          <a:solidFill>
            <a:srgbClr val="43A99A"/>
          </a:solidFill>
          <a:ln/>
        </p:spPr>
        <p:txBody>
          <a:bodyPr/>
          <a:lstStyle/>
          <a:p>
            <a:endParaRPr lang="en-US"/>
          </a:p>
        </p:txBody>
      </p:sp>
      <p:sp>
        <p:nvSpPr>
          <p:cNvPr id="39" name="Text 36"/>
          <p:cNvSpPr/>
          <p:nvPr/>
        </p:nvSpPr>
        <p:spPr>
          <a:xfrm>
            <a:off x="4315968" y="5093208"/>
            <a:ext cx="329184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Approved site layout &amp; route plan</a:t>
            </a:r>
            <a:endParaRPr lang="en-US" sz="1100" dirty="0"/>
          </a:p>
        </p:txBody>
      </p:sp>
      <p:sp>
        <p:nvSpPr>
          <p:cNvPr id="40" name="Shape 37"/>
          <p:cNvSpPr/>
          <p:nvPr/>
        </p:nvSpPr>
        <p:spPr>
          <a:xfrm>
            <a:off x="7726680" y="5221224"/>
            <a:ext cx="82296" cy="82296"/>
          </a:xfrm>
          <a:prstGeom prst="ellipse">
            <a:avLst/>
          </a:prstGeom>
          <a:solidFill>
            <a:srgbClr val="43A99A"/>
          </a:solidFill>
          <a:ln/>
        </p:spPr>
        <p:txBody>
          <a:bodyPr/>
          <a:lstStyle/>
          <a:p>
            <a:endParaRPr lang="en-US"/>
          </a:p>
        </p:txBody>
      </p:sp>
      <p:sp>
        <p:nvSpPr>
          <p:cNvPr id="41" name="Text 38"/>
          <p:cNvSpPr/>
          <p:nvPr/>
        </p:nvSpPr>
        <p:spPr>
          <a:xfrm>
            <a:off x="7927848" y="5093208"/>
            <a:ext cx="329184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TMPs &amp; traffic-switch plans</a:t>
            </a:r>
            <a:endParaRPr lang="en-US" sz="1100" dirty="0"/>
          </a:p>
        </p:txBody>
      </p:sp>
      <p:sp>
        <p:nvSpPr>
          <p:cNvPr id="42" name="Shape 39"/>
          <p:cNvSpPr/>
          <p:nvPr/>
        </p:nvSpPr>
        <p:spPr>
          <a:xfrm>
            <a:off x="502920" y="5605272"/>
            <a:ext cx="82296" cy="82296"/>
          </a:xfrm>
          <a:prstGeom prst="ellipse">
            <a:avLst/>
          </a:prstGeom>
          <a:solidFill>
            <a:srgbClr val="43A99A"/>
          </a:solidFill>
          <a:ln/>
        </p:spPr>
        <p:txBody>
          <a:bodyPr/>
          <a:lstStyle/>
          <a:p>
            <a:endParaRPr lang="en-US"/>
          </a:p>
        </p:txBody>
      </p:sp>
      <p:sp>
        <p:nvSpPr>
          <p:cNvPr id="43" name="Text 40"/>
          <p:cNvSpPr/>
          <p:nvPr/>
        </p:nvSpPr>
        <p:spPr>
          <a:xfrm>
            <a:off x="704088" y="5477256"/>
            <a:ext cx="329184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Delivery booking procedure</a:t>
            </a:r>
            <a:endParaRPr lang="en-US" sz="1100" dirty="0"/>
          </a:p>
        </p:txBody>
      </p:sp>
      <p:sp>
        <p:nvSpPr>
          <p:cNvPr id="44" name="Shape 41"/>
          <p:cNvSpPr/>
          <p:nvPr/>
        </p:nvSpPr>
        <p:spPr>
          <a:xfrm>
            <a:off x="4114800" y="5605272"/>
            <a:ext cx="82296" cy="82296"/>
          </a:xfrm>
          <a:prstGeom prst="ellipse">
            <a:avLst/>
          </a:prstGeom>
          <a:solidFill>
            <a:srgbClr val="43A99A"/>
          </a:solidFill>
          <a:ln/>
        </p:spPr>
        <p:txBody>
          <a:bodyPr/>
          <a:lstStyle/>
          <a:p>
            <a:endParaRPr lang="en-US"/>
          </a:p>
        </p:txBody>
      </p:sp>
      <p:sp>
        <p:nvSpPr>
          <p:cNvPr id="45" name="Text 42"/>
          <p:cNvSpPr/>
          <p:nvPr/>
        </p:nvSpPr>
        <p:spPr>
          <a:xfrm>
            <a:off x="4315968" y="5477256"/>
            <a:ext cx="329184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Logistics risk &amp; interface register</a:t>
            </a:r>
            <a:endParaRPr lang="en-US" sz="1100" dirty="0"/>
          </a:p>
        </p:txBody>
      </p:sp>
      <p:sp>
        <p:nvSpPr>
          <p:cNvPr id="46" name="Shape 43"/>
          <p:cNvSpPr/>
          <p:nvPr/>
        </p:nvSpPr>
        <p:spPr>
          <a:xfrm>
            <a:off x="7726680" y="5605272"/>
            <a:ext cx="82296" cy="82296"/>
          </a:xfrm>
          <a:prstGeom prst="ellipse">
            <a:avLst/>
          </a:prstGeom>
          <a:solidFill>
            <a:srgbClr val="43A99A"/>
          </a:solidFill>
          <a:ln/>
        </p:spPr>
        <p:txBody>
          <a:bodyPr/>
          <a:lstStyle/>
          <a:p>
            <a:endParaRPr lang="en-US"/>
          </a:p>
        </p:txBody>
      </p:sp>
      <p:sp>
        <p:nvSpPr>
          <p:cNvPr id="47" name="Text 44"/>
          <p:cNvSpPr/>
          <p:nvPr/>
        </p:nvSpPr>
        <p:spPr>
          <a:xfrm>
            <a:off x="7927848" y="5477256"/>
            <a:ext cx="329184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Logistics look-ahead &amp; KPI system</a:t>
            </a:r>
            <a:endParaRPr lang="en-US" sz="1100" dirty="0"/>
          </a:p>
        </p:txBody>
      </p:sp>
      <p:sp>
        <p:nvSpPr>
          <p:cNvPr id="49" name="Text 45"/>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03 · DELIVERY PROCESS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Delivery Lifecycle</a:t>
            </a:r>
            <a:endParaRPr lang="en-US" sz="3000" dirty="0"/>
          </a:p>
        </p:txBody>
      </p:sp>
      <p:sp>
        <p:nvSpPr>
          <p:cNvPr id="5" name="Shape 2"/>
          <p:cNvSpPr/>
          <p:nvPr/>
        </p:nvSpPr>
        <p:spPr>
          <a:xfrm>
            <a:off x="502920" y="1600200"/>
            <a:ext cx="2542032" cy="2331720"/>
          </a:xfrm>
          <a:prstGeom prst="roundRect">
            <a:avLst>
              <a:gd name="adj" fmla="val 3137"/>
            </a:avLst>
          </a:prstGeom>
          <a:solidFill>
            <a:srgbClr val="FFFFFF"/>
          </a:solidFill>
          <a:ln w="12700">
            <a:solidFill>
              <a:srgbClr val="DCEAE7"/>
            </a:solidFill>
            <a:prstDash val="solid"/>
          </a:ln>
        </p:spPr>
        <p:txBody>
          <a:bodyPr/>
          <a:lstStyle/>
          <a:p>
            <a:endParaRPr lang="en-US"/>
          </a:p>
        </p:txBody>
      </p:sp>
      <p:sp>
        <p:nvSpPr>
          <p:cNvPr id="6" name="Shape 3"/>
          <p:cNvSpPr/>
          <p:nvPr/>
        </p:nvSpPr>
        <p:spPr>
          <a:xfrm>
            <a:off x="1517904" y="1344168"/>
            <a:ext cx="512064" cy="512064"/>
          </a:xfrm>
          <a:prstGeom prst="ellipse">
            <a:avLst/>
          </a:prstGeom>
          <a:solidFill>
            <a:srgbClr val="004549"/>
          </a:solidFill>
          <a:ln/>
        </p:spPr>
        <p:txBody>
          <a:bodyPr/>
          <a:lstStyle/>
          <a:p>
            <a:endParaRPr lang="en-US"/>
          </a:p>
        </p:txBody>
      </p:sp>
      <p:sp>
        <p:nvSpPr>
          <p:cNvPr id="7" name="Text 4"/>
          <p:cNvSpPr/>
          <p:nvPr/>
        </p:nvSpPr>
        <p:spPr>
          <a:xfrm>
            <a:off x="1517904" y="1344168"/>
            <a:ext cx="512064" cy="512064"/>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5"/>
          <p:cNvSpPr/>
          <p:nvPr/>
        </p:nvSpPr>
        <p:spPr>
          <a:xfrm>
            <a:off x="640080" y="2011680"/>
            <a:ext cx="2267712" cy="685800"/>
          </a:xfrm>
          <a:prstGeom prst="rect">
            <a:avLst/>
          </a:prstGeom>
          <a:noFill/>
          <a:ln/>
        </p:spPr>
        <p:txBody>
          <a:bodyPr wrap="square" rtlCol="0" anchor="ctr"/>
          <a:lstStyle/>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Demand</a:t>
            </a:r>
            <a:endParaRPr lang="en-US" sz="1400" dirty="0"/>
          </a:p>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Forecasting</a:t>
            </a:r>
            <a:endParaRPr lang="en-US" sz="1400" dirty="0"/>
          </a:p>
        </p:txBody>
      </p:sp>
      <p:sp>
        <p:nvSpPr>
          <p:cNvPr id="9" name="Text 6"/>
          <p:cNvSpPr/>
          <p:nvPr/>
        </p:nvSpPr>
        <p:spPr>
          <a:xfrm>
            <a:off x="685800" y="2788920"/>
            <a:ext cx="2176272" cy="1051560"/>
          </a:xfrm>
          <a:prstGeom prst="rect">
            <a:avLst/>
          </a:prstGeom>
          <a:noFill/>
          <a:ln/>
        </p:spPr>
        <p:txBody>
          <a:bodyPr wrap="square" rtlCol="0" anchor="ctr"/>
          <a:lstStyle/>
          <a:p>
            <a:pPr marL="0" indent="0" algn="ctr">
              <a:buNone/>
            </a:pPr>
            <a:r>
              <a:rPr lang="en-US" sz="1050" dirty="0">
                <a:solidFill>
                  <a:srgbClr val="2F3235"/>
                </a:solidFill>
                <a:latin typeface="Calibri" pitchFamily="34" charset="0"/>
                <a:ea typeface="Calibri" pitchFamily="34" charset="-122"/>
                <a:cs typeface="Calibri" pitchFamily="34" charset="-120"/>
              </a:rPr>
              <a:t>Construction &amp; Planning issue rolling material and equipment demand.</a:t>
            </a:r>
            <a:endParaRPr lang="en-US" sz="1050" dirty="0"/>
          </a:p>
        </p:txBody>
      </p:sp>
      <p:sp>
        <p:nvSpPr>
          <p:cNvPr id="10" name="Text 7"/>
          <p:cNvSpPr/>
          <p:nvPr/>
        </p:nvSpPr>
        <p:spPr>
          <a:xfrm>
            <a:off x="3044952" y="2537460"/>
            <a:ext cx="256032" cy="457200"/>
          </a:xfrm>
          <a:prstGeom prst="rect">
            <a:avLst/>
          </a:prstGeom>
          <a:noFill/>
          <a:ln/>
        </p:spPr>
        <p:txBody>
          <a:bodyPr wrap="square" rtlCol="0" anchor="ctr"/>
          <a:lstStyle/>
          <a:p>
            <a:pPr marL="0" indent="0" algn="ctr">
              <a:buNone/>
            </a:pPr>
            <a:r>
              <a:rPr lang="en-US" sz="1800" b="1" dirty="0">
                <a:solidFill>
                  <a:srgbClr val="43A99A"/>
                </a:solidFill>
                <a:latin typeface="Calibri" pitchFamily="34" charset="0"/>
                <a:ea typeface="Calibri" pitchFamily="34" charset="-122"/>
                <a:cs typeface="Calibri" pitchFamily="34" charset="-120"/>
              </a:rPr>
              <a:t>→</a:t>
            </a:r>
            <a:endParaRPr lang="en-US" sz="1800" dirty="0"/>
          </a:p>
        </p:txBody>
      </p:sp>
      <p:sp>
        <p:nvSpPr>
          <p:cNvPr id="11" name="Shape 8"/>
          <p:cNvSpPr/>
          <p:nvPr/>
        </p:nvSpPr>
        <p:spPr>
          <a:xfrm>
            <a:off x="3300984" y="1600200"/>
            <a:ext cx="2542032" cy="2331720"/>
          </a:xfrm>
          <a:prstGeom prst="roundRect">
            <a:avLst>
              <a:gd name="adj" fmla="val 3137"/>
            </a:avLst>
          </a:prstGeom>
          <a:solidFill>
            <a:srgbClr val="FFFFFF"/>
          </a:solidFill>
          <a:ln w="12700">
            <a:solidFill>
              <a:srgbClr val="DCEAE7"/>
            </a:solidFill>
            <a:prstDash val="solid"/>
          </a:ln>
        </p:spPr>
        <p:txBody>
          <a:bodyPr/>
          <a:lstStyle/>
          <a:p>
            <a:endParaRPr lang="en-US"/>
          </a:p>
        </p:txBody>
      </p:sp>
      <p:sp>
        <p:nvSpPr>
          <p:cNvPr id="12" name="Shape 9"/>
          <p:cNvSpPr/>
          <p:nvPr/>
        </p:nvSpPr>
        <p:spPr>
          <a:xfrm>
            <a:off x="4315968" y="1344168"/>
            <a:ext cx="512064" cy="512064"/>
          </a:xfrm>
          <a:prstGeom prst="ellipse">
            <a:avLst/>
          </a:prstGeom>
          <a:solidFill>
            <a:srgbClr val="004549"/>
          </a:solidFill>
          <a:ln/>
        </p:spPr>
        <p:txBody>
          <a:bodyPr/>
          <a:lstStyle/>
          <a:p>
            <a:endParaRPr lang="en-US"/>
          </a:p>
        </p:txBody>
      </p:sp>
      <p:sp>
        <p:nvSpPr>
          <p:cNvPr id="13" name="Text 10"/>
          <p:cNvSpPr/>
          <p:nvPr/>
        </p:nvSpPr>
        <p:spPr>
          <a:xfrm>
            <a:off x="4315968" y="1344168"/>
            <a:ext cx="512064" cy="512064"/>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1"/>
          <p:cNvSpPr/>
          <p:nvPr/>
        </p:nvSpPr>
        <p:spPr>
          <a:xfrm>
            <a:off x="3438144" y="2011680"/>
            <a:ext cx="2267712" cy="685800"/>
          </a:xfrm>
          <a:prstGeom prst="rect">
            <a:avLst/>
          </a:prstGeom>
          <a:noFill/>
          <a:ln/>
        </p:spPr>
        <p:txBody>
          <a:bodyPr wrap="square" rtlCol="0" anchor="ctr"/>
          <a:lstStyle/>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Delivery</a:t>
            </a:r>
            <a:endParaRPr lang="en-US" sz="1400" dirty="0"/>
          </a:p>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Request</a:t>
            </a:r>
            <a:endParaRPr lang="en-US" sz="1400" dirty="0"/>
          </a:p>
        </p:txBody>
      </p:sp>
      <p:sp>
        <p:nvSpPr>
          <p:cNvPr id="15" name="Text 12"/>
          <p:cNvSpPr/>
          <p:nvPr/>
        </p:nvSpPr>
        <p:spPr>
          <a:xfrm>
            <a:off x="3483864" y="2788920"/>
            <a:ext cx="2176272" cy="1051560"/>
          </a:xfrm>
          <a:prstGeom prst="rect">
            <a:avLst/>
          </a:prstGeom>
          <a:noFill/>
          <a:ln/>
        </p:spPr>
        <p:txBody>
          <a:bodyPr wrap="square" rtlCol="0" anchor="ctr"/>
          <a:lstStyle/>
          <a:p>
            <a:pPr marL="0" indent="0" algn="ctr">
              <a:buNone/>
            </a:pPr>
            <a:r>
              <a:rPr lang="en-US" sz="1050" dirty="0">
                <a:solidFill>
                  <a:srgbClr val="2F3235"/>
                </a:solidFill>
                <a:latin typeface="Calibri" pitchFamily="34" charset="0"/>
                <a:ea typeface="Calibri" pitchFamily="34" charset="-122"/>
                <a:cs typeface="Calibri" pitchFamily="34" charset="-120"/>
              </a:rPr>
              <a:t>PO reference, driver/vehicle details, load data and required permits.</a:t>
            </a:r>
            <a:endParaRPr lang="en-US" sz="1050" dirty="0"/>
          </a:p>
        </p:txBody>
      </p:sp>
      <p:sp>
        <p:nvSpPr>
          <p:cNvPr id="16" name="Text 13"/>
          <p:cNvSpPr/>
          <p:nvPr/>
        </p:nvSpPr>
        <p:spPr>
          <a:xfrm>
            <a:off x="5843016" y="2537460"/>
            <a:ext cx="256032" cy="457200"/>
          </a:xfrm>
          <a:prstGeom prst="rect">
            <a:avLst/>
          </a:prstGeom>
          <a:noFill/>
          <a:ln/>
        </p:spPr>
        <p:txBody>
          <a:bodyPr wrap="square" rtlCol="0" anchor="ctr"/>
          <a:lstStyle/>
          <a:p>
            <a:pPr marL="0" indent="0" algn="ctr">
              <a:buNone/>
            </a:pPr>
            <a:r>
              <a:rPr lang="en-US" sz="1800" b="1" dirty="0">
                <a:solidFill>
                  <a:srgbClr val="43A99A"/>
                </a:solidFill>
                <a:latin typeface="Calibri" pitchFamily="34" charset="0"/>
                <a:ea typeface="Calibri" pitchFamily="34" charset="-122"/>
                <a:cs typeface="Calibri" pitchFamily="34" charset="-120"/>
              </a:rPr>
              <a:t>→</a:t>
            </a:r>
            <a:endParaRPr lang="en-US" sz="1800" dirty="0"/>
          </a:p>
        </p:txBody>
      </p:sp>
      <p:sp>
        <p:nvSpPr>
          <p:cNvPr id="17" name="Shape 14"/>
          <p:cNvSpPr/>
          <p:nvPr/>
        </p:nvSpPr>
        <p:spPr>
          <a:xfrm>
            <a:off x="6099048" y="1600200"/>
            <a:ext cx="2542032" cy="2331720"/>
          </a:xfrm>
          <a:prstGeom prst="roundRect">
            <a:avLst>
              <a:gd name="adj" fmla="val 3137"/>
            </a:avLst>
          </a:prstGeom>
          <a:solidFill>
            <a:srgbClr val="FFFFFF"/>
          </a:solidFill>
          <a:ln w="12700">
            <a:solidFill>
              <a:srgbClr val="DCEAE7"/>
            </a:solidFill>
            <a:prstDash val="solid"/>
          </a:ln>
        </p:spPr>
        <p:txBody>
          <a:bodyPr/>
          <a:lstStyle/>
          <a:p>
            <a:endParaRPr lang="en-US"/>
          </a:p>
        </p:txBody>
      </p:sp>
      <p:sp>
        <p:nvSpPr>
          <p:cNvPr id="18" name="Shape 15"/>
          <p:cNvSpPr/>
          <p:nvPr/>
        </p:nvSpPr>
        <p:spPr>
          <a:xfrm>
            <a:off x="7114032" y="1344168"/>
            <a:ext cx="512064" cy="512064"/>
          </a:xfrm>
          <a:prstGeom prst="ellipse">
            <a:avLst/>
          </a:prstGeom>
          <a:solidFill>
            <a:srgbClr val="004549"/>
          </a:solidFill>
          <a:ln/>
        </p:spPr>
        <p:txBody>
          <a:bodyPr/>
          <a:lstStyle/>
          <a:p>
            <a:endParaRPr lang="en-US"/>
          </a:p>
        </p:txBody>
      </p:sp>
      <p:sp>
        <p:nvSpPr>
          <p:cNvPr id="19" name="Text 16"/>
          <p:cNvSpPr/>
          <p:nvPr/>
        </p:nvSpPr>
        <p:spPr>
          <a:xfrm>
            <a:off x="7114032" y="1344168"/>
            <a:ext cx="512064" cy="512064"/>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7"/>
          <p:cNvSpPr/>
          <p:nvPr/>
        </p:nvSpPr>
        <p:spPr>
          <a:xfrm>
            <a:off x="6236208" y="2011680"/>
            <a:ext cx="2267712" cy="685800"/>
          </a:xfrm>
          <a:prstGeom prst="rect">
            <a:avLst/>
          </a:prstGeom>
          <a:noFill/>
          <a:ln/>
        </p:spPr>
        <p:txBody>
          <a:bodyPr wrap="square" rtlCol="0" anchor="ctr"/>
          <a:lstStyle/>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Approval &amp;</a:t>
            </a:r>
            <a:endParaRPr lang="en-US" sz="1400" dirty="0"/>
          </a:p>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Scheduling</a:t>
            </a:r>
            <a:endParaRPr lang="en-US" sz="1400" dirty="0"/>
          </a:p>
        </p:txBody>
      </p:sp>
      <p:sp>
        <p:nvSpPr>
          <p:cNvPr id="21" name="Text 18"/>
          <p:cNvSpPr/>
          <p:nvPr/>
        </p:nvSpPr>
        <p:spPr>
          <a:xfrm>
            <a:off x="6281928" y="2788920"/>
            <a:ext cx="2176272" cy="1051560"/>
          </a:xfrm>
          <a:prstGeom prst="rect">
            <a:avLst/>
          </a:prstGeom>
          <a:noFill/>
          <a:ln/>
        </p:spPr>
        <p:txBody>
          <a:bodyPr wrap="square" rtlCol="0" anchor="ctr"/>
          <a:lstStyle/>
          <a:p>
            <a:pPr marL="0" indent="0" algn="ctr">
              <a:buNone/>
            </a:pPr>
            <a:r>
              <a:rPr lang="en-US" sz="1050" dirty="0">
                <a:solidFill>
                  <a:srgbClr val="2F3235"/>
                </a:solidFill>
                <a:latin typeface="Calibri" pitchFamily="34" charset="0"/>
                <a:ea typeface="Calibri" pitchFamily="34" charset="-122"/>
                <a:cs typeface="Calibri" pitchFamily="34" charset="-120"/>
              </a:rPr>
              <a:t>Logistics verifies workfront, route, storage and manpower availability.</a:t>
            </a:r>
            <a:endParaRPr lang="en-US" sz="1050" dirty="0"/>
          </a:p>
        </p:txBody>
      </p:sp>
      <p:sp>
        <p:nvSpPr>
          <p:cNvPr id="22" name="Text 19"/>
          <p:cNvSpPr/>
          <p:nvPr/>
        </p:nvSpPr>
        <p:spPr>
          <a:xfrm>
            <a:off x="8641080" y="2537460"/>
            <a:ext cx="256032" cy="457200"/>
          </a:xfrm>
          <a:prstGeom prst="rect">
            <a:avLst/>
          </a:prstGeom>
          <a:noFill/>
          <a:ln/>
        </p:spPr>
        <p:txBody>
          <a:bodyPr wrap="square" rtlCol="0" anchor="ctr"/>
          <a:lstStyle/>
          <a:p>
            <a:pPr marL="0" indent="0" algn="ctr">
              <a:buNone/>
            </a:pPr>
            <a:r>
              <a:rPr lang="en-US" sz="1800" b="1" dirty="0">
                <a:solidFill>
                  <a:srgbClr val="43A99A"/>
                </a:solidFill>
                <a:latin typeface="Calibri" pitchFamily="34" charset="0"/>
                <a:ea typeface="Calibri" pitchFamily="34" charset="-122"/>
                <a:cs typeface="Calibri" pitchFamily="34" charset="-120"/>
              </a:rPr>
              <a:t>→</a:t>
            </a:r>
            <a:endParaRPr lang="en-US" sz="1800" dirty="0"/>
          </a:p>
        </p:txBody>
      </p:sp>
      <p:sp>
        <p:nvSpPr>
          <p:cNvPr id="23" name="Shape 20"/>
          <p:cNvSpPr/>
          <p:nvPr/>
        </p:nvSpPr>
        <p:spPr>
          <a:xfrm>
            <a:off x="8897112" y="1600200"/>
            <a:ext cx="2542032" cy="2331720"/>
          </a:xfrm>
          <a:prstGeom prst="roundRect">
            <a:avLst>
              <a:gd name="adj" fmla="val 3137"/>
            </a:avLst>
          </a:prstGeom>
          <a:solidFill>
            <a:srgbClr val="FFFFFF"/>
          </a:solidFill>
          <a:ln w="12700">
            <a:solidFill>
              <a:srgbClr val="DCEAE7"/>
            </a:solidFill>
            <a:prstDash val="solid"/>
          </a:ln>
        </p:spPr>
        <p:txBody>
          <a:bodyPr/>
          <a:lstStyle/>
          <a:p>
            <a:endParaRPr lang="en-US"/>
          </a:p>
        </p:txBody>
      </p:sp>
      <p:sp>
        <p:nvSpPr>
          <p:cNvPr id="24" name="Shape 21"/>
          <p:cNvSpPr/>
          <p:nvPr/>
        </p:nvSpPr>
        <p:spPr>
          <a:xfrm>
            <a:off x="9912096" y="1344168"/>
            <a:ext cx="512064" cy="512064"/>
          </a:xfrm>
          <a:prstGeom prst="ellipse">
            <a:avLst/>
          </a:prstGeom>
          <a:solidFill>
            <a:srgbClr val="004549"/>
          </a:solidFill>
          <a:ln/>
        </p:spPr>
        <p:txBody>
          <a:bodyPr/>
          <a:lstStyle/>
          <a:p>
            <a:endParaRPr lang="en-US"/>
          </a:p>
        </p:txBody>
      </p:sp>
      <p:sp>
        <p:nvSpPr>
          <p:cNvPr id="25" name="Text 22"/>
          <p:cNvSpPr/>
          <p:nvPr/>
        </p:nvSpPr>
        <p:spPr>
          <a:xfrm>
            <a:off x="9912096" y="1344168"/>
            <a:ext cx="512064" cy="512064"/>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6" name="Text 23"/>
          <p:cNvSpPr/>
          <p:nvPr/>
        </p:nvSpPr>
        <p:spPr>
          <a:xfrm>
            <a:off x="9034272" y="2011680"/>
            <a:ext cx="2267712" cy="685800"/>
          </a:xfrm>
          <a:prstGeom prst="rect">
            <a:avLst/>
          </a:prstGeom>
          <a:noFill/>
          <a:ln/>
        </p:spPr>
        <p:txBody>
          <a:bodyPr wrap="square" rtlCol="0" anchor="ctr"/>
          <a:lstStyle/>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Arrival, Receiving</a:t>
            </a:r>
            <a:endParaRPr lang="en-US" sz="1400" dirty="0"/>
          </a:p>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&amp; Closeout</a:t>
            </a:r>
            <a:endParaRPr lang="en-US" sz="1400" dirty="0"/>
          </a:p>
        </p:txBody>
      </p:sp>
      <p:sp>
        <p:nvSpPr>
          <p:cNvPr id="27" name="Text 24"/>
          <p:cNvSpPr/>
          <p:nvPr/>
        </p:nvSpPr>
        <p:spPr>
          <a:xfrm>
            <a:off x="9079992" y="2788920"/>
            <a:ext cx="2176272" cy="1051560"/>
          </a:xfrm>
          <a:prstGeom prst="rect">
            <a:avLst/>
          </a:prstGeom>
          <a:noFill/>
          <a:ln/>
        </p:spPr>
        <p:txBody>
          <a:bodyPr wrap="square" rtlCol="0" anchor="ctr"/>
          <a:lstStyle/>
          <a:p>
            <a:pPr marL="0" indent="0" algn="ctr">
              <a:buNone/>
            </a:pPr>
            <a:r>
              <a:rPr lang="en-US" sz="1050" dirty="0">
                <a:solidFill>
                  <a:srgbClr val="2F3235"/>
                </a:solidFill>
                <a:latin typeface="Calibri" pitchFamily="34" charset="0"/>
                <a:ea typeface="Calibri" pitchFamily="34" charset="-122"/>
                <a:cs typeface="Calibri" pitchFamily="34" charset="-120"/>
              </a:rPr>
              <a:t>Security, HSE, QA/QC and Stores clear, receive and record the delivery.</a:t>
            </a:r>
            <a:endParaRPr lang="en-US" sz="1050" dirty="0"/>
          </a:p>
        </p:txBody>
      </p:sp>
      <p:sp>
        <p:nvSpPr>
          <p:cNvPr id="28" name="Text 25"/>
          <p:cNvSpPr/>
          <p:nvPr/>
        </p:nvSpPr>
        <p:spPr>
          <a:xfrm>
            <a:off x="502920" y="4251960"/>
            <a:ext cx="7315200" cy="36576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Minimum Notice Periods (proposed corporate default)</a:t>
            </a:r>
            <a:endParaRPr lang="en-US" sz="1400" dirty="0"/>
          </a:p>
        </p:txBody>
      </p:sp>
      <p:sp>
        <p:nvSpPr>
          <p:cNvPr id="29" name="Shape 26"/>
          <p:cNvSpPr/>
          <p:nvPr/>
        </p:nvSpPr>
        <p:spPr>
          <a:xfrm>
            <a:off x="502920" y="4709160"/>
            <a:ext cx="2542032" cy="1188720"/>
          </a:xfrm>
          <a:prstGeom prst="roundRect">
            <a:avLst>
              <a:gd name="adj" fmla="val 4615"/>
            </a:avLst>
          </a:prstGeom>
          <a:solidFill>
            <a:srgbClr val="D9ECE7"/>
          </a:solidFill>
          <a:ln/>
        </p:spPr>
        <p:txBody>
          <a:bodyPr/>
          <a:lstStyle/>
          <a:p>
            <a:endParaRPr lang="en-US"/>
          </a:p>
        </p:txBody>
      </p:sp>
      <p:sp>
        <p:nvSpPr>
          <p:cNvPr id="30" name="Text 27"/>
          <p:cNvSpPr/>
          <p:nvPr/>
        </p:nvSpPr>
        <p:spPr>
          <a:xfrm>
            <a:off x="640080" y="4800600"/>
            <a:ext cx="2286000" cy="548640"/>
          </a:xfrm>
          <a:prstGeom prst="rect">
            <a:avLst/>
          </a:prstGeom>
          <a:noFill/>
          <a:ln/>
        </p:spPr>
        <p:txBody>
          <a:bodyPr wrap="square" rtlCol="0" anchor="ctr"/>
          <a:lstStyle/>
          <a:p>
            <a:pPr marL="0" indent="0">
              <a:buNone/>
            </a:pPr>
            <a:r>
              <a:rPr lang="en-US" sz="1050" b="1" dirty="0">
                <a:solidFill>
                  <a:srgbClr val="004549"/>
                </a:solidFill>
                <a:latin typeface="Calibri" pitchFamily="34" charset="0"/>
                <a:ea typeface="Calibri" pitchFamily="34" charset="-122"/>
                <a:cs typeface="Calibri" pitchFamily="34" charset="-120"/>
              </a:rPr>
              <a:t>Routine delivery</a:t>
            </a:r>
            <a:endParaRPr lang="en-US" sz="1050" dirty="0"/>
          </a:p>
        </p:txBody>
      </p:sp>
      <p:sp>
        <p:nvSpPr>
          <p:cNvPr id="31" name="Text 28"/>
          <p:cNvSpPr/>
          <p:nvPr/>
        </p:nvSpPr>
        <p:spPr>
          <a:xfrm>
            <a:off x="640080" y="5349240"/>
            <a:ext cx="2286000" cy="457200"/>
          </a:xfrm>
          <a:prstGeom prst="rect">
            <a:avLst/>
          </a:prstGeom>
          <a:noFill/>
          <a:ln/>
        </p:spPr>
        <p:txBody>
          <a:bodyPr wrap="square" rtlCol="0" anchor="ctr"/>
          <a:lstStyle/>
          <a:p>
            <a:pPr marL="0" indent="0">
              <a:buNone/>
            </a:pPr>
            <a:r>
              <a:rPr lang="en-US" sz="1150" b="1" dirty="0">
                <a:solidFill>
                  <a:srgbClr val="43A99A"/>
                </a:solidFill>
                <a:latin typeface="Calibri" pitchFamily="34" charset="0"/>
                <a:ea typeface="Calibri" pitchFamily="34" charset="-122"/>
                <a:cs typeface="Calibri" pitchFamily="34" charset="-120"/>
              </a:rPr>
              <a:t>≥ 72 hours</a:t>
            </a:r>
            <a:endParaRPr lang="en-US" sz="1150" dirty="0"/>
          </a:p>
        </p:txBody>
      </p:sp>
      <p:sp>
        <p:nvSpPr>
          <p:cNvPr id="32" name="Shape 29"/>
          <p:cNvSpPr/>
          <p:nvPr/>
        </p:nvSpPr>
        <p:spPr>
          <a:xfrm>
            <a:off x="3200400" y="4709160"/>
            <a:ext cx="2542032" cy="1188720"/>
          </a:xfrm>
          <a:prstGeom prst="roundRect">
            <a:avLst>
              <a:gd name="adj" fmla="val 4615"/>
            </a:avLst>
          </a:prstGeom>
          <a:solidFill>
            <a:srgbClr val="D9ECE7"/>
          </a:solidFill>
          <a:ln/>
        </p:spPr>
        <p:txBody>
          <a:bodyPr/>
          <a:lstStyle/>
          <a:p>
            <a:endParaRPr lang="en-US"/>
          </a:p>
        </p:txBody>
      </p:sp>
      <p:sp>
        <p:nvSpPr>
          <p:cNvPr id="33" name="Text 30"/>
          <p:cNvSpPr/>
          <p:nvPr/>
        </p:nvSpPr>
        <p:spPr>
          <a:xfrm>
            <a:off x="3337560" y="4800600"/>
            <a:ext cx="2286000" cy="548640"/>
          </a:xfrm>
          <a:prstGeom prst="rect">
            <a:avLst/>
          </a:prstGeom>
          <a:noFill/>
          <a:ln/>
        </p:spPr>
        <p:txBody>
          <a:bodyPr wrap="square" rtlCol="0" anchor="ctr"/>
          <a:lstStyle/>
          <a:p>
            <a:pPr marL="0" indent="0">
              <a:buNone/>
            </a:pPr>
            <a:r>
              <a:rPr lang="en-US" sz="1050" b="1" dirty="0">
                <a:solidFill>
                  <a:srgbClr val="004549"/>
                </a:solidFill>
                <a:latin typeface="Calibri" pitchFamily="34" charset="0"/>
                <a:ea typeface="Calibri" pitchFamily="34" charset="-122"/>
                <a:cs typeface="Calibri" pitchFamily="34" charset="-120"/>
              </a:rPr>
              <a:t>Critical concrete / asphalt</a:t>
            </a:r>
            <a:endParaRPr lang="en-US" sz="1050" dirty="0"/>
          </a:p>
        </p:txBody>
      </p:sp>
      <p:sp>
        <p:nvSpPr>
          <p:cNvPr id="34" name="Text 31"/>
          <p:cNvSpPr/>
          <p:nvPr/>
        </p:nvSpPr>
        <p:spPr>
          <a:xfrm>
            <a:off x="3337560" y="5349240"/>
            <a:ext cx="2286000" cy="457200"/>
          </a:xfrm>
          <a:prstGeom prst="rect">
            <a:avLst/>
          </a:prstGeom>
          <a:noFill/>
          <a:ln/>
        </p:spPr>
        <p:txBody>
          <a:bodyPr wrap="square" rtlCol="0" anchor="ctr"/>
          <a:lstStyle/>
          <a:p>
            <a:pPr marL="0" indent="0">
              <a:buNone/>
            </a:pPr>
            <a:r>
              <a:rPr lang="en-US" sz="1150" b="1" dirty="0">
                <a:solidFill>
                  <a:srgbClr val="43A99A"/>
                </a:solidFill>
                <a:latin typeface="Calibri" pitchFamily="34" charset="0"/>
                <a:ea typeface="Calibri" pitchFamily="34" charset="-122"/>
                <a:cs typeface="Calibri" pitchFamily="34" charset="-120"/>
              </a:rPr>
              <a:t>Coordinated via daily plan</a:t>
            </a:r>
            <a:endParaRPr lang="en-US" sz="1150" dirty="0"/>
          </a:p>
        </p:txBody>
      </p:sp>
      <p:sp>
        <p:nvSpPr>
          <p:cNvPr id="35" name="Shape 32"/>
          <p:cNvSpPr/>
          <p:nvPr/>
        </p:nvSpPr>
        <p:spPr>
          <a:xfrm>
            <a:off x="5897880" y="4709160"/>
            <a:ext cx="2542032" cy="1188720"/>
          </a:xfrm>
          <a:prstGeom prst="roundRect">
            <a:avLst>
              <a:gd name="adj" fmla="val 4615"/>
            </a:avLst>
          </a:prstGeom>
          <a:solidFill>
            <a:srgbClr val="D9ECE7"/>
          </a:solidFill>
          <a:ln/>
        </p:spPr>
        <p:txBody>
          <a:bodyPr/>
          <a:lstStyle/>
          <a:p>
            <a:endParaRPr lang="en-US"/>
          </a:p>
        </p:txBody>
      </p:sp>
      <p:sp>
        <p:nvSpPr>
          <p:cNvPr id="36" name="Text 33"/>
          <p:cNvSpPr/>
          <p:nvPr/>
        </p:nvSpPr>
        <p:spPr>
          <a:xfrm>
            <a:off x="6035040" y="4800600"/>
            <a:ext cx="2286000" cy="548640"/>
          </a:xfrm>
          <a:prstGeom prst="rect">
            <a:avLst/>
          </a:prstGeom>
          <a:noFill/>
          <a:ln/>
        </p:spPr>
        <p:txBody>
          <a:bodyPr wrap="square" rtlCol="0" anchor="ctr"/>
          <a:lstStyle/>
          <a:p>
            <a:pPr marL="0" indent="0">
              <a:buNone/>
            </a:pPr>
            <a:r>
              <a:rPr lang="en-US" sz="1050" b="1" dirty="0">
                <a:solidFill>
                  <a:srgbClr val="004549"/>
                </a:solidFill>
                <a:latin typeface="Calibri" pitchFamily="34" charset="0"/>
                <a:ea typeface="Calibri" pitchFamily="34" charset="-122"/>
                <a:cs typeface="Calibri" pitchFamily="34" charset="-120"/>
              </a:rPr>
              <a:t>Oversized / abnormal load</a:t>
            </a:r>
            <a:endParaRPr lang="en-US" sz="1050" dirty="0"/>
          </a:p>
        </p:txBody>
      </p:sp>
      <p:sp>
        <p:nvSpPr>
          <p:cNvPr id="37" name="Text 34"/>
          <p:cNvSpPr/>
          <p:nvPr/>
        </p:nvSpPr>
        <p:spPr>
          <a:xfrm>
            <a:off x="6035040" y="5349240"/>
            <a:ext cx="2286000" cy="457200"/>
          </a:xfrm>
          <a:prstGeom prst="rect">
            <a:avLst/>
          </a:prstGeom>
          <a:noFill/>
          <a:ln/>
        </p:spPr>
        <p:txBody>
          <a:bodyPr wrap="square" rtlCol="0" anchor="ctr"/>
          <a:lstStyle/>
          <a:p>
            <a:pPr marL="0" indent="0">
              <a:buNone/>
            </a:pPr>
            <a:r>
              <a:rPr lang="en-US" sz="1150" b="1" dirty="0">
                <a:solidFill>
                  <a:srgbClr val="43A99A"/>
                </a:solidFill>
                <a:latin typeface="Calibri" pitchFamily="34" charset="0"/>
                <a:ea typeface="Calibri" pitchFamily="34" charset="-122"/>
                <a:cs typeface="Calibri" pitchFamily="34" charset="-120"/>
              </a:rPr>
              <a:t>≥ 14 calendar days</a:t>
            </a:r>
            <a:endParaRPr lang="en-US" sz="1150" dirty="0"/>
          </a:p>
        </p:txBody>
      </p:sp>
      <p:sp>
        <p:nvSpPr>
          <p:cNvPr id="38" name="Shape 35"/>
          <p:cNvSpPr/>
          <p:nvPr/>
        </p:nvSpPr>
        <p:spPr>
          <a:xfrm>
            <a:off x="8595360" y="4709160"/>
            <a:ext cx="2542032" cy="1188720"/>
          </a:xfrm>
          <a:prstGeom prst="roundRect">
            <a:avLst>
              <a:gd name="adj" fmla="val 4615"/>
            </a:avLst>
          </a:prstGeom>
          <a:solidFill>
            <a:srgbClr val="D9ECE7"/>
          </a:solidFill>
          <a:ln/>
        </p:spPr>
        <p:txBody>
          <a:bodyPr/>
          <a:lstStyle/>
          <a:p>
            <a:endParaRPr lang="en-US"/>
          </a:p>
        </p:txBody>
      </p:sp>
      <p:sp>
        <p:nvSpPr>
          <p:cNvPr id="39" name="Text 36"/>
          <p:cNvSpPr/>
          <p:nvPr/>
        </p:nvSpPr>
        <p:spPr>
          <a:xfrm>
            <a:off x="8732520" y="4800600"/>
            <a:ext cx="2286000" cy="548640"/>
          </a:xfrm>
          <a:prstGeom prst="rect">
            <a:avLst/>
          </a:prstGeom>
          <a:noFill/>
          <a:ln/>
        </p:spPr>
        <p:txBody>
          <a:bodyPr wrap="square" rtlCol="0" anchor="ctr"/>
          <a:lstStyle/>
          <a:p>
            <a:pPr marL="0" indent="0">
              <a:buNone/>
            </a:pPr>
            <a:r>
              <a:rPr lang="en-US" sz="1050" b="1" dirty="0">
                <a:solidFill>
                  <a:srgbClr val="004549"/>
                </a:solidFill>
                <a:latin typeface="Calibri" pitchFamily="34" charset="0"/>
                <a:ea typeface="Calibri" pitchFamily="34" charset="-122"/>
                <a:cs typeface="Calibri" pitchFamily="34" charset="-120"/>
              </a:rPr>
              <a:t>Major crane / girder movement</a:t>
            </a:r>
            <a:endParaRPr lang="en-US" sz="1050" dirty="0"/>
          </a:p>
        </p:txBody>
      </p:sp>
      <p:sp>
        <p:nvSpPr>
          <p:cNvPr id="40" name="Text 37"/>
          <p:cNvSpPr/>
          <p:nvPr/>
        </p:nvSpPr>
        <p:spPr>
          <a:xfrm>
            <a:off x="8732520" y="5349240"/>
            <a:ext cx="2286000" cy="457200"/>
          </a:xfrm>
          <a:prstGeom prst="rect">
            <a:avLst/>
          </a:prstGeom>
          <a:noFill/>
          <a:ln/>
        </p:spPr>
        <p:txBody>
          <a:bodyPr wrap="square" rtlCol="0" anchor="ctr"/>
          <a:lstStyle/>
          <a:p>
            <a:pPr marL="0" indent="0">
              <a:buNone/>
            </a:pPr>
            <a:r>
              <a:rPr lang="en-US" sz="1150" b="1" dirty="0">
                <a:solidFill>
                  <a:srgbClr val="43A99A"/>
                </a:solidFill>
                <a:latin typeface="Calibri" pitchFamily="34" charset="0"/>
                <a:ea typeface="Calibri" pitchFamily="34" charset="-122"/>
                <a:cs typeface="Calibri" pitchFamily="34" charset="-120"/>
              </a:rPr>
              <a:t>≥ 14 days + lifting package</a:t>
            </a:r>
            <a:endParaRPr lang="en-US" sz="1150" dirty="0"/>
          </a:p>
        </p:txBody>
      </p:sp>
      <p:sp>
        <p:nvSpPr>
          <p:cNvPr id="42" name="Text 38"/>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assets/bg_mi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331720"/>
            <a:ext cx="3291840" cy="2011680"/>
          </a:xfrm>
          <a:prstGeom prst="rect">
            <a:avLst/>
          </a:prstGeom>
          <a:noFill/>
          <a:ln/>
        </p:spPr>
        <p:txBody>
          <a:bodyPr wrap="square" rtlCol="0" anchor="ctr"/>
          <a:lstStyle/>
          <a:p>
            <a:pPr marL="0" indent="0">
              <a:buNone/>
            </a:pPr>
            <a:r>
              <a:rPr lang="en-US" sz="13000" b="1" dirty="0">
                <a:solidFill>
                  <a:srgbClr val="8FCFC3"/>
                </a:solidFill>
                <a:latin typeface="Calibri" pitchFamily="34" charset="0"/>
                <a:ea typeface="Calibri" pitchFamily="34" charset="-122"/>
                <a:cs typeface="Calibri" pitchFamily="34" charset="-120"/>
              </a:rPr>
              <a:t>04</a:t>
            </a:r>
            <a:endParaRPr lang="en-US" sz="13000" dirty="0"/>
          </a:p>
        </p:txBody>
      </p:sp>
      <p:sp>
        <p:nvSpPr>
          <p:cNvPr id="4" name="Text 1"/>
          <p:cNvSpPr/>
          <p:nvPr/>
        </p:nvSpPr>
        <p:spPr>
          <a:xfrm>
            <a:off x="3977640" y="2788920"/>
            <a:ext cx="7406640" cy="1188720"/>
          </a:xfrm>
          <a:prstGeom prst="rect">
            <a:avLst/>
          </a:prstGeom>
          <a:noFill/>
          <a:ln/>
        </p:spPr>
        <p:txBody>
          <a:bodyPr wrap="square" rtlCol="0" anchor="ctr"/>
          <a:lstStyle/>
          <a:p>
            <a:pPr marL="0" indent="0">
              <a:buNone/>
            </a:pPr>
            <a:r>
              <a:rPr lang="en-US" sz="3400" b="1" dirty="0">
                <a:solidFill>
                  <a:srgbClr val="004549"/>
                </a:solidFill>
                <a:latin typeface="Calibri" pitchFamily="34" charset="0"/>
                <a:ea typeface="Calibri" pitchFamily="34" charset="-122"/>
                <a:cs typeface="Calibri" pitchFamily="34" charset="-120"/>
              </a:rPr>
              <a:t>Site Operations Control</a:t>
            </a:r>
            <a:endParaRPr lang="en-US" sz="3400" dirty="0"/>
          </a:p>
        </p:txBody>
      </p:sp>
      <p:sp>
        <p:nvSpPr>
          <p:cNvPr id="5" name="Text 2"/>
          <p:cNvSpPr/>
          <p:nvPr/>
        </p:nvSpPr>
        <p:spPr>
          <a:xfrm>
            <a:off x="3995928" y="3611880"/>
            <a:ext cx="7132320" cy="548640"/>
          </a:xfrm>
          <a:prstGeom prst="rect">
            <a:avLst/>
          </a:prstGeom>
          <a:noFill/>
          <a:ln/>
        </p:spPr>
        <p:txBody>
          <a:bodyPr wrap="square" rtlCol="0" anchor="ctr"/>
          <a:lstStyle/>
          <a:p>
            <a:pPr marL="0" indent="0">
              <a:buNone/>
            </a:pPr>
            <a:r>
              <a:rPr lang="en-US" sz="1400" i="1" dirty="0">
                <a:solidFill>
                  <a:srgbClr val="004549"/>
                </a:solidFill>
                <a:latin typeface="Calibri" pitchFamily="34" charset="0"/>
                <a:ea typeface="Calibri" pitchFamily="34" charset="-122"/>
                <a:cs typeface="Calibri" pitchFamily="34" charset="-120"/>
              </a:rPr>
              <a:t>Managing materials, storage, traffic and equipment day to day</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04 · SITE OPERATIONS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Material, Storage &amp; Logistics Stations</a:t>
            </a:r>
            <a:endParaRPr lang="en-US" sz="3000" dirty="0"/>
          </a:p>
        </p:txBody>
      </p:sp>
      <p:sp>
        <p:nvSpPr>
          <p:cNvPr id="5" name="Shape 2"/>
          <p:cNvSpPr/>
          <p:nvPr/>
        </p:nvSpPr>
        <p:spPr>
          <a:xfrm>
            <a:off x="502920" y="1508760"/>
            <a:ext cx="3538728" cy="4160520"/>
          </a:xfrm>
          <a:prstGeom prst="roundRect">
            <a:avLst>
              <a:gd name="adj" fmla="val 2067"/>
            </a:avLst>
          </a:prstGeom>
          <a:solidFill>
            <a:srgbClr val="D9ECE7"/>
          </a:solidFill>
          <a:ln/>
        </p:spPr>
        <p:txBody>
          <a:bodyPr/>
          <a:lstStyle/>
          <a:p>
            <a:endParaRPr lang="en-US"/>
          </a:p>
        </p:txBody>
      </p:sp>
      <p:sp>
        <p:nvSpPr>
          <p:cNvPr id="6" name="Shape 3"/>
          <p:cNvSpPr/>
          <p:nvPr/>
        </p:nvSpPr>
        <p:spPr>
          <a:xfrm>
            <a:off x="777240" y="1783080"/>
            <a:ext cx="502920" cy="502920"/>
          </a:xfrm>
          <a:prstGeom prst="ellipse">
            <a:avLst/>
          </a:prstGeom>
          <a:solidFill>
            <a:srgbClr val="43A99A"/>
          </a:solidFill>
          <a:ln/>
        </p:spPr>
        <p:txBody>
          <a:bodyPr/>
          <a:lstStyle/>
          <a:p>
            <a:endParaRPr lang="en-US"/>
          </a:p>
        </p:txBody>
      </p:sp>
      <p:sp>
        <p:nvSpPr>
          <p:cNvPr id="7" name="Text 4"/>
          <p:cNvSpPr/>
          <p:nvPr/>
        </p:nvSpPr>
        <p:spPr>
          <a:xfrm>
            <a:off x="777240" y="17830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5"/>
          <p:cNvSpPr/>
          <p:nvPr/>
        </p:nvSpPr>
        <p:spPr>
          <a:xfrm>
            <a:off x="777240" y="2423160"/>
            <a:ext cx="2990088" cy="594360"/>
          </a:xfrm>
          <a:prstGeom prst="rect">
            <a:avLst/>
          </a:prstGeom>
          <a:noFill/>
          <a:ln/>
        </p:spPr>
        <p:txBody>
          <a:bodyPr wrap="square" rtlCol="0" anchor="ctr"/>
          <a:lstStyle/>
          <a:p>
            <a:pPr marL="0" indent="0">
              <a:buNone/>
            </a:pPr>
            <a:r>
              <a:rPr lang="en-US" sz="1450" b="1" dirty="0">
                <a:solidFill>
                  <a:srgbClr val="004549"/>
                </a:solidFill>
                <a:latin typeface="Calibri" pitchFamily="34" charset="0"/>
                <a:ea typeface="Calibri" pitchFamily="34" charset="-122"/>
                <a:cs typeface="Calibri" pitchFamily="34" charset="-120"/>
              </a:rPr>
              <a:t>Non-Inventory Materials</a:t>
            </a:r>
            <a:endParaRPr lang="en-US" sz="1450" dirty="0"/>
          </a:p>
        </p:txBody>
      </p:sp>
      <p:sp>
        <p:nvSpPr>
          <p:cNvPr id="9" name="Text 6"/>
          <p:cNvSpPr/>
          <p:nvPr/>
        </p:nvSpPr>
        <p:spPr>
          <a:xfrm>
            <a:off x="777240" y="310896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Ready-mix concrete, asphalt, aggregates and backfill coordinated for direct use.</a:t>
            </a:r>
            <a:endParaRPr lang="en-US" sz="1150" dirty="0"/>
          </a:p>
        </p:txBody>
      </p:sp>
      <p:sp>
        <p:nvSpPr>
          <p:cNvPr id="10" name="Text 7"/>
          <p:cNvSpPr/>
          <p:nvPr/>
        </p:nvSpPr>
        <p:spPr>
          <a:xfrm>
            <a:off x="777240" y="443484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Workfront readiness, mix approval, supplier availability confirmed before dispatch.</a:t>
            </a:r>
            <a:endParaRPr lang="en-US" sz="1150" dirty="0"/>
          </a:p>
        </p:txBody>
      </p:sp>
      <p:sp>
        <p:nvSpPr>
          <p:cNvPr id="11" name="Shape 8"/>
          <p:cNvSpPr/>
          <p:nvPr/>
        </p:nvSpPr>
        <p:spPr>
          <a:xfrm>
            <a:off x="4297680" y="1508760"/>
            <a:ext cx="3538728" cy="4160520"/>
          </a:xfrm>
          <a:prstGeom prst="roundRect">
            <a:avLst>
              <a:gd name="adj" fmla="val 2067"/>
            </a:avLst>
          </a:prstGeom>
          <a:solidFill>
            <a:srgbClr val="D9ECE7"/>
          </a:solidFill>
          <a:ln/>
        </p:spPr>
        <p:txBody>
          <a:bodyPr/>
          <a:lstStyle/>
          <a:p>
            <a:endParaRPr lang="en-US"/>
          </a:p>
        </p:txBody>
      </p:sp>
      <p:sp>
        <p:nvSpPr>
          <p:cNvPr id="12" name="Shape 9"/>
          <p:cNvSpPr/>
          <p:nvPr/>
        </p:nvSpPr>
        <p:spPr>
          <a:xfrm>
            <a:off x="4572000" y="1783080"/>
            <a:ext cx="502920" cy="502920"/>
          </a:xfrm>
          <a:prstGeom prst="ellipse">
            <a:avLst/>
          </a:prstGeom>
          <a:solidFill>
            <a:srgbClr val="43A99A"/>
          </a:solidFill>
          <a:ln/>
        </p:spPr>
        <p:txBody>
          <a:bodyPr/>
          <a:lstStyle/>
          <a:p>
            <a:endParaRPr lang="en-US"/>
          </a:p>
        </p:txBody>
      </p:sp>
      <p:sp>
        <p:nvSpPr>
          <p:cNvPr id="13" name="Text 10"/>
          <p:cNvSpPr/>
          <p:nvPr/>
        </p:nvSpPr>
        <p:spPr>
          <a:xfrm>
            <a:off x="4572000" y="17830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p:nvPr/>
        </p:nvSpPr>
        <p:spPr>
          <a:xfrm>
            <a:off x="4572000" y="2423160"/>
            <a:ext cx="2990088" cy="594360"/>
          </a:xfrm>
          <a:prstGeom prst="rect">
            <a:avLst/>
          </a:prstGeom>
          <a:noFill/>
          <a:ln/>
        </p:spPr>
        <p:txBody>
          <a:bodyPr wrap="square" rtlCol="0" anchor="ctr"/>
          <a:lstStyle/>
          <a:p>
            <a:pPr marL="0" indent="0">
              <a:buNone/>
            </a:pPr>
            <a:r>
              <a:rPr lang="en-US" sz="1450" b="1" dirty="0">
                <a:solidFill>
                  <a:srgbClr val="004549"/>
                </a:solidFill>
                <a:latin typeface="Calibri" pitchFamily="34" charset="0"/>
                <a:ea typeface="Calibri" pitchFamily="34" charset="-122"/>
                <a:cs typeface="Calibri" pitchFamily="34" charset="-120"/>
              </a:rPr>
              <a:t>Laydown, Warehouse &amp; Zoning</a:t>
            </a:r>
            <a:endParaRPr lang="en-US" sz="1450" dirty="0"/>
          </a:p>
        </p:txBody>
      </p:sp>
      <p:sp>
        <p:nvSpPr>
          <p:cNvPr id="15" name="Text 12"/>
          <p:cNvSpPr/>
          <p:nvPr/>
        </p:nvSpPr>
        <p:spPr>
          <a:xfrm>
            <a:off x="4572000" y="310896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Zoning plan covers inventory, structural steel, hazardous materials and waste.</a:t>
            </a:r>
            <a:endParaRPr lang="en-US" sz="1150" dirty="0"/>
          </a:p>
        </p:txBody>
      </p:sp>
      <p:sp>
        <p:nvSpPr>
          <p:cNvPr id="16" name="Text 13"/>
          <p:cNvSpPr/>
          <p:nvPr/>
        </p:nvSpPr>
        <p:spPr>
          <a:xfrm>
            <a:off x="4572000" y="443484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Rejected and quarantined materials are segregated from active stock.</a:t>
            </a:r>
            <a:endParaRPr lang="en-US" sz="1150" dirty="0"/>
          </a:p>
        </p:txBody>
      </p:sp>
      <p:sp>
        <p:nvSpPr>
          <p:cNvPr id="17" name="Shape 14"/>
          <p:cNvSpPr/>
          <p:nvPr/>
        </p:nvSpPr>
        <p:spPr>
          <a:xfrm>
            <a:off x="8092440" y="1508760"/>
            <a:ext cx="3538728" cy="4160520"/>
          </a:xfrm>
          <a:prstGeom prst="roundRect">
            <a:avLst>
              <a:gd name="adj" fmla="val 2067"/>
            </a:avLst>
          </a:prstGeom>
          <a:solidFill>
            <a:srgbClr val="D9ECE7"/>
          </a:solidFill>
          <a:ln/>
        </p:spPr>
        <p:txBody>
          <a:bodyPr/>
          <a:lstStyle/>
          <a:p>
            <a:endParaRPr lang="en-US"/>
          </a:p>
        </p:txBody>
      </p:sp>
      <p:sp>
        <p:nvSpPr>
          <p:cNvPr id="18" name="Shape 15"/>
          <p:cNvSpPr/>
          <p:nvPr/>
        </p:nvSpPr>
        <p:spPr>
          <a:xfrm>
            <a:off x="8366760" y="1783080"/>
            <a:ext cx="502920" cy="502920"/>
          </a:xfrm>
          <a:prstGeom prst="ellipse">
            <a:avLst/>
          </a:prstGeom>
          <a:solidFill>
            <a:srgbClr val="43A99A"/>
          </a:solidFill>
          <a:ln/>
        </p:spPr>
        <p:txBody>
          <a:bodyPr/>
          <a:lstStyle/>
          <a:p>
            <a:endParaRPr lang="en-US"/>
          </a:p>
        </p:txBody>
      </p:sp>
      <p:sp>
        <p:nvSpPr>
          <p:cNvPr id="19" name="Text 16"/>
          <p:cNvSpPr/>
          <p:nvPr/>
        </p:nvSpPr>
        <p:spPr>
          <a:xfrm>
            <a:off x="8366760" y="17830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7"/>
          <p:cNvSpPr/>
          <p:nvPr/>
        </p:nvSpPr>
        <p:spPr>
          <a:xfrm>
            <a:off x="8366760" y="2423160"/>
            <a:ext cx="2990088" cy="594360"/>
          </a:xfrm>
          <a:prstGeom prst="rect">
            <a:avLst/>
          </a:prstGeom>
          <a:noFill/>
          <a:ln/>
        </p:spPr>
        <p:txBody>
          <a:bodyPr wrap="square" rtlCol="0" anchor="ctr"/>
          <a:lstStyle/>
          <a:p>
            <a:pPr marL="0" indent="0">
              <a:buNone/>
            </a:pPr>
            <a:r>
              <a:rPr lang="en-US" sz="1450" b="1" dirty="0">
                <a:solidFill>
                  <a:srgbClr val="004549"/>
                </a:solidFill>
                <a:latin typeface="Calibri" pitchFamily="34" charset="0"/>
                <a:ea typeface="Calibri" pitchFamily="34" charset="-122"/>
                <a:cs typeface="Calibri" pitchFamily="34" charset="-120"/>
              </a:rPr>
              <a:t>Temporary Logistics Stations</a:t>
            </a:r>
            <a:endParaRPr lang="en-US" sz="1450" dirty="0"/>
          </a:p>
        </p:txBody>
      </p:sp>
      <p:sp>
        <p:nvSpPr>
          <p:cNvPr id="21" name="Text 18"/>
          <p:cNvSpPr/>
          <p:nvPr/>
        </p:nvSpPr>
        <p:spPr>
          <a:xfrm>
            <a:off x="8366760" y="310896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Detarping, concrete sampling/washout, wheel-wash and vehicle holding areas.</a:t>
            </a:r>
            <a:endParaRPr lang="en-US" sz="1150" dirty="0"/>
          </a:p>
        </p:txBody>
      </p:sp>
      <p:sp>
        <p:nvSpPr>
          <p:cNvPr id="22" name="Text 19"/>
          <p:cNvSpPr/>
          <p:nvPr/>
        </p:nvSpPr>
        <p:spPr>
          <a:xfrm>
            <a:off x="8366760" y="443484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Each station has approved layout, signage, lighting and inspection schedule.</a:t>
            </a:r>
            <a:endParaRPr lang="en-US" sz="1150" dirty="0"/>
          </a:p>
        </p:txBody>
      </p:sp>
      <p:sp>
        <p:nvSpPr>
          <p:cNvPr id="24" name="Text 20"/>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04 · SITE OPERATIONS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Traffic, Heavy Transport &amp; Internal Flow</a:t>
            </a:r>
            <a:endParaRPr lang="en-US" sz="3000" dirty="0"/>
          </a:p>
        </p:txBody>
      </p:sp>
      <p:sp>
        <p:nvSpPr>
          <p:cNvPr id="5" name="Shape 2"/>
          <p:cNvSpPr/>
          <p:nvPr/>
        </p:nvSpPr>
        <p:spPr>
          <a:xfrm>
            <a:off x="502920" y="1459594"/>
            <a:ext cx="10652760" cy="1298448"/>
          </a:xfrm>
          <a:prstGeom prst="roundRect">
            <a:avLst>
              <a:gd name="adj" fmla="val 4930"/>
            </a:avLst>
          </a:prstGeom>
          <a:solidFill>
            <a:srgbClr val="D9ECE7"/>
          </a:solidFill>
          <a:ln/>
        </p:spPr>
        <p:txBody>
          <a:bodyPr/>
          <a:lstStyle/>
          <a:p>
            <a:endParaRPr lang="en-US"/>
          </a:p>
        </p:txBody>
      </p:sp>
      <p:sp>
        <p:nvSpPr>
          <p:cNvPr id="6" name="Shape 3"/>
          <p:cNvSpPr/>
          <p:nvPr/>
        </p:nvSpPr>
        <p:spPr>
          <a:xfrm>
            <a:off x="731520" y="1743058"/>
            <a:ext cx="731520" cy="731520"/>
          </a:xfrm>
          <a:prstGeom prst="ellipse">
            <a:avLst/>
          </a:prstGeom>
          <a:solidFill>
            <a:srgbClr val="004549"/>
          </a:solidFill>
          <a:ln/>
        </p:spPr>
        <p:txBody>
          <a:bodyPr/>
          <a:lstStyle/>
          <a:p>
            <a:endParaRPr lang="en-US"/>
          </a:p>
        </p:txBody>
      </p:sp>
      <p:sp>
        <p:nvSpPr>
          <p:cNvPr id="7" name="Text 4"/>
          <p:cNvSpPr/>
          <p:nvPr/>
        </p:nvSpPr>
        <p:spPr>
          <a:xfrm>
            <a:off x="731520" y="1743058"/>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5"/>
          <p:cNvSpPr/>
          <p:nvPr/>
        </p:nvSpPr>
        <p:spPr>
          <a:xfrm>
            <a:off x="1691640" y="1587610"/>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Traffic, Access &amp; Route Management</a:t>
            </a:r>
            <a:endParaRPr lang="en-US" sz="1350" dirty="0"/>
          </a:p>
        </p:txBody>
      </p:sp>
      <p:sp>
        <p:nvSpPr>
          <p:cNvPr id="9" name="Text 6"/>
          <p:cNvSpPr/>
          <p:nvPr/>
        </p:nvSpPr>
        <p:spPr>
          <a:xfrm>
            <a:off x="4937760" y="1587610"/>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No movement affecting live traffic proceeds until Traffic Management confirms controls: segregated routes, marshals, barriers, signage and continuous emergency access.</a:t>
            </a:r>
            <a:endParaRPr lang="en-US" sz="1150" dirty="0"/>
          </a:p>
        </p:txBody>
      </p:sp>
      <p:sp>
        <p:nvSpPr>
          <p:cNvPr id="10" name="Shape 7"/>
          <p:cNvSpPr/>
          <p:nvPr/>
        </p:nvSpPr>
        <p:spPr>
          <a:xfrm>
            <a:off x="502920" y="2940922"/>
            <a:ext cx="10652760" cy="1298448"/>
          </a:xfrm>
          <a:prstGeom prst="roundRect">
            <a:avLst>
              <a:gd name="adj" fmla="val 4930"/>
            </a:avLst>
          </a:prstGeom>
          <a:solidFill>
            <a:srgbClr val="FFFFFF"/>
          </a:solidFill>
          <a:ln w="12700">
            <a:solidFill>
              <a:srgbClr val="DCEAE7"/>
            </a:solidFill>
            <a:prstDash val="solid"/>
          </a:ln>
        </p:spPr>
        <p:txBody>
          <a:bodyPr/>
          <a:lstStyle/>
          <a:p>
            <a:endParaRPr lang="en-US"/>
          </a:p>
        </p:txBody>
      </p:sp>
      <p:sp>
        <p:nvSpPr>
          <p:cNvPr id="11" name="Shape 8"/>
          <p:cNvSpPr/>
          <p:nvPr/>
        </p:nvSpPr>
        <p:spPr>
          <a:xfrm>
            <a:off x="731520" y="3224386"/>
            <a:ext cx="731520" cy="731520"/>
          </a:xfrm>
          <a:prstGeom prst="ellipse">
            <a:avLst/>
          </a:prstGeom>
          <a:solidFill>
            <a:srgbClr val="004549"/>
          </a:solidFill>
          <a:ln/>
        </p:spPr>
        <p:txBody>
          <a:bodyPr/>
          <a:lstStyle/>
          <a:p>
            <a:endParaRPr lang="en-US"/>
          </a:p>
        </p:txBody>
      </p:sp>
      <p:sp>
        <p:nvSpPr>
          <p:cNvPr id="12" name="Text 9"/>
          <p:cNvSpPr/>
          <p:nvPr/>
        </p:nvSpPr>
        <p:spPr>
          <a:xfrm>
            <a:off x="731520" y="3224386"/>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0"/>
          <p:cNvSpPr/>
          <p:nvPr/>
        </p:nvSpPr>
        <p:spPr>
          <a:xfrm>
            <a:off x="1691640" y="3068938"/>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Heavy Transport, Cranes &amp; Equipment</a:t>
            </a:r>
            <a:endParaRPr lang="en-US" sz="1350" dirty="0"/>
          </a:p>
        </p:txBody>
      </p:sp>
      <p:sp>
        <p:nvSpPr>
          <p:cNvPr id="14" name="Text 11"/>
          <p:cNvSpPr/>
          <p:nvPr/>
        </p:nvSpPr>
        <p:spPr>
          <a:xfrm>
            <a:off x="4937760" y="3068938"/>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Mobilized per the approved histogram. Route geometry, ground bearing capacity, permits, lifting plan, JHA and PTW verified before movement.</a:t>
            </a:r>
            <a:endParaRPr lang="en-US" sz="1150" dirty="0"/>
          </a:p>
        </p:txBody>
      </p:sp>
      <p:sp>
        <p:nvSpPr>
          <p:cNvPr id="15" name="Shape 12"/>
          <p:cNvSpPr/>
          <p:nvPr/>
        </p:nvSpPr>
        <p:spPr>
          <a:xfrm>
            <a:off x="502920" y="4422250"/>
            <a:ext cx="10652760" cy="1298448"/>
          </a:xfrm>
          <a:prstGeom prst="roundRect">
            <a:avLst>
              <a:gd name="adj" fmla="val 4930"/>
            </a:avLst>
          </a:prstGeom>
          <a:solidFill>
            <a:srgbClr val="D9ECE7"/>
          </a:solidFill>
          <a:ln/>
        </p:spPr>
        <p:txBody>
          <a:bodyPr/>
          <a:lstStyle/>
          <a:p>
            <a:endParaRPr lang="en-US"/>
          </a:p>
        </p:txBody>
      </p:sp>
      <p:sp>
        <p:nvSpPr>
          <p:cNvPr id="16" name="Shape 13"/>
          <p:cNvSpPr/>
          <p:nvPr/>
        </p:nvSpPr>
        <p:spPr>
          <a:xfrm>
            <a:off x="731520" y="4705714"/>
            <a:ext cx="731520" cy="731520"/>
          </a:xfrm>
          <a:prstGeom prst="ellipse">
            <a:avLst/>
          </a:prstGeom>
          <a:solidFill>
            <a:srgbClr val="004549"/>
          </a:solidFill>
          <a:ln/>
        </p:spPr>
        <p:txBody>
          <a:bodyPr/>
          <a:lstStyle/>
          <a:p>
            <a:endParaRPr lang="en-US"/>
          </a:p>
        </p:txBody>
      </p:sp>
      <p:sp>
        <p:nvSpPr>
          <p:cNvPr id="17" name="Text 14"/>
          <p:cNvSpPr/>
          <p:nvPr/>
        </p:nvSpPr>
        <p:spPr>
          <a:xfrm>
            <a:off x="731520" y="4705714"/>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5"/>
          <p:cNvSpPr/>
          <p:nvPr/>
        </p:nvSpPr>
        <p:spPr>
          <a:xfrm>
            <a:off x="1691640" y="4550266"/>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Internal Material Flow</a:t>
            </a:r>
            <a:endParaRPr lang="en-US" sz="1350" dirty="0"/>
          </a:p>
        </p:txBody>
      </p:sp>
      <p:sp>
        <p:nvSpPr>
          <p:cNvPr id="19" name="Text 16"/>
          <p:cNvSpPr/>
          <p:nvPr/>
        </p:nvSpPr>
        <p:spPr>
          <a:xfrm>
            <a:off x="4937760" y="4550266"/>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Movement from stores/laydown to workfronts is controlled by an approved issue or transfer request, minimizing double handling and blocked access.</a:t>
            </a:r>
            <a:endParaRPr lang="en-US" sz="1150" dirty="0"/>
          </a:p>
        </p:txBody>
      </p:sp>
      <p:sp>
        <p:nvSpPr>
          <p:cNvPr id="21" name="Text 17"/>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assets/bg_mi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331720"/>
            <a:ext cx="3291840" cy="2011680"/>
          </a:xfrm>
          <a:prstGeom prst="rect">
            <a:avLst/>
          </a:prstGeom>
          <a:noFill/>
          <a:ln/>
        </p:spPr>
        <p:txBody>
          <a:bodyPr wrap="square" rtlCol="0" anchor="ctr"/>
          <a:lstStyle/>
          <a:p>
            <a:pPr marL="0" indent="0">
              <a:buNone/>
            </a:pPr>
            <a:r>
              <a:rPr lang="en-US" sz="13000" b="1" dirty="0">
                <a:solidFill>
                  <a:srgbClr val="8FCFC3"/>
                </a:solidFill>
                <a:latin typeface="Calibri" pitchFamily="34" charset="0"/>
                <a:ea typeface="Calibri" pitchFamily="34" charset="-122"/>
                <a:cs typeface="Calibri" pitchFamily="34" charset="-120"/>
              </a:rPr>
              <a:t>05</a:t>
            </a:r>
            <a:endParaRPr lang="en-US" sz="13000" dirty="0"/>
          </a:p>
        </p:txBody>
      </p:sp>
      <p:sp>
        <p:nvSpPr>
          <p:cNvPr id="4" name="Text 1"/>
          <p:cNvSpPr/>
          <p:nvPr/>
        </p:nvSpPr>
        <p:spPr>
          <a:xfrm>
            <a:off x="3977640" y="2788920"/>
            <a:ext cx="7406640" cy="1188720"/>
          </a:xfrm>
          <a:prstGeom prst="rect">
            <a:avLst/>
          </a:prstGeom>
          <a:noFill/>
          <a:ln/>
        </p:spPr>
        <p:txBody>
          <a:bodyPr wrap="square" rtlCol="0" anchor="ctr"/>
          <a:lstStyle/>
          <a:p>
            <a:pPr marL="0" indent="0">
              <a:buNone/>
            </a:pPr>
            <a:r>
              <a:rPr lang="en-US" sz="3400" b="1" dirty="0">
                <a:solidFill>
                  <a:srgbClr val="004549"/>
                </a:solidFill>
                <a:latin typeface="Calibri" pitchFamily="34" charset="0"/>
                <a:ea typeface="Calibri" pitchFamily="34" charset="-122"/>
                <a:cs typeface="Calibri" pitchFamily="34" charset="-120"/>
              </a:rPr>
              <a:t>Communication, KPIs &amp; Escalation</a:t>
            </a:r>
            <a:endParaRPr lang="en-US" sz="3400" dirty="0"/>
          </a:p>
        </p:txBody>
      </p:sp>
      <p:sp>
        <p:nvSpPr>
          <p:cNvPr id="5" name="Text 2"/>
          <p:cNvSpPr/>
          <p:nvPr/>
        </p:nvSpPr>
        <p:spPr>
          <a:xfrm>
            <a:off x="3995928" y="3611880"/>
            <a:ext cx="7132320" cy="548640"/>
          </a:xfrm>
          <a:prstGeom prst="rect">
            <a:avLst/>
          </a:prstGeom>
          <a:noFill/>
          <a:ln/>
        </p:spPr>
        <p:txBody>
          <a:bodyPr wrap="square" rtlCol="0" anchor="ctr"/>
          <a:lstStyle/>
          <a:p>
            <a:pPr marL="0" indent="0">
              <a:buNone/>
            </a:pPr>
            <a:r>
              <a:rPr lang="en-US" sz="1400" i="1" dirty="0">
                <a:solidFill>
                  <a:srgbClr val="004549"/>
                </a:solidFill>
                <a:latin typeface="Calibri" pitchFamily="34" charset="0"/>
                <a:ea typeface="Calibri" pitchFamily="34" charset="-122"/>
                <a:cs typeface="Calibri" pitchFamily="34" charset="-120"/>
              </a:rPr>
              <a:t>How the team stays aligned and how performance is measured</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05 · COMMUNICATION</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Communication Structure &amp; Interface Register</a:t>
            </a:r>
            <a:endParaRPr lang="en-US" sz="3000" dirty="0"/>
          </a:p>
        </p:txBody>
      </p:sp>
      <p:sp>
        <p:nvSpPr>
          <p:cNvPr id="5" name="Text 2"/>
          <p:cNvSpPr/>
          <p:nvPr/>
        </p:nvSpPr>
        <p:spPr>
          <a:xfrm>
            <a:off x="502920" y="1417320"/>
            <a:ext cx="5486400" cy="365760"/>
          </a:xfrm>
          <a:prstGeom prst="rect">
            <a:avLst/>
          </a:prstGeom>
          <a:noFill/>
          <a:ln/>
        </p:spPr>
        <p:txBody>
          <a:bodyPr wrap="square" rtlCol="0" anchor="ctr"/>
          <a:lstStyle/>
          <a:p>
            <a:pPr marL="0" indent="0">
              <a:buNone/>
            </a:pPr>
            <a:r>
              <a:rPr lang="en-US" sz="1500" b="1" dirty="0">
                <a:solidFill>
                  <a:srgbClr val="004549"/>
                </a:solidFill>
                <a:latin typeface="Calibri" pitchFamily="34" charset="0"/>
                <a:ea typeface="Calibri" pitchFamily="34" charset="-122"/>
                <a:cs typeface="Calibri" pitchFamily="34" charset="-120"/>
              </a:rPr>
              <a:t>Meeting Cadence</a:t>
            </a:r>
            <a:endParaRPr lang="en-US" sz="1500" dirty="0"/>
          </a:p>
        </p:txBody>
      </p:sp>
      <p:sp>
        <p:nvSpPr>
          <p:cNvPr id="6" name="Shape 3"/>
          <p:cNvSpPr/>
          <p:nvPr/>
        </p:nvSpPr>
        <p:spPr>
          <a:xfrm>
            <a:off x="502920" y="1920240"/>
            <a:ext cx="1417320" cy="566928"/>
          </a:xfrm>
          <a:prstGeom prst="roundRect">
            <a:avLst>
              <a:gd name="adj" fmla="val 48387"/>
            </a:avLst>
          </a:prstGeom>
          <a:solidFill>
            <a:srgbClr val="43A99A"/>
          </a:solidFill>
          <a:ln/>
        </p:spPr>
        <p:txBody>
          <a:bodyPr/>
          <a:lstStyle/>
          <a:p>
            <a:endParaRPr lang="en-US"/>
          </a:p>
        </p:txBody>
      </p:sp>
      <p:sp>
        <p:nvSpPr>
          <p:cNvPr id="7" name="Text 4"/>
          <p:cNvSpPr/>
          <p:nvPr/>
        </p:nvSpPr>
        <p:spPr>
          <a:xfrm>
            <a:off x="502920" y="1920240"/>
            <a:ext cx="1417320" cy="56692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Daily</a:t>
            </a:r>
            <a:endParaRPr lang="en-US" sz="1150" dirty="0"/>
          </a:p>
        </p:txBody>
      </p:sp>
      <p:sp>
        <p:nvSpPr>
          <p:cNvPr id="8" name="Text 5"/>
          <p:cNvSpPr/>
          <p:nvPr/>
        </p:nvSpPr>
        <p:spPr>
          <a:xfrm>
            <a:off x="2103120" y="1947672"/>
            <a:ext cx="3520440" cy="530352"/>
          </a:xfrm>
          <a:prstGeom prst="rect">
            <a:avLst/>
          </a:prstGeom>
          <a:noFill/>
          <a:ln/>
        </p:spPr>
        <p:txBody>
          <a:bodyPr wrap="square" rtlCol="0" anchor="ctr"/>
          <a:lstStyle/>
          <a:p>
            <a:pPr marL="0" indent="0">
              <a:buNone/>
            </a:pPr>
            <a:r>
              <a:rPr lang="en-US" sz="1080" dirty="0">
                <a:solidFill>
                  <a:srgbClr val="2F3235"/>
                </a:solidFill>
                <a:latin typeface="Calibri" pitchFamily="34" charset="0"/>
                <a:ea typeface="Calibri" pitchFamily="34" charset="-122"/>
                <a:cs typeface="Calibri" pitchFamily="34" charset="-120"/>
              </a:rPr>
              <a:t>Logistics coordination meeting &amp; delivery/equipment schedule</a:t>
            </a:r>
            <a:endParaRPr lang="en-US" sz="1080" dirty="0"/>
          </a:p>
        </p:txBody>
      </p:sp>
      <p:sp>
        <p:nvSpPr>
          <p:cNvPr id="9" name="Shape 6"/>
          <p:cNvSpPr/>
          <p:nvPr/>
        </p:nvSpPr>
        <p:spPr>
          <a:xfrm>
            <a:off x="502920" y="2633472"/>
            <a:ext cx="1417320" cy="566928"/>
          </a:xfrm>
          <a:prstGeom prst="roundRect">
            <a:avLst>
              <a:gd name="adj" fmla="val 48387"/>
            </a:avLst>
          </a:prstGeom>
          <a:solidFill>
            <a:srgbClr val="43A99A"/>
          </a:solidFill>
          <a:ln/>
        </p:spPr>
        <p:txBody>
          <a:bodyPr/>
          <a:lstStyle/>
          <a:p>
            <a:endParaRPr lang="en-US"/>
          </a:p>
        </p:txBody>
      </p:sp>
      <p:sp>
        <p:nvSpPr>
          <p:cNvPr id="10" name="Text 7"/>
          <p:cNvSpPr/>
          <p:nvPr/>
        </p:nvSpPr>
        <p:spPr>
          <a:xfrm>
            <a:off x="502920" y="2633472"/>
            <a:ext cx="1417320" cy="56692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Weekly</a:t>
            </a:r>
            <a:endParaRPr lang="en-US" sz="1150" dirty="0"/>
          </a:p>
        </p:txBody>
      </p:sp>
      <p:sp>
        <p:nvSpPr>
          <p:cNvPr id="11" name="Text 8"/>
          <p:cNvSpPr/>
          <p:nvPr/>
        </p:nvSpPr>
        <p:spPr>
          <a:xfrm>
            <a:off x="2103120" y="2660904"/>
            <a:ext cx="3520440" cy="530352"/>
          </a:xfrm>
          <a:prstGeom prst="rect">
            <a:avLst/>
          </a:prstGeom>
          <a:noFill/>
          <a:ln/>
        </p:spPr>
        <p:txBody>
          <a:bodyPr wrap="square" rtlCol="0" anchor="ctr"/>
          <a:lstStyle/>
          <a:p>
            <a:pPr marL="0" indent="0">
              <a:buNone/>
            </a:pPr>
            <a:r>
              <a:rPr lang="en-US" sz="1080" dirty="0">
                <a:solidFill>
                  <a:srgbClr val="2F3235"/>
                </a:solidFill>
                <a:latin typeface="Calibri" pitchFamily="34" charset="0"/>
                <a:ea typeface="Calibri" pitchFamily="34" charset="-122"/>
                <a:cs typeface="Calibri" pitchFamily="34" charset="-120"/>
              </a:rPr>
              <a:t>Logistics look-ahead + interface and permit review</a:t>
            </a:r>
            <a:endParaRPr lang="en-US" sz="1080" dirty="0"/>
          </a:p>
        </p:txBody>
      </p:sp>
      <p:sp>
        <p:nvSpPr>
          <p:cNvPr id="12" name="Shape 9"/>
          <p:cNvSpPr/>
          <p:nvPr/>
        </p:nvSpPr>
        <p:spPr>
          <a:xfrm>
            <a:off x="502920" y="3346704"/>
            <a:ext cx="1417320" cy="566928"/>
          </a:xfrm>
          <a:prstGeom prst="roundRect">
            <a:avLst>
              <a:gd name="adj" fmla="val 48387"/>
            </a:avLst>
          </a:prstGeom>
          <a:solidFill>
            <a:srgbClr val="43A99A"/>
          </a:solidFill>
          <a:ln/>
        </p:spPr>
        <p:txBody>
          <a:bodyPr/>
          <a:lstStyle/>
          <a:p>
            <a:endParaRPr lang="en-US"/>
          </a:p>
        </p:txBody>
      </p:sp>
      <p:sp>
        <p:nvSpPr>
          <p:cNvPr id="13" name="Text 10"/>
          <p:cNvSpPr/>
          <p:nvPr/>
        </p:nvSpPr>
        <p:spPr>
          <a:xfrm>
            <a:off x="502920" y="3346704"/>
            <a:ext cx="1417320" cy="56692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Monthly</a:t>
            </a:r>
            <a:endParaRPr lang="en-US" sz="1150" dirty="0"/>
          </a:p>
        </p:txBody>
      </p:sp>
      <p:sp>
        <p:nvSpPr>
          <p:cNvPr id="14" name="Text 11"/>
          <p:cNvSpPr/>
          <p:nvPr/>
        </p:nvSpPr>
        <p:spPr>
          <a:xfrm>
            <a:off x="2103120" y="3374136"/>
            <a:ext cx="3520440" cy="530352"/>
          </a:xfrm>
          <a:prstGeom prst="rect">
            <a:avLst/>
          </a:prstGeom>
          <a:noFill/>
          <a:ln/>
        </p:spPr>
        <p:txBody>
          <a:bodyPr wrap="square" rtlCol="0" anchor="ctr"/>
          <a:lstStyle/>
          <a:p>
            <a:pPr marL="0" indent="0">
              <a:buNone/>
            </a:pPr>
            <a:r>
              <a:rPr lang="en-US" sz="1080" dirty="0">
                <a:solidFill>
                  <a:srgbClr val="2F3235"/>
                </a:solidFill>
                <a:latin typeface="Calibri" pitchFamily="34" charset="0"/>
                <a:ea typeface="Calibri" pitchFamily="34" charset="-122"/>
                <a:cs typeface="Calibri" pitchFamily="34" charset="-120"/>
              </a:rPr>
              <a:t>Management performance review</a:t>
            </a:r>
            <a:endParaRPr lang="en-US" sz="1080" dirty="0"/>
          </a:p>
        </p:txBody>
      </p:sp>
      <p:sp>
        <p:nvSpPr>
          <p:cNvPr id="15" name="Shape 12"/>
          <p:cNvSpPr/>
          <p:nvPr/>
        </p:nvSpPr>
        <p:spPr>
          <a:xfrm>
            <a:off x="502920" y="4059936"/>
            <a:ext cx="1417320" cy="566928"/>
          </a:xfrm>
          <a:prstGeom prst="roundRect">
            <a:avLst>
              <a:gd name="adj" fmla="val 48387"/>
            </a:avLst>
          </a:prstGeom>
          <a:solidFill>
            <a:srgbClr val="43A99A"/>
          </a:solidFill>
          <a:ln/>
        </p:spPr>
        <p:txBody>
          <a:bodyPr/>
          <a:lstStyle/>
          <a:p>
            <a:endParaRPr lang="en-US"/>
          </a:p>
        </p:txBody>
      </p:sp>
      <p:sp>
        <p:nvSpPr>
          <p:cNvPr id="16" name="Text 13"/>
          <p:cNvSpPr/>
          <p:nvPr/>
        </p:nvSpPr>
        <p:spPr>
          <a:xfrm>
            <a:off x="502920" y="4059936"/>
            <a:ext cx="1417320" cy="56692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As needed</a:t>
            </a:r>
            <a:endParaRPr lang="en-US" sz="1150" dirty="0"/>
          </a:p>
        </p:txBody>
      </p:sp>
      <p:sp>
        <p:nvSpPr>
          <p:cNvPr id="17" name="Text 14"/>
          <p:cNvSpPr/>
          <p:nvPr/>
        </p:nvSpPr>
        <p:spPr>
          <a:xfrm>
            <a:off x="2103120" y="4087368"/>
            <a:ext cx="3520440" cy="530352"/>
          </a:xfrm>
          <a:prstGeom prst="rect">
            <a:avLst/>
          </a:prstGeom>
          <a:noFill/>
          <a:ln/>
        </p:spPr>
        <p:txBody>
          <a:bodyPr wrap="square" rtlCol="0" anchor="ctr"/>
          <a:lstStyle/>
          <a:p>
            <a:pPr marL="0" indent="0">
              <a:buNone/>
            </a:pPr>
            <a:r>
              <a:rPr lang="en-US" sz="1080" dirty="0">
                <a:solidFill>
                  <a:srgbClr val="2F3235"/>
                </a:solidFill>
                <a:latin typeface="Calibri" pitchFamily="34" charset="0"/>
                <a:ea typeface="Calibri" pitchFamily="34" charset="-122"/>
                <a:cs typeface="Calibri" pitchFamily="34" charset="-120"/>
              </a:rPr>
              <a:t>Advance coordination for critical lifts or abnormal loads</a:t>
            </a:r>
            <a:endParaRPr lang="en-US" sz="1080" dirty="0"/>
          </a:p>
        </p:txBody>
      </p:sp>
      <p:sp>
        <p:nvSpPr>
          <p:cNvPr id="18" name="Text 15"/>
          <p:cNvSpPr/>
          <p:nvPr/>
        </p:nvSpPr>
        <p:spPr>
          <a:xfrm>
            <a:off x="5989320" y="1417320"/>
            <a:ext cx="5486400" cy="365760"/>
          </a:xfrm>
          <a:prstGeom prst="rect">
            <a:avLst/>
          </a:prstGeom>
          <a:noFill/>
          <a:ln/>
        </p:spPr>
        <p:txBody>
          <a:bodyPr wrap="square" rtlCol="0" anchor="ctr"/>
          <a:lstStyle/>
          <a:p>
            <a:pPr marL="0" indent="0">
              <a:buNone/>
            </a:pPr>
            <a:r>
              <a:rPr lang="en-US" sz="1500" b="1" dirty="0">
                <a:solidFill>
                  <a:srgbClr val="004549"/>
                </a:solidFill>
                <a:latin typeface="Calibri" pitchFamily="34" charset="0"/>
                <a:ea typeface="Calibri" pitchFamily="34" charset="-122"/>
                <a:cs typeface="Calibri" pitchFamily="34" charset="-120"/>
              </a:rPr>
              <a:t>Logistics Interface Register — Status Rules</a:t>
            </a:r>
            <a:endParaRPr lang="en-US" sz="1500" dirty="0"/>
          </a:p>
        </p:txBody>
      </p:sp>
      <p:sp>
        <p:nvSpPr>
          <p:cNvPr id="19" name="Shape 16"/>
          <p:cNvSpPr/>
          <p:nvPr/>
        </p:nvSpPr>
        <p:spPr>
          <a:xfrm>
            <a:off x="5989320" y="2039112"/>
            <a:ext cx="292608" cy="292608"/>
          </a:xfrm>
          <a:prstGeom prst="ellipse">
            <a:avLst/>
          </a:prstGeom>
          <a:solidFill>
            <a:srgbClr val="2E9E5B"/>
          </a:solidFill>
          <a:ln/>
        </p:spPr>
        <p:txBody>
          <a:bodyPr/>
          <a:lstStyle/>
          <a:p>
            <a:endParaRPr lang="en-US"/>
          </a:p>
        </p:txBody>
      </p:sp>
      <p:sp>
        <p:nvSpPr>
          <p:cNvPr id="20" name="Text 17"/>
          <p:cNvSpPr/>
          <p:nvPr/>
        </p:nvSpPr>
        <p:spPr>
          <a:xfrm>
            <a:off x="6446520" y="1965960"/>
            <a:ext cx="1005840" cy="438912"/>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Green</a:t>
            </a:r>
            <a:endParaRPr lang="en-US" sz="1250" dirty="0"/>
          </a:p>
        </p:txBody>
      </p:sp>
      <p:sp>
        <p:nvSpPr>
          <p:cNvPr id="21" name="Text 18"/>
          <p:cNvSpPr/>
          <p:nvPr/>
        </p:nvSpPr>
        <p:spPr>
          <a:xfrm>
            <a:off x="7452360" y="1965960"/>
            <a:ext cx="4206240" cy="438912"/>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No effect on the approved sequence.</a:t>
            </a:r>
            <a:endParaRPr lang="en-US" sz="1100" dirty="0"/>
          </a:p>
        </p:txBody>
      </p:sp>
      <p:sp>
        <p:nvSpPr>
          <p:cNvPr id="22" name="Shape 19"/>
          <p:cNvSpPr/>
          <p:nvPr/>
        </p:nvSpPr>
        <p:spPr>
          <a:xfrm>
            <a:off x="5989320" y="2660904"/>
            <a:ext cx="292608" cy="292608"/>
          </a:xfrm>
          <a:prstGeom prst="ellipse">
            <a:avLst/>
          </a:prstGeom>
          <a:solidFill>
            <a:srgbClr val="D69A1F"/>
          </a:solidFill>
          <a:ln/>
        </p:spPr>
        <p:txBody>
          <a:bodyPr/>
          <a:lstStyle/>
          <a:p>
            <a:endParaRPr lang="en-US"/>
          </a:p>
        </p:txBody>
      </p:sp>
      <p:sp>
        <p:nvSpPr>
          <p:cNvPr id="23" name="Text 20"/>
          <p:cNvSpPr/>
          <p:nvPr/>
        </p:nvSpPr>
        <p:spPr>
          <a:xfrm>
            <a:off x="6446520" y="2587752"/>
            <a:ext cx="1005840" cy="438912"/>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Amber</a:t>
            </a:r>
            <a:endParaRPr lang="en-US" sz="1250" dirty="0"/>
          </a:p>
        </p:txBody>
      </p:sp>
      <p:sp>
        <p:nvSpPr>
          <p:cNvPr id="24" name="Text 21"/>
          <p:cNvSpPr/>
          <p:nvPr/>
        </p:nvSpPr>
        <p:spPr>
          <a:xfrm>
            <a:off x="7452360" y="2587752"/>
            <a:ext cx="4206240" cy="438912"/>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Potential effect — recovery action required.</a:t>
            </a:r>
            <a:endParaRPr lang="en-US" sz="1100" dirty="0"/>
          </a:p>
        </p:txBody>
      </p:sp>
      <p:sp>
        <p:nvSpPr>
          <p:cNvPr id="25" name="Shape 22"/>
          <p:cNvSpPr/>
          <p:nvPr/>
        </p:nvSpPr>
        <p:spPr>
          <a:xfrm>
            <a:off x="5989320" y="3282696"/>
            <a:ext cx="292608" cy="292608"/>
          </a:xfrm>
          <a:prstGeom prst="ellipse">
            <a:avLst/>
          </a:prstGeom>
          <a:solidFill>
            <a:srgbClr val="C0392B"/>
          </a:solidFill>
          <a:ln/>
        </p:spPr>
        <p:txBody>
          <a:bodyPr/>
          <a:lstStyle/>
          <a:p>
            <a:endParaRPr lang="en-US"/>
          </a:p>
        </p:txBody>
      </p:sp>
      <p:sp>
        <p:nvSpPr>
          <p:cNvPr id="26" name="Text 23"/>
          <p:cNvSpPr/>
          <p:nvPr/>
        </p:nvSpPr>
        <p:spPr>
          <a:xfrm>
            <a:off x="6446520" y="3209544"/>
            <a:ext cx="1005840" cy="438912"/>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Red</a:t>
            </a:r>
            <a:endParaRPr lang="en-US" sz="1250" dirty="0"/>
          </a:p>
        </p:txBody>
      </p:sp>
      <p:sp>
        <p:nvSpPr>
          <p:cNvPr id="27" name="Text 24"/>
          <p:cNvSpPr/>
          <p:nvPr/>
        </p:nvSpPr>
        <p:spPr>
          <a:xfrm>
            <a:off x="7452360" y="3209544"/>
            <a:ext cx="4206240" cy="438912"/>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Milestone, safety, authority or traffic impact — immediate escalation.</a:t>
            </a:r>
            <a:endParaRPr lang="en-US" sz="1100" dirty="0"/>
          </a:p>
        </p:txBody>
      </p:sp>
      <p:sp>
        <p:nvSpPr>
          <p:cNvPr id="28" name="Text 25"/>
          <p:cNvSpPr/>
          <p:nvPr/>
        </p:nvSpPr>
        <p:spPr>
          <a:xfrm>
            <a:off x="457200" y="4937760"/>
            <a:ext cx="10607040" cy="502920"/>
          </a:xfrm>
          <a:prstGeom prst="rect">
            <a:avLst/>
          </a:prstGeom>
          <a:noFill/>
          <a:ln/>
        </p:spPr>
        <p:txBody>
          <a:bodyPr wrap="square" rtlCol="0" anchor="ctr"/>
          <a:lstStyle/>
          <a:p>
            <a:pPr marL="0" indent="0">
              <a:buNone/>
            </a:pPr>
            <a:r>
              <a:rPr lang="en-US" sz="1100" i="1" dirty="0">
                <a:solidFill>
                  <a:srgbClr val="5A626E"/>
                </a:solidFill>
                <a:latin typeface="Calibri" pitchFamily="34" charset="0"/>
                <a:ea typeface="Calibri" pitchFamily="34" charset="-122"/>
                <a:cs typeface="Calibri" pitchFamily="34" charset="-120"/>
              </a:rPr>
              <a:t>Register fields: issue &amp; location · affected activity/milestone · responsible party · required decision · target closure date · status · escalation level.</a:t>
            </a:r>
            <a:endParaRPr lang="en-US" sz="1100" dirty="0"/>
          </a:p>
        </p:txBody>
      </p:sp>
      <p:sp>
        <p:nvSpPr>
          <p:cNvPr id="30" name="Text 26"/>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05 · MONITORING</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Key Performance Indicators</a:t>
            </a:r>
            <a:endParaRPr lang="en-US" sz="3000" dirty="0"/>
          </a:p>
        </p:txBody>
      </p:sp>
      <p:sp>
        <p:nvSpPr>
          <p:cNvPr id="5" name="Shape 2"/>
          <p:cNvSpPr/>
          <p:nvPr/>
        </p:nvSpPr>
        <p:spPr>
          <a:xfrm>
            <a:off x="502920" y="1600200"/>
            <a:ext cx="3429000" cy="1874520"/>
          </a:xfrm>
          <a:prstGeom prst="roundRect">
            <a:avLst>
              <a:gd name="adj" fmla="val 3902"/>
            </a:avLst>
          </a:prstGeom>
          <a:solidFill>
            <a:srgbClr val="004549"/>
          </a:solidFill>
          <a:ln/>
        </p:spPr>
        <p:txBody>
          <a:bodyPr/>
          <a:lstStyle/>
          <a:p>
            <a:endParaRPr lang="en-US"/>
          </a:p>
        </p:txBody>
      </p:sp>
      <p:sp>
        <p:nvSpPr>
          <p:cNvPr id="6" name="Text 3"/>
          <p:cNvSpPr/>
          <p:nvPr/>
        </p:nvSpPr>
        <p:spPr>
          <a:xfrm>
            <a:off x="502920" y="1764792"/>
            <a:ext cx="3429000" cy="822960"/>
          </a:xfrm>
          <a:prstGeom prst="rect">
            <a:avLst/>
          </a:prstGeom>
          <a:noFill/>
          <a:ln/>
        </p:spPr>
        <p:txBody>
          <a:bodyPr wrap="square" rtlCol="0" anchor="ctr"/>
          <a:lstStyle/>
          <a:p>
            <a:pPr marL="0" indent="0" algn="ctr">
              <a:buNone/>
            </a:pPr>
            <a:r>
              <a:rPr lang="en-US" sz="3200" b="1" dirty="0">
                <a:solidFill>
                  <a:srgbClr val="8FCFC3"/>
                </a:solidFill>
                <a:latin typeface="Calibri" pitchFamily="34" charset="0"/>
                <a:ea typeface="Calibri" pitchFamily="34" charset="-122"/>
                <a:cs typeface="Calibri" pitchFamily="34" charset="-120"/>
              </a:rPr>
              <a:t>≥95%</a:t>
            </a:r>
            <a:endParaRPr lang="en-US" sz="3200" dirty="0"/>
          </a:p>
        </p:txBody>
      </p:sp>
      <p:sp>
        <p:nvSpPr>
          <p:cNvPr id="7" name="Text 4"/>
          <p:cNvSpPr/>
          <p:nvPr/>
        </p:nvSpPr>
        <p:spPr>
          <a:xfrm>
            <a:off x="685800" y="2606040"/>
            <a:ext cx="3063240" cy="777240"/>
          </a:xfrm>
          <a:prstGeom prst="rect">
            <a:avLst/>
          </a:prstGeom>
          <a:noFill/>
          <a:ln/>
        </p:spPr>
        <p:txBody>
          <a:bodyPr wrap="square" rtlCol="0" anchor="ctr"/>
          <a:lstStyle/>
          <a:p>
            <a:pPr marL="0" indent="0" algn="ctr">
              <a:lnSpc>
                <a:spcPts val="1300"/>
              </a:lnSpc>
              <a:buNone/>
            </a:pPr>
            <a:r>
              <a:rPr lang="en-US" sz="1150" dirty="0">
                <a:solidFill>
                  <a:srgbClr val="FFFFFF"/>
                </a:solidFill>
                <a:latin typeface="Calibri" pitchFamily="34" charset="0"/>
                <a:ea typeface="Calibri" pitchFamily="34" charset="-122"/>
                <a:cs typeface="Calibri" pitchFamily="34" charset="-120"/>
              </a:rPr>
              <a:t>Deliveries completed</a:t>
            </a:r>
            <a:endParaRPr lang="en-US" sz="1150" dirty="0"/>
          </a:p>
          <a:p>
            <a:pPr marL="0" indent="0" algn="ctr">
              <a:lnSpc>
                <a:spcPts val="1300"/>
              </a:lnSpc>
              <a:buNone/>
            </a:pPr>
            <a:r>
              <a:rPr lang="en-US" sz="1150" dirty="0">
                <a:solidFill>
                  <a:srgbClr val="FFFFFF"/>
                </a:solidFill>
                <a:latin typeface="Calibri" pitchFamily="34" charset="0"/>
                <a:ea typeface="Calibri" pitchFamily="34" charset="-122"/>
                <a:cs typeface="Calibri" pitchFamily="34" charset="-120"/>
              </a:rPr>
              <a:t>within approved slot</a:t>
            </a:r>
            <a:endParaRPr lang="en-US" sz="1150" dirty="0"/>
          </a:p>
        </p:txBody>
      </p:sp>
      <p:sp>
        <p:nvSpPr>
          <p:cNvPr id="8" name="Shape 5"/>
          <p:cNvSpPr/>
          <p:nvPr/>
        </p:nvSpPr>
        <p:spPr>
          <a:xfrm>
            <a:off x="4114800" y="1600200"/>
            <a:ext cx="3429000" cy="1874520"/>
          </a:xfrm>
          <a:prstGeom prst="roundRect">
            <a:avLst>
              <a:gd name="adj" fmla="val 3902"/>
            </a:avLst>
          </a:prstGeom>
          <a:solidFill>
            <a:srgbClr val="004549"/>
          </a:solidFill>
          <a:ln/>
        </p:spPr>
        <p:txBody>
          <a:bodyPr/>
          <a:lstStyle/>
          <a:p>
            <a:endParaRPr lang="en-US"/>
          </a:p>
        </p:txBody>
      </p:sp>
      <p:sp>
        <p:nvSpPr>
          <p:cNvPr id="9" name="Text 6"/>
          <p:cNvSpPr/>
          <p:nvPr/>
        </p:nvSpPr>
        <p:spPr>
          <a:xfrm>
            <a:off x="4114800" y="1764792"/>
            <a:ext cx="3429000" cy="822960"/>
          </a:xfrm>
          <a:prstGeom prst="rect">
            <a:avLst/>
          </a:prstGeom>
          <a:noFill/>
          <a:ln/>
        </p:spPr>
        <p:txBody>
          <a:bodyPr wrap="square" rtlCol="0" anchor="ctr"/>
          <a:lstStyle/>
          <a:p>
            <a:pPr marL="0" indent="0" algn="ctr">
              <a:buNone/>
            </a:pPr>
            <a:r>
              <a:rPr lang="en-US" sz="3200" b="1" dirty="0">
                <a:solidFill>
                  <a:srgbClr val="8FCFC3"/>
                </a:solidFill>
                <a:latin typeface="Calibri" pitchFamily="34" charset="0"/>
                <a:ea typeface="Calibri" pitchFamily="34" charset="-122"/>
                <a:cs typeface="Calibri" pitchFamily="34" charset="-120"/>
              </a:rPr>
              <a:t>100%</a:t>
            </a:r>
            <a:endParaRPr lang="en-US" sz="3200" dirty="0"/>
          </a:p>
        </p:txBody>
      </p:sp>
      <p:sp>
        <p:nvSpPr>
          <p:cNvPr id="10" name="Text 7"/>
          <p:cNvSpPr/>
          <p:nvPr/>
        </p:nvSpPr>
        <p:spPr>
          <a:xfrm>
            <a:off x="4297680" y="2606040"/>
            <a:ext cx="3063240" cy="777240"/>
          </a:xfrm>
          <a:prstGeom prst="rect">
            <a:avLst/>
          </a:prstGeom>
          <a:noFill/>
          <a:ln/>
        </p:spPr>
        <p:txBody>
          <a:bodyPr wrap="square" rtlCol="0" anchor="ctr"/>
          <a:lstStyle/>
          <a:p>
            <a:pPr marL="0" indent="0" algn="ctr">
              <a:lnSpc>
                <a:spcPts val="1300"/>
              </a:lnSpc>
              <a:buNone/>
            </a:pPr>
            <a:r>
              <a:rPr lang="en-US" sz="1150" dirty="0">
                <a:solidFill>
                  <a:srgbClr val="FFFFFF"/>
                </a:solidFill>
                <a:latin typeface="Calibri" pitchFamily="34" charset="0"/>
                <a:ea typeface="Calibri" pitchFamily="34" charset="-122"/>
                <a:cs typeface="Calibri" pitchFamily="34" charset="-120"/>
              </a:rPr>
              <a:t>Pre-arrival documentation</a:t>
            </a:r>
            <a:endParaRPr lang="en-US" sz="1150" dirty="0"/>
          </a:p>
          <a:p>
            <a:pPr marL="0" indent="0" algn="ctr">
              <a:lnSpc>
                <a:spcPts val="1300"/>
              </a:lnSpc>
              <a:buNone/>
            </a:pPr>
            <a:r>
              <a:rPr lang="en-US" sz="1150" dirty="0">
                <a:solidFill>
                  <a:srgbClr val="FFFFFF"/>
                </a:solidFill>
                <a:latin typeface="Calibri" pitchFamily="34" charset="0"/>
                <a:ea typeface="Calibri" pitchFamily="34" charset="-122"/>
                <a:cs typeface="Calibri" pitchFamily="34" charset="-120"/>
              </a:rPr>
              <a:t>complete</a:t>
            </a:r>
            <a:endParaRPr lang="en-US" sz="1150" dirty="0"/>
          </a:p>
        </p:txBody>
      </p:sp>
      <p:sp>
        <p:nvSpPr>
          <p:cNvPr id="11" name="Shape 8"/>
          <p:cNvSpPr/>
          <p:nvPr/>
        </p:nvSpPr>
        <p:spPr>
          <a:xfrm>
            <a:off x="7726680" y="1600200"/>
            <a:ext cx="3429000" cy="1874520"/>
          </a:xfrm>
          <a:prstGeom prst="roundRect">
            <a:avLst>
              <a:gd name="adj" fmla="val 3902"/>
            </a:avLst>
          </a:prstGeom>
          <a:solidFill>
            <a:srgbClr val="004549"/>
          </a:solidFill>
          <a:ln/>
        </p:spPr>
        <p:txBody>
          <a:bodyPr/>
          <a:lstStyle/>
          <a:p>
            <a:endParaRPr lang="en-US"/>
          </a:p>
        </p:txBody>
      </p:sp>
      <p:sp>
        <p:nvSpPr>
          <p:cNvPr id="12" name="Text 9"/>
          <p:cNvSpPr/>
          <p:nvPr/>
        </p:nvSpPr>
        <p:spPr>
          <a:xfrm>
            <a:off x="7726680" y="1764792"/>
            <a:ext cx="3429000" cy="822960"/>
          </a:xfrm>
          <a:prstGeom prst="rect">
            <a:avLst/>
          </a:prstGeom>
          <a:noFill/>
          <a:ln/>
        </p:spPr>
        <p:txBody>
          <a:bodyPr wrap="square" rtlCol="0" anchor="ctr"/>
          <a:lstStyle/>
          <a:p>
            <a:pPr marL="0" indent="0" algn="ctr">
              <a:buNone/>
            </a:pPr>
            <a:r>
              <a:rPr lang="en-US" sz="3200" b="1" dirty="0">
                <a:solidFill>
                  <a:srgbClr val="8FCFC3"/>
                </a:solidFill>
                <a:latin typeface="Calibri" pitchFamily="34" charset="0"/>
                <a:ea typeface="Calibri" pitchFamily="34" charset="-122"/>
                <a:cs typeface="Calibri" pitchFamily="34" charset="-120"/>
              </a:rPr>
              <a:t>100%</a:t>
            </a:r>
            <a:endParaRPr lang="en-US" sz="3200" dirty="0"/>
          </a:p>
        </p:txBody>
      </p:sp>
      <p:sp>
        <p:nvSpPr>
          <p:cNvPr id="13" name="Text 10"/>
          <p:cNvSpPr/>
          <p:nvPr/>
        </p:nvSpPr>
        <p:spPr>
          <a:xfrm>
            <a:off x="7909560" y="2606040"/>
            <a:ext cx="3063240" cy="777240"/>
          </a:xfrm>
          <a:prstGeom prst="rect">
            <a:avLst/>
          </a:prstGeom>
          <a:noFill/>
          <a:ln/>
        </p:spPr>
        <p:txBody>
          <a:bodyPr wrap="square" rtlCol="0" anchor="ctr"/>
          <a:lstStyle/>
          <a:p>
            <a:pPr marL="0" indent="0" algn="ctr">
              <a:lnSpc>
                <a:spcPts val="1300"/>
              </a:lnSpc>
              <a:buNone/>
            </a:pPr>
            <a:r>
              <a:rPr lang="en-US" sz="1150" dirty="0">
                <a:solidFill>
                  <a:srgbClr val="FFFFFF"/>
                </a:solidFill>
                <a:latin typeface="Calibri" pitchFamily="34" charset="0"/>
                <a:ea typeface="Calibri" pitchFamily="34" charset="-122"/>
                <a:cs typeface="Calibri" pitchFamily="34" charset="-120"/>
              </a:rPr>
              <a:t>TMP &amp; access-route</a:t>
            </a:r>
            <a:endParaRPr lang="en-US" sz="1150" dirty="0"/>
          </a:p>
          <a:p>
            <a:pPr marL="0" indent="0" algn="ctr">
              <a:lnSpc>
                <a:spcPts val="1300"/>
              </a:lnSpc>
              <a:buNone/>
            </a:pPr>
            <a:r>
              <a:rPr lang="en-US" sz="1150" dirty="0">
                <a:solidFill>
                  <a:srgbClr val="FFFFFF"/>
                </a:solidFill>
                <a:latin typeface="Calibri" pitchFamily="34" charset="0"/>
                <a:ea typeface="Calibri" pitchFamily="34" charset="-122"/>
                <a:cs typeface="Calibri" pitchFamily="34" charset="-120"/>
              </a:rPr>
              <a:t>inspections completed</a:t>
            </a:r>
            <a:endParaRPr lang="en-US" sz="1150" dirty="0"/>
          </a:p>
        </p:txBody>
      </p:sp>
      <p:sp>
        <p:nvSpPr>
          <p:cNvPr id="14" name="Shape 11"/>
          <p:cNvSpPr/>
          <p:nvPr/>
        </p:nvSpPr>
        <p:spPr>
          <a:xfrm>
            <a:off x="502920" y="3657600"/>
            <a:ext cx="3429000" cy="1874520"/>
          </a:xfrm>
          <a:prstGeom prst="roundRect">
            <a:avLst>
              <a:gd name="adj" fmla="val 3902"/>
            </a:avLst>
          </a:prstGeom>
          <a:solidFill>
            <a:srgbClr val="D9ECE7"/>
          </a:solidFill>
          <a:ln/>
        </p:spPr>
        <p:txBody>
          <a:bodyPr/>
          <a:lstStyle/>
          <a:p>
            <a:endParaRPr lang="en-US"/>
          </a:p>
        </p:txBody>
      </p:sp>
      <p:sp>
        <p:nvSpPr>
          <p:cNvPr id="15" name="Text 12"/>
          <p:cNvSpPr/>
          <p:nvPr/>
        </p:nvSpPr>
        <p:spPr>
          <a:xfrm>
            <a:off x="502920" y="3822192"/>
            <a:ext cx="3429000" cy="822960"/>
          </a:xfrm>
          <a:prstGeom prst="rect">
            <a:avLst/>
          </a:prstGeom>
          <a:noFill/>
          <a:ln/>
        </p:spPr>
        <p:txBody>
          <a:bodyPr wrap="square" rtlCol="0" anchor="ctr"/>
          <a:lstStyle/>
          <a:p>
            <a:pPr marL="0" indent="0" algn="ctr">
              <a:buNone/>
            </a:pPr>
            <a:r>
              <a:rPr lang="en-US" sz="3200" b="1" dirty="0">
                <a:solidFill>
                  <a:srgbClr val="43A99A"/>
                </a:solidFill>
                <a:latin typeface="Calibri" pitchFamily="34" charset="0"/>
                <a:ea typeface="Calibri" pitchFamily="34" charset="-122"/>
                <a:cs typeface="Calibri" pitchFamily="34" charset="-120"/>
              </a:rPr>
              <a:t>≥90%</a:t>
            </a:r>
            <a:endParaRPr lang="en-US" sz="3200" dirty="0"/>
          </a:p>
        </p:txBody>
      </p:sp>
      <p:sp>
        <p:nvSpPr>
          <p:cNvPr id="16" name="Text 13"/>
          <p:cNvSpPr/>
          <p:nvPr/>
        </p:nvSpPr>
        <p:spPr>
          <a:xfrm>
            <a:off x="685800" y="4663440"/>
            <a:ext cx="3063240" cy="777240"/>
          </a:xfrm>
          <a:prstGeom prst="rect">
            <a:avLst/>
          </a:prstGeom>
          <a:noFill/>
          <a:ln/>
        </p:spPr>
        <p:txBody>
          <a:bodyPr wrap="square" rtlCol="0" anchor="ctr"/>
          <a:lstStyle/>
          <a:p>
            <a:pPr marL="0" indent="0" algn="ctr">
              <a:lnSpc>
                <a:spcPts val="1300"/>
              </a:lnSpc>
              <a:buNone/>
            </a:pPr>
            <a:r>
              <a:rPr lang="en-US" sz="1150" dirty="0">
                <a:solidFill>
                  <a:srgbClr val="004549"/>
                </a:solidFill>
                <a:latin typeface="Calibri" pitchFamily="34" charset="0"/>
                <a:ea typeface="Calibri" pitchFamily="34" charset="-122"/>
                <a:cs typeface="Calibri" pitchFamily="34" charset="-120"/>
              </a:rPr>
              <a:t>Corrective actions</a:t>
            </a:r>
            <a:endParaRPr lang="en-US" sz="1150" dirty="0"/>
          </a:p>
          <a:p>
            <a:pPr marL="0" indent="0" algn="ctr">
              <a:lnSpc>
                <a:spcPts val="1300"/>
              </a:lnSpc>
              <a:buNone/>
            </a:pPr>
            <a:r>
              <a:rPr lang="en-US" sz="1150" dirty="0">
                <a:solidFill>
                  <a:srgbClr val="004549"/>
                </a:solidFill>
                <a:latin typeface="Calibri" pitchFamily="34" charset="0"/>
                <a:ea typeface="Calibri" pitchFamily="34" charset="-122"/>
                <a:cs typeface="Calibri" pitchFamily="34" charset="-120"/>
              </a:rPr>
              <a:t>closed within target</a:t>
            </a:r>
            <a:endParaRPr lang="en-US" sz="1150" dirty="0"/>
          </a:p>
        </p:txBody>
      </p:sp>
      <p:sp>
        <p:nvSpPr>
          <p:cNvPr id="17" name="Shape 14"/>
          <p:cNvSpPr/>
          <p:nvPr/>
        </p:nvSpPr>
        <p:spPr>
          <a:xfrm>
            <a:off x="4114800" y="3657600"/>
            <a:ext cx="3429000" cy="1874520"/>
          </a:xfrm>
          <a:prstGeom prst="roundRect">
            <a:avLst>
              <a:gd name="adj" fmla="val 3902"/>
            </a:avLst>
          </a:prstGeom>
          <a:solidFill>
            <a:srgbClr val="D9ECE7"/>
          </a:solidFill>
          <a:ln/>
        </p:spPr>
        <p:txBody>
          <a:bodyPr/>
          <a:lstStyle/>
          <a:p>
            <a:endParaRPr lang="en-US"/>
          </a:p>
        </p:txBody>
      </p:sp>
      <p:sp>
        <p:nvSpPr>
          <p:cNvPr id="18" name="Text 15"/>
          <p:cNvSpPr/>
          <p:nvPr/>
        </p:nvSpPr>
        <p:spPr>
          <a:xfrm>
            <a:off x="4114800" y="3822192"/>
            <a:ext cx="3429000" cy="822960"/>
          </a:xfrm>
          <a:prstGeom prst="rect">
            <a:avLst/>
          </a:prstGeom>
          <a:noFill/>
          <a:ln/>
        </p:spPr>
        <p:txBody>
          <a:bodyPr wrap="square" rtlCol="0" anchor="ctr"/>
          <a:lstStyle/>
          <a:p>
            <a:pPr marL="0" indent="0" algn="ctr">
              <a:buNone/>
            </a:pPr>
            <a:r>
              <a:rPr lang="en-US" sz="3200" b="1" dirty="0">
                <a:solidFill>
                  <a:srgbClr val="43A99A"/>
                </a:solidFill>
                <a:latin typeface="Calibri" pitchFamily="34" charset="0"/>
                <a:ea typeface="Calibri" pitchFamily="34" charset="-122"/>
                <a:cs typeface="Calibri" pitchFamily="34" charset="-120"/>
              </a:rPr>
              <a:t>Zero</a:t>
            </a:r>
            <a:endParaRPr lang="en-US" sz="3200" dirty="0"/>
          </a:p>
        </p:txBody>
      </p:sp>
      <p:sp>
        <p:nvSpPr>
          <p:cNvPr id="19" name="Text 16"/>
          <p:cNvSpPr/>
          <p:nvPr/>
        </p:nvSpPr>
        <p:spPr>
          <a:xfrm>
            <a:off x="4297680" y="4663440"/>
            <a:ext cx="3063240" cy="777240"/>
          </a:xfrm>
          <a:prstGeom prst="rect">
            <a:avLst/>
          </a:prstGeom>
          <a:noFill/>
          <a:ln/>
        </p:spPr>
        <p:txBody>
          <a:bodyPr wrap="square" rtlCol="0" anchor="ctr"/>
          <a:lstStyle/>
          <a:p>
            <a:pPr marL="0" indent="0" algn="ctr">
              <a:lnSpc>
                <a:spcPts val="1300"/>
              </a:lnSpc>
              <a:buNone/>
            </a:pPr>
            <a:r>
              <a:rPr lang="en-US" sz="1150" dirty="0">
                <a:solidFill>
                  <a:srgbClr val="004549"/>
                </a:solidFill>
                <a:latin typeface="Calibri" pitchFamily="34" charset="0"/>
                <a:ea typeface="Calibri" pitchFamily="34" charset="-122"/>
                <a:cs typeface="Calibri" pitchFamily="34" charset="-120"/>
              </a:rPr>
              <a:t>Preventable material</a:t>
            </a:r>
            <a:endParaRPr lang="en-US" sz="1150" dirty="0"/>
          </a:p>
          <a:p>
            <a:pPr marL="0" indent="0" algn="ctr">
              <a:lnSpc>
                <a:spcPts val="1300"/>
              </a:lnSpc>
              <a:buNone/>
            </a:pPr>
            <a:r>
              <a:rPr lang="en-US" sz="1150" dirty="0">
                <a:solidFill>
                  <a:srgbClr val="004549"/>
                </a:solidFill>
                <a:latin typeface="Calibri" pitchFamily="34" charset="0"/>
                <a:ea typeface="Calibri" pitchFamily="34" charset="-122"/>
                <a:cs typeface="Calibri" pitchFamily="34" charset="-120"/>
              </a:rPr>
              <a:t>damage events</a:t>
            </a:r>
            <a:endParaRPr lang="en-US" sz="1150" dirty="0"/>
          </a:p>
        </p:txBody>
      </p:sp>
      <p:sp>
        <p:nvSpPr>
          <p:cNvPr id="20" name="Shape 17"/>
          <p:cNvSpPr/>
          <p:nvPr/>
        </p:nvSpPr>
        <p:spPr>
          <a:xfrm>
            <a:off x="7726680" y="3657600"/>
            <a:ext cx="3429000" cy="1874520"/>
          </a:xfrm>
          <a:prstGeom prst="roundRect">
            <a:avLst>
              <a:gd name="adj" fmla="val 3902"/>
            </a:avLst>
          </a:prstGeom>
          <a:solidFill>
            <a:srgbClr val="D9ECE7"/>
          </a:solidFill>
          <a:ln/>
        </p:spPr>
        <p:txBody>
          <a:bodyPr/>
          <a:lstStyle/>
          <a:p>
            <a:endParaRPr lang="en-US"/>
          </a:p>
        </p:txBody>
      </p:sp>
      <p:sp>
        <p:nvSpPr>
          <p:cNvPr id="21" name="Text 18"/>
          <p:cNvSpPr/>
          <p:nvPr/>
        </p:nvSpPr>
        <p:spPr>
          <a:xfrm>
            <a:off x="7726680" y="3822192"/>
            <a:ext cx="3429000" cy="822960"/>
          </a:xfrm>
          <a:prstGeom prst="rect">
            <a:avLst/>
          </a:prstGeom>
          <a:noFill/>
          <a:ln/>
        </p:spPr>
        <p:txBody>
          <a:bodyPr wrap="square" rtlCol="0" anchor="ctr"/>
          <a:lstStyle/>
          <a:p>
            <a:pPr marL="0" indent="0" algn="ctr">
              <a:buNone/>
            </a:pPr>
            <a:r>
              <a:rPr lang="en-US" sz="3200" b="1" dirty="0">
                <a:solidFill>
                  <a:srgbClr val="43A99A"/>
                </a:solidFill>
                <a:latin typeface="Calibri" pitchFamily="34" charset="0"/>
                <a:ea typeface="Calibri" pitchFamily="34" charset="-122"/>
                <a:cs typeface="Calibri" pitchFamily="34" charset="-120"/>
              </a:rPr>
              <a:t>Zero</a:t>
            </a:r>
            <a:endParaRPr lang="en-US" sz="3200" dirty="0"/>
          </a:p>
        </p:txBody>
      </p:sp>
      <p:sp>
        <p:nvSpPr>
          <p:cNvPr id="22" name="Text 19"/>
          <p:cNvSpPr/>
          <p:nvPr/>
        </p:nvSpPr>
        <p:spPr>
          <a:xfrm>
            <a:off x="7909560" y="4663440"/>
            <a:ext cx="3063240" cy="777240"/>
          </a:xfrm>
          <a:prstGeom prst="rect">
            <a:avLst/>
          </a:prstGeom>
          <a:noFill/>
          <a:ln/>
        </p:spPr>
        <p:txBody>
          <a:bodyPr wrap="square" rtlCol="0" anchor="ctr"/>
          <a:lstStyle/>
          <a:p>
            <a:pPr marL="0" indent="0" algn="ctr">
              <a:lnSpc>
                <a:spcPts val="1300"/>
              </a:lnSpc>
              <a:buNone/>
            </a:pPr>
            <a:r>
              <a:rPr lang="en-US" sz="1150" dirty="0">
                <a:solidFill>
                  <a:srgbClr val="004549"/>
                </a:solidFill>
                <a:latin typeface="Calibri" pitchFamily="34" charset="0"/>
                <a:ea typeface="Calibri" pitchFamily="34" charset="-122"/>
                <a:cs typeface="Calibri" pitchFamily="34" charset="-120"/>
              </a:rPr>
              <a:t>Unauthorized</a:t>
            </a:r>
            <a:endParaRPr lang="en-US" sz="1150" dirty="0"/>
          </a:p>
          <a:p>
            <a:pPr marL="0" indent="0" algn="ctr">
              <a:lnSpc>
                <a:spcPts val="1300"/>
              </a:lnSpc>
              <a:buNone/>
            </a:pPr>
            <a:r>
              <a:rPr lang="en-US" sz="1150" dirty="0">
                <a:solidFill>
                  <a:srgbClr val="004549"/>
                </a:solidFill>
                <a:latin typeface="Calibri" pitchFamily="34" charset="0"/>
                <a:ea typeface="Calibri" pitchFamily="34" charset="-122"/>
                <a:cs typeface="Calibri" pitchFamily="34" charset="-120"/>
              </a:rPr>
              <a:t>gate entries</a:t>
            </a:r>
            <a:endParaRPr lang="en-US" sz="1150" dirty="0"/>
          </a:p>
        </p:txBody>
      </p:sp>
      <p:sp>
        <p:nvSpPr>
          <p:cNvPr id="24" name="Text 20"/>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assets/bg_mi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331720"/>
            <a:ext cx="3291840" cy="2011680"/>
          </a:xfrm>
          <a:prstGeom prst="rect">
            <a:avLst/>
          </a:prstGeom>
          <a:noFill/>
          <a:ln/>
        </p:spPr>
        <p:txBody>
          <a:bodyPr wrap="square" rtlCol="0" anchor="ctr"/>
          <a:lstStyle/>
          <a:p>
            <a:pPr marL="0" indent="0">
              <a:buNone/>
            </a:pPr>
            <a:r>
              <a:rPr lang="en-US" sz="13000" b="1" dirty="0">
                <a:solidFill>
                  <a:srgbClr val="8FCFC3"/>
                </a:solidFill>
                <a:latin typeface="Calibri" pitchFamily="34" charset="0"/>
                <a:ea typeface="Calibri" pitchFamily="34" charset="-122"/>
                <a:cs typeface="Calibri" pitchFamily="34" charset="-120"/>
              </a:rPr>
              <a:t>06</a:t>
            </a:r>
            <a:endParaRPr lang="en-US" sz="13000" dirty="0"/>
          </a:p>
        </p:txBody>
      </p:sp>
      <p:sp>
        <p:nvSpPr>
          <p:cNvPr id="4" name="Text 1"/>
          <p:cNvSpPr/>
          <p:nvPr/>
        </p:nvSpPr>
        <p:spPr>
          <a:xfrm>
            <a:off x="3977640" y="2788920"/>
            <a:ext cx="7406640" cy="1188720"/>
          </a:xfrm>
          <a:prstGeom prst="rect">
            <a:avLst/>
          </a:prstGeom>
          <a:noFill/>
          <a:ln/>
        </p:spPr>
        <p:txBody>
          <a:bodyPr wrap="square" rtlCol="0" anchor="ctr"/>
          <a:lstStyle/>
          <a:p>
            <a:pPr marL="0" indent="0">
              <a:buNone/>
            </a:pPr>
            <a:r>
              <a:rPr lang="en-US" sz="3400" b="1" dirty="0">
                <a:solidFill>
                  <a:srgbClr val="004549"/>
                </a:solidFill>
                <a:latin typeface="Calibri" pitchFamily="34" charset="0"/>
                <a:ea typeface="Calibri" pitchFamily="34" charset="-122"/>
                <a:cs typeface="Calibri" pitchFamily="34" charset="-120"/>
              </a:rPr>
              <a:t>Risk, Nonconformance &amp; Closeout</a:t>
            </a:r>
            <a:endParaRPr lang="en-US" sz="3400" dirty="0"/>
          </a:p>
        </p:txBody>
      </p:sp>
      <p:sp>
        <p:nvSpPr>
          <p:cNvPr id="5" name="Text 2"/>
          <p:cNvSpPr/>
          <p:nvPr/>
        </p:nvSpPr>
        <p:spPr>
          <a:xfrm>
            <a:off x="3995928" y="3611880"/>
            <a:ext cx="7132320" cy="548640"/>
          </a:xfrm>
          <a:prstGeom prst="rect">
            <a:avLst/>
          </a:prstGeom>
          <a:noFill/>
          <a:ln/>
        </p:spPr>
        <p:txBody>
          <a:bodyPr wrap="square" rtlCol="0" anchor="ctr"/>
          <a:lstStyle/>
          <a:p>
            <a:pPr marL="0" indent="0">
              <a:buNone/>
            </a:pPr>
            <a:r>
              <a:rPr lang="en-US" sz="1400" i="1" dirty="0">
                <a:solidFill>
                  <a:srgbClr val="004549"/>
                </a:solidFill>
                <a:latin typeface="Calibri" pitchFamily="34" charset="0"/>
                <a:ea typeface="Calibri" pitchFamily="34" charset="-122"/>
                <a:cs typeface="Calibri" pitchFamily="34" charset="-120"/>
              </a:rPr>
              <a:t>Staying ahead of disruption and closing the project out cleanly</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06 · CONTROL</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Risk &amp; Nonconformance Management</a:t>
            </a:r>
            <a:endParaRPr lang="en-US" sz="3000" dirty="0"/>
          </a:p>
        </p:txBody>
      </p:sp>
      <p:sp>
        <p:nvSpPr>
          <p:cNvPr id="5" name="Shape 2"/>
          <p:cNvSpPr/>
          <p:nvPr/>
        </p:nvSpPr>
        <p:spPr>
          <a:xfrm>
            <a:off x="502920" y="1281888"/>
            <a:ext cx="5212080" cy="4434840"/>
          </a:xfrm>
          <a:prstGeom prst="roundRect">
            <a:avLst>
              <a:gd name="adj" fmla="val 1649"/>
            </a:avLst>
          </a:prstGeom>
          <a:solidFill>
            <a:srgbClr val="D9ECE7"/>
          </a:solidFill>
          <a:ln/>
        </p:spPr>
        <p:txBody>
          <a:bodyPr/>
          <a:lstStyle/>
          <a:p>
            <a:endParaRPr lang="en-US"/>
          </a:p>
        </p:txBody>
      </p:sp>
      <p:sp>
        <p:nvSpPr>
          <p:cNvPr id="6" name="Text 3"/>
          <p:cNvSpPr/>
          <p:nvPr/>
        </p:nvSpPr>
        <p:spPr>
          <a:xfrm>
            <a:off x="777240" y="1464768"/>
            <a:ext cx="4663440" cy="365760"/>
          </a:xfrm>
          <a:prstGeom prst="rect">
            <a:avLst/>
          </a:prstGeom>
          <a:noFill/>
          <a:ln/>
        </p:spPr>
        <p:txBody>
          <a:bodyPr wrap="square" rtlCol="0" anchor="ctr"/>
          <a:lstStyle/>
          <a:p>
            <a:pPr marL="0" indent="0">
              <a:buNone/>
            </a:pPr>
            <a:r>
              <a:rPr lang="en-US" sz="1500" b="1" dirty="0">
                <a:solidFill>
                  <a:srgbClr val="004549"/>
                </a:solidFill>
                <a:latin typeface="Calibri" pitchFamily="34" charset="0"/>
                <a:ea typeface="Calibri" pitchFamily="34" charset="-122"/>
                <a:cs typeface="Calibri" pitchFamily="34" charset="-120"/>
              </a:rPr>
              <a:t>Top Logistics Risks</a:t>
            </a:r>
            <a:endParaRPr lang="en-US" sz="1500" dirty="0"/>
          </a:p>
        </p:txBody>
      </p:sp>
      <p:sp>
        <p:nvSpPr>
          <p:cNvPr id="7" name="Shape 4"/>
          <p:cNvSpPr/>
          <p:nvPr/>
        </p:nvSpPr>
        <p:spPr>
          <a:xfrm>
            <a:off x="822960" y="2040840"/>
            <a:ext cx="82296" cy="82296"/>
          </a:xfrm>
          <a:prstGeom prst="ellipse">
            <a:avLst/>
          </a:prstGeom>
          <a:solidFill>
            <a:srgbClr val="43A99A"/>
          </a:solidFill>
          <a:ln/>
        </p:spPr>
        <p:txBody>
          <a:bodyPr/>
          <a:lstStyle/>
          <a:p>
            <a:endParaRPr lang="en-US"/>
          </a:p>
        </p:txBody>
      </p:sp>
      <p:sp>
        <p:nvSpPr>
          <p:cNvPr id="8" name="Text 5"/>
          <p:cNvSpPr/>
          <p:nvPr/>
        </p:nvSpPr>
        <p:spPr>
          <a:xfrm>
            <a:off x="1051560" y="1912824"/>
            <a:ext cx="4480560" cy="411480"/>
          </a:xfrm>
          <a:prstGeom prst="rect">
            <a:avLst/>
          </a:prstGeom>
          <a:noFill/>
          <a:ln/>
        </p:spPr>
        <p:txBody>
          <a:bodyPr wrap="square" rtlCol="0" anchor="ctr"/>
          <a:lstStyle/>
          <a:p>
            <a:pPr marL="0" indent="0">
              <a:buNone/>
            </a:pPr>
            <a:r>
              <a:rPr lang="en-US" sz="1200" dirty="0">
                <a:solidFill>
                  <a:srgbClr val="2F3235"/>
                </a:solidFill>
                <a:latin typeface="Calibri" pitchFamily="34" charset="0"/>
                <a:ea typeface="Calibri" pitchFamily="34" charset="-122"/>
                <a:cs typeface="Calibri" pitchFamily="34" charset="-120"/>
              </a:rPr>
              <a:t>Delivery delays &amp; supplier failure</a:t>
            </a:r>
            <a:endParaRPr lang="en-US" sz="1200" dirty="0"/>
          </a:p>
        </p:txBody>
      </p:sp>
      <p:sp>
        <p:nvSpPr>
          <p:cNvPr id="9" name="Shape 6"/>
          <p:cNvSpPr/>
          <p:nvPr/>
        </p:nvSpPr>
        <p:spPr>
          <a:xfrm>
            <a:off x="822960" y="2607768"/>
            <a:ext cx="82296" cy="82296"/>
          </a:xfrm>
          <a:prstGeom prst="ellipse">
            <a:avLst/>
          </a:prstGeom>
          <a:solidFill>
            <a:srgbClr val="43A99A"/>
          </a:solidFill>
          <a:ln/>
        </p:spPr>
        <p:txBody>
          <a:bodyPr/>
          <a:lstStyle/>
          <a:p>
            <a:endParaRPr lang="en-US"/>
          </a:p>
        </p:txBody>
      </p:sp>
      <p:sp>
        <p:nvSpPr>
          <p:cNvPr id="10" name="Text 7"/>
          <p:cNvSpPr/>
          <p:nvPr/>
        </p:nvSpPr>
        <p:spPr>
          <a:xfrm>
            <a:off x="1051560" y="2479752"/>
            <a:ext cx="4480560" cy="411480"/>
          </a:xfrm>
          <a:prstGeom prst="rect">
            <a:avLst/>
          </a:prstGeom>
          <a:noFill/>
          <a:ln/>
        </p:spPr>
        <p:txBody>
          <a:bodyPr wrap="square" rtlCol="0" anchor="ctr"/>
          <a:lstStyle/>
          <a:p>
            <a:pPr marL="0" indent="0">
              <a:buNone/>
            </a:pPr>
            <a:r>
              <a:rPr lang="en-US" sz="1200" dirty="0">
                <a:solidFill>
                  <a:srgbClr val="2F3235"/>
                </a:solidFill>
                <a:latin typeface="Calibri" pitchFamily="34" charset="0"/>
                <a:ea typeface="Calibri" pitchFamily="34" charset="-122"/>
                <a:cs typeface="Calibri" pitchFamily="34" charset="-120"/>
              </a:rPr>
              <a:t>Access or route restrictions</a:t>
            </a:r>
            <a:endParaRPr lang="en-US" sz="1200" dirty="0"/>
          </a:p>
        </p:txBody>
      </p:sp>
      <p:sp>
        <p:nvSpPr>
          <p:cNvPr id="11" name="Shape 8"/>
          <p:cNvSpPr/>
          <p:nvPr/>
        </p:nvSpPr>
        <p:spPr>
          <a:xfrm>
            <a:off x="822960" y="3174696"/>
            <a:ext cx="82296" cy="82296"/>
          </a:xfrm>
          <a:prstGeom prst="ellipse">
            <a:avLst/>
          </a:prstGeom>
          <a:solidFill>
            <a:srgbClr val="43A99A"/>
          </a:solidFill>
          <a:ln/>
        </p:spPr>
        <p:txBody>
          <a:bodyPr/>
          <a:lstStyle/>
          <a:p>
            <a:endParaRPr lang="en-US"/>
          </a:p>
        </p:txBody>
      </p:sp>
      <p:sp>
        <p:nvSpPr>
          <p:cNvPr id="12" name="Text 9"/>
          <p:cNvSpPr/>
          <p:nvPr/>
        </p:nvSpPr>
        <p:spPr>
          <a:xfrm>
            <a:off x="1051560" y="3046680"/>
            <a:ext cx="4480560" cy="411480"/>
          </a:xfrm>
          <a:prstGeom prst="rect">
            <a:avLst/>
          </a:prstGeom>
          <a:noFill/>
          <a:ln/>
        </p:spPr>
        <p:txBody>
          <a:bodyPr wrap="square" rtlCol="0" anchor="ctr"/>
          <a:lstStyle/>
          <a:p>
            <a:pPr marL="0" indent="0">
              <a:buNone/>
            </a:pPr>
            <a:r>
              <a:rPr lang="en-US" sz="1200" dirty="0">
                <a:solidFill>
                  <a:srgbClr val="2F3235"/>
                </a:solidFill>
                <a:latin typeface="Calibri" pitchFamily="34" charset="0"/>
                <a:ea typeface="Calibri" pitchFamily="34" charset="-122"/>
                <a:cs typeface="Calibri" pitchFamily="34" charset="-120"/>
              </a:rPr>
              <a:t>Traffic congestion &amp; lane reductions</a:t>
            </a:r>
            <a:endParaRPr lang="en-US" sz="1200" dirty="0"/>
          </a:p>
        </p:txBody>
      </p:sp>
      <p:sp>
        <p:nvSpPr>
          <p:cNvPr id="13" name="Shape 10"/>
          <p:cNvSpPr/>
          <p:nvPr/>
        </p:nvSpPr>
        <p:spPr>
          <a:xfrm>
            <a:off x="822960" y="3741624"/>
            <a:ext cx="82296" cy="82296"/>
          </a:xfrm>
          <a:prstGeom prst="ellipse">
            <a:avLst/>
          </a:prstGeom>
          <a:solidFill>
            <a:srgbClr val="43A99A"/>
          </a:solidFill>
          <a:ln/>
        </p:spPr>
        <p:txBody>
          <a:bodyPr/>
          <a:lstStyle/>
          <a:p>
            <a:endParaRPr lang="en-US"/>
          </a:p>
        </p:txBody>
      </p:sp>
      <p:sp>
        <p:nvSpPr>
          <p:cNvPr id="14" name="Text 11"/>
          <p:cNvSpPr/>
          <p:nvPr/>
        </p:nvSpPr>
        <p:spPr>
          <a:xfrm>
            <a:off x="1051560" y="3613608"/>
            <a:ext cx="4480560" cy="411480"/>
          </a:xfrm>
          <a:prstGeom prst="rect">
            <a:avLst/>
          </a:prstGeom>
          <a:noFill/>
          <a:ln/>
        </p:spPr>
        <p:txBody>
          <a:bodyPr wrap="square" rtlCol="0" anchor="ctr"/>
          <a:lstStyle/>
          <a:p>
            <a:pPr marL="0" indent="0">
              <a:buNone/>
            </a:pPr>
            <a:r>
              <a:rPr lang="en-US" sz="1200" dirty="0">
                <a:solidFill>
                  <a:srgbClr val="2F3235"/>
                </a:solidFill>
                <a:latin typeface="Calibri" pitchFamily="34" charset="0"/>
                <a:ea typeface="Calibri" pitchFamily="34" charset="-122"/>
                <a:cs typeface="Calibri" pitchFamily="34" charset="-120"/>
              </a:rPr>
              <a:t>Utility conflicts &amp; workfront readiness</a:t>
            </a:r>
            <a:endParaRPr lang="en-US" sz="1200" dirty="0"/>
          </a:p>
        </p:txBody>
      </p:sp>
      <p:sp>
        <p:nvSpPr>
          <p:cNvPr id="15" name="Shape 12"/>
          <p:cNvSpPr/>
          <p:nvPr/>
        </p:nvSpPr>
        <p:spPr>
          <a:xfrm>
            <a:off x="822960" y="4308552"/>
            <a:ext cx="82296" cy="82296"/>
          </a:xfrm>
          <a:prstGeom prst="ellipse">
            <a:avLst/>
          </a:prstGeom>
          <a:solidFill>
            <a:srgbClr val="43A99A"/>
          </a:solidFill>
          <a:ln/>
        </p:spPr>
        <p:txBody>
          <a:bodyPr/>
          <a:lstStyle/>
          <a:p>
            <a:endParaRPr lang="en-US"/>
          </a:p>
        </p:txBody>
      </p:sp>
      <p:sp>
        <p:nvSpPr>
          <p:cNvPr id="16" name="Text 13"/>
          <p:cNvSpPr/>
          <p:nvPr/>
        </p:nvSpPr>
        <p:spPr>
          <a:xfrm>
            <a:off x="1051560" y="4180536"/>
            <a:ext cx="4480560" cy="411480"/>
          </a:xfrm>
          <a:prstGeom prst="rect">
            <a:avLst/>
          </a:prstGeom>
          <a:noFill/>
          <a:ln/>
        </p:spPr>
        <p:txBody>
          <a:bodyPr wrap="square" rtlCol="0" anchor="ctr"/>
          <a:lstStyle/>
          <a:p>
            <a:pPr marL="0" indent="0">
              <a:buNone/>
            </a:pPr>
            <a:r>
              <a:rPr lang="en-US" sz="1200" dirty="0">
                <a:solidFill>
                  <a:srgbClr val="2F3235"/>
                </a:solidFill>
                <a:latin typeface="Calibri" pitchFamily="34" charset="0"/>
                <a:ea typeface="Calibri" pitchFamily="34" charset="-122"/>
                <a:cs typeface="Calibri" pitchFamily="34" charset="-120"/>
              </a:rPr>
              <a:t>Equipment or crane-access conflicts</a:t>
            </a:r>
            <a:endParaRPr lang="en-US" sz="1200" dirty="0"/>
          </a:p>
        </p:txBody>
      </p:sp>
      <p:sp>
        <p:nvSpPr>
          <p:cNvPr id="17" name="Shape 14"/>
          <p:cNvSpPr/>
          <p:nvPr/>
        </p:nvSpPr>
        <p:spPr>
          <a:xfrm>
            <a:off x="822960" y="4875480"/>
            <a:ext cx="82296" cy="82296"/>
          </a:xfrm>
          <a:prstGeom prst="ellipse">
            <a:avLst/>
          </a:prstGeom>
          <a:solidFill>
            <a:srgbClr val="43A99A"/>
          </a:solidFill>
          <a:ln/>
        </p:spPr>
        <p:txBody>
          <a:bodyPr/>
          <a:lstStyle/>
          <a:p>
            <a:endParaRPr lang="en-US"/>
          </a:p>
        </p:txBody>
      </p:sp>
      <p:sp>
        <p:nvSpPr>
          <p:cNvPr id="18" name="Text 15"/>
          <p:cNvSpPr/>
          <p:nvPr/>
        </p:nvSpPr>
        <p:spPr>
          <a:xfrm>
            <a:off x="1051560" y="4747464"/>
            <a:ext cx="4480560" cy="411480"/>
          </a:xfrm>
          <a:prstGeom prst="rect">
            <a:avLst/>
          </a:prstGeom>
          <a:noFill/>
          <a:ln/>
        </p:spPr>
        <p:txBody>
          <a:bodyPr wrap="square" rtlCol="0" anchor="ctr"/>
          <a:lstStyle/>
          <a:p>
            <a:pPr marL="0" indent="0">
              <a:buNone/>
            </a:pPr>
            <a:r>
              <a:rPr lang="en-US" sz="1200" dirty="0">
                <a:solidFill>
                  <a:srgbClr val="2F3235"/>
                </a:solidFill>
                <a:latin typeface="Calibri" pitchFamily="34" charset="0"/>
                <a:ea typeface="Calibri" pitchFamily="34" charset="-122"/>
                <a:cs typeface="Calibri" pitchFamily="34" charset="-120"/>
              </a:rPr>
              <a:t>Weather, dust and visibility</a:t>
            </a:r>
            <a:endParaRPr lang="en-US" sz="1200" dirty="0"/>
          </a:p>
        </p:txBody>
      </p:sp>
      <p:sp>
        <p:nvSpPr>
          <p:cNvPr id="19" name="Text 16"/>
          <p:cNvSpPr/>
          <p:nvPr/>
        </p:nvSpPr>
        <p:spPr>
          <a:xfrm>
            <a:off x="777240" y="5259528"/>
            <a:ext cx="4663440" cy="457200"/>
          </a:xfrm>
          <a:prstGeom prst="rect">
            <a:avLst/>
          </a:prstGeom>
          <a:noFill/>
          <a:ln/>
        </p:spPr>
        <p:txBody>
          <a:bodyPr wrap="square" rtlCol="0" anchor="ctr"/>
          <a:lstStyle/>
          <a:p>
            <a:pPr marL="0" indent="0">
              <a:buNone/>
            </a:pPr>
            <a:r>
              <a:rPr lang="en-US" sz="1000" i="1" dirty="0">
                <a:solidFill>
                  <a:srgbClr val="5A626E"/>
                </a:solidFill>
                <a:latin typeface="Calibri" pitchFamily="34" charset="0"/>
                <a:ea typeface="Calibri" pitchFamily="34" charset="-122"/>
                <a:cs typeface="Calibri" pitchFamily="34" charset="-120"/>
              </a:rPr>
              <a:t>Controls: alternative suppliers, backup routes, buffer stock, off-peak delivery, standby lifting equipment, early authority engagement.</a:t>
            </a:r>
            <a:endParaRPr lang="en-US" sz="1000" dirty="0"/>
          </a:p>
        </p:txBody>
      </p:sp>
      <p:sp>
        <p:nvSpPr>
          <p:cNvPr id="20" name="Shape 17"/>
          <p:cNvSpPr/>
          <p:nvPr/>
        </p:nvSpPr>
        <p:spPr>
          <a:xfrm>
            <a:off x="5989320" y="1247380"/>
            <a:ext cx="5715000" cy="4709160"/>
          </a:xfrm>
          <a:prstGeom prst="roundRect">
            <a:avLst>
              <a:gd name="adj" fmla="val 1649"/>
            </a:avLst>
          </a:prstGeom>
          <a:solidFill>
            <a:srgbClr val="FFFFFF"/>
          </a:solidFill>
          <a:ln w="12700">
            <a:solidFill>
              <a:srgbClr val="DCEAE7"/>
            </a:solidFill>
            <a:prstDash val="solid"/>
          </a:ln>
        </p:spPr>
        <p:txBody>
          <a:bodyPr/>
          <a:lstStyle/>
          <a:p>
            <a:endParaRPr lang="en-US"/>
          </a:p>
        </p:txBody>
      </p:sp>
      <p:sp>
        <p:nvSpPr>
          <p:cNvPr id="21" name="Text 18"/>
          <p:cNvSpPr/>
          <p:nvPr/>
        </p:nvSpPr>
        <p:spPr>
          <a:xfrm>
            <a:off x="6263640" y="1430260"/>
            <a:ext cx="5120640" cy="365760"/>
          </a:xfrm>
          <a:prstGeom prst="rect">
            <a:avLst/>
          </a:prstGeom>
          <a:noFill/>
          <a:ln/>
        </p:spPr>
        <p:txBody>
          <a:bodyPr wrap="square" rtlCol="0" anchor="ctr"/>
          <a:lstStyle/>
          <a:p>
            <a:pPr marL="0" indent="0">
              <a:buNone/>
            </a:pPr>
            <a:r>
              <a:rPr lang="en-US" sz="1500" b="1" dirty="0">
                <a:solidFill>
                  <a:srgbClr val="004549"/>
                </a:solidFill>
                <a:latin typeface="Calibri" pitchFamily="34" charset="0"/>
                <a:ea typeface="Calibri" pitchFamily="34" charset="-122"/>
                <a:cs typeface="Calibri" pitchFamily="34" charset="-120"/>
              </a:rPr>
              <a:t>Nonconformance Handling</a:t>
            </a:r>
            <a:endParaRPr lang="en-US" sz="1500" dirty="0"/>
          </a:p>
        </p:txBody>
      </p:sp>
      <p:sp>
        <p:nvSpPr>
          <p:cNvPr id="22" name="Shape 19"/>
          <p:cNvSpPr/>
          <p:nvPr/>
        </p:nvSpPr>
        <p:spPr>
          <a:xfrm>
            <a:off x="6263640" y="1933180"/>
            <a:ext cx="1481328" cy="502920"/>
          </a:xfrm>
          <a:prstGeom prst="roundRect">
            <a:avLst>
              <a:gd name="adj" fmla="val 49091"/>
            </a:avLst>
          </a:prstGeom>
          <a:solidFill>
            <a:srgbClr val="43A99A"/>
          </a:solidFill>
          <a:ln/>
        </p:spPr>
        <p:txBody>
          <a:bodyPr/>
          <a:lstStyle/>
          <a:p>
            <a:endParaRPr lang="en-US"/>
          </a:p>
        </p:txBody>
      </p:sp>
      <p:sp>
        <p:nvSpPr>
          <p:cNvPr id="23" name="Text 20"/>
          <p:cNvSpPr/>
          <p:nvPr/>
        </p:nvSpPr>
        <p:spPr>
          <a:xfrm>
            <a:off x="6263640" y="1933180"/>
            <a:ext cx="1481328"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Record</a:t>
            </a:r>
            <a:endParaRPr lang="en-US" sz="1050" dirty="0"/>
          </a:p>
        </p:txBody>
      </p:sp>
      <p:sp>
        <p:nvSpPr>
          <p:cNvPr id="24" name="Shape 21"/>
          <p:cNvSpPr/>
          <p:nvPr/>
        </p:nvSpPr>
        <p:spPr>
          <a:xfrm>
            <a:off x="7891272" y="1933180"/>
            <a:ext cx="1481328" cy="502920"/>
          </a:xfrm>
          <a:prstGeom prst="roundRect">
            <a:avLst>
              <a:gd name="adj" fmla="val 49091"/>
            </a:avLst>
          </a:prstGeom>
          <a:solidFill>
            <a:srgbClr val="43A99A"/>
          </a:solidFill>
          <a:ln/>
        </p:spPr>
        <p:txBody>
          <a:bodyPr/>
          <a:lstStyle/>
          <a:p>
            <a:endParaRPr lang="en-US"/>
          </a:p>
        </p:txBody>
      </p:sp>
      <p:sp>
        <p:nvSpPr>
          <p:cNvPr id="25" name="Text 22"/>
          <p:cNvSpPr/>
          <p:nvPr/>
        </p:nvSpPr>
        <p:spPr>
          <a:xfrm>
            <a:off x="7891272" y="1933180"/>
            <a:ext cx="1481328"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Assign</a:t>
            </a:r>
            <a:endParaRPr lang="en-US" sz="1050" dirty="0"/>
          </a:p>
        </p:txBody>
      </p:sp>
      <p:sp>
        <p:nvSpPr>
          <p:cNvPr id="26" name="Shape 23"/>
          <p:cNvSpPr/>
          <p:nvPr/>
        </p:nvSpPr>
        <p:spPr>
          <a:xfrm>
            <a:off x="9518904" y="1933180"/>
            <a:ext cx="1481328" cy="502920"/>
          </a:xfrm>
          <a:prstGeom prst="roundRect">
            <a:avLst>
              <a:gd name="adj" fmla="val 49091"/>
            </a:avLst>
          </a:prstGeom>
          <a:solidFill>
            <a:srgbClr val="43A99A"/>
          </a:solidFill>
          <a:ln/>
        </p:spPr>
        <p:txBody>
          <a:bodyPr/>
          <a:lstStyle/>
          <a:p>
            <a:endParaRPr lang="en-US"/>
          </a:p>
        </p:txBody>
      </p:sp>
      <p:sp>
        <p:nvSpPr>
          <p:cNvPr id="27" name="Text 24"/>
          <p:cNvSpPr/>
          <p:nvPr/>
        </p:nvSpPr>
        <p:spPr>
          <a:xfrm>
            <a:off x="9518904" y="1933180"/>
            <a:ext cx="1481328"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Risk-rate</a:t>
            </a:r>
            <a:endParaRPr lang="en-US" sz="1050" dirty="0"/>
          </a:p>
        </p:txBody>
      </p:sp>
      <p:sp>
        <p:nvSpPr>
          <p:cNvPr id="28" name="Shape 25"/>
          <p:cNvSpPr/>
          <p:nvPr/>
        </p:nvSpPr>
        <p:spPr>
          <a:xfrm>
            <a:off x="6263640" y="2591548"/>
            <a:ext cx="1481328" cy="502920"/>
          </a:xfrm>
          <a:prstGeom prst="roundRect">
            <a:avLst>
              <a:gd name="adj" fmla="val 49091"/>
            </a:avLst>
          </a:prstGeom>
          <a:solidFill>
            <a:srgbClr val="43A99A"/>
          </a:solidFill>
          <a:ln/>
        </p:spPr>
        <p:txBody>
          <a:bodyPr/>
          <a:lstStyle/>
          <a:p>
            <a:endParaRPr lang="en-US"/>
          </a:p>
        </p:txBody>
      </p:sp>
      <p:sp>
        <p:nvSpPr>
          <p:cNvPr id="29" name="Text 26"/>
          <p:cNvSpPr/>
          <p:nvPr/>
        </p:nvSpPr>
        <p:spPr>
          <a:xfrm>
            <a:off x="6263640" y="2591548"/>
            <a:ext cx="1481328"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Correct</a:t>
            </a:r>
            <a:endParaRPr lang="en-US" sz="1050" dirty="0"/>
          </a:p>
        </p:txBody>
      </p:sp>
      <p:sp>
        <p:nvSpPr>
          <p:cNvPr id="30" name="Shape 27"/>
          <p:cNvSpPr/>
          <p:nvPr/>
        </p:nvSpPr>
        <p:spPr>
          <a:xfrm>
            <a:off x="7891272" y="2591548"/>
            <a:ext cx="1481328" cy="502920"/>
          </a:xfrm>
          <a:prstGeom prst="roundRect">
            <a:avLst>
              <a:gd name="adj" fmla="val 49091"/>
            </a:avLst>
          </a:prstGeom>
          <a:solidFill>
            <a:srgbClr val="43A99A"/>
          </a:solidFill>
          <a:ln/>
        </p:spPr>
        <p:txBody>
          <a:bodyPr/>
          <a:lstStyle/>
          <a:p>
            <a:endParaRPr lang="en-US"/>
          </a:p>
        </p:txBody>
      </p:sp>
      <p:sp>
        <p:nvSpPr>
          <p:cNvPr id="31" name="Text 28"/>
          <p:cNvSpPr/>
          <p:nvPr/>
        </p:nvSpPr>
        <p:spPr>
          <a:xfrm>
            <a:off x="7891272" y="2591548"/>
            <a:ext cx="1481328"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Verify</a:t>
            </a:r>
            <a:endParaRPr lang="en-US" sz="1050" dirty="0"/>
          </a:p>
        </p:txBody>
      </p:sp>
      <p:sp>
        <p:nvSpPr>
          <p:cNvPr id="32" name="Shape 29"/>
          <p:cNvSpPr/>
          <p:nvPr/>
        </p:nvSpPr>
        <p:spPr>
          <a:xfrm>
            <a:off x="9518904" y="2591548"/>
            <a:ext cx="1481328" cy="502920"/>
          </a:xfrm>
          <a:prstGeom prst="roundRect">
            <a:avLst>
              <a:gd name="adj" fmla="val 49091"/>
            </a:avLst>
          </a:prstGeom>
          <a:solidFill>
            <a:srgbClr val="43A99A"/>
          </a:solidFill>
          <a:ln/>
        </p:spPr>
        <p:txBody>
          <a:bodyPr/>
          <a:lstStyle/>
          <a:p>
            <a:endParaRPr lang="en-US"/>
          </a:p>
        </p:txBody>
      </p:sp>
      <p:sp>
        <p:nvSpPr>
          <p:cNvPr id="33" name="Text 30"/>
          <p:cNvSpPr/>
          <p:nvPr/>
        </p:nvSpPr>
        <p:spPr>
          <a:xfrm>
            <a:off x="9518904" y="2591548"/>
            <a:ext cx="1481328"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Close</a:t>
            </a:r>
            <a:endParaRPr lang="en-US" sz="1050" dirty="0"/>
          </a:p>
        </p:txBody>
      </p:sp>
      <p:sp>
        <p:nvSpPr>
          <p:cNvPr id="34" name="Text 31"/>
          <p:cNvSpPr/>
          <p:nvPr/>
        </p:nvSpPr>
        <p:spPr>
          <a:xfrm>
            <a:off x="6263640" y="3304780"/>
            <a:ext cx="5166360" cy="685800"/>
          </a:xfrm>
          <a:prstGeom prst="rect">
            <a:avLst/>
          </a:prstGeom>
          <a:noFill/>
          <a:ln/>
        </p:spPr>
        <p:txBody>
          <a:bodyPr wrap="square" rtlCol="0" anchor="ctr"/>
          <a:lstStyle/>
          <a:p>
            <a:r>
              <a:rPr lang="en-US" sz="1200" dirty="0">
                <a:solidFill>
                  <a:srgbClr val="2F3235"/>
                </a:solidFill>
                <a:latin typeface="Calibri" pitchFamily="34" charset="0"/>
                <a:ea typeface="Calibri" pitchFamily="34" charset="-122"/>
                <a:cs typeface="Calibri" pitchFamily="34" charset="-120"/>
              </a:rPr>
              <a:t>Repeated or serious nonconformities are escalated to the Project Manager and HSE Manager and may result in suspension of the supplier or transporter.</a:t>
            </a:r>
            <a:endParaRPr lang="en-US" sz="1200" dirty="0"/>
          </a:p>
        </p:txBody>
      </p:sp>
      <p:sp>
        <p:nvSpPr>
          <p:cNvPr id="35" name="Text 32"/>
          <p:cNvSpPr/>
          <p:nvPr/>
        </p:nvSpPr>
        <p:spPr>
          <a:xfrm>
            <a:off x="6263640" y="4127740"/>
            <a:ext cx="4572000" cy="32004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Typical nonconformities</a:t>
            </a:r>
            <a:endParaRPr lang="en-US" sz="1250" dirty="0"/>
          </a:p>
        </p:txBody>
      </p:sp>
      <p:sp>
        <p:nvSpPr>
          <p:cNvPr id="36" name="Text 33"/>
          <p:cNvSpPr/>
          <p:nvPr/>
        </p:nvSpPr>
        <p:spPr>
          <a:xfrm>
            <a:off x="6263640" y="4539220"/>
            <a:ext cx="516636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  Unauthorized or unbooked delivery</a:t>
            </a:r>
            <a:endParaRPr lang="en-US" sz="1100" dirty="0"/>
          </a:p>
        </p:txBody>
      </p:sp>
      <p:sp>
        <p:nvSpPr>
          <p:cNvPr id="37" name="Text 34"/>
          <p:cNvSpPr/>
          <p:nvPr/>
        </p:nvSpPr>
        <p:spPr>
          <a:xfrm>
            <a:off x="6263640" y="4877548"/>
            <a:ext cx="516636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  Use of an unapproved route</a:t>
            </a:r>
            <a:endParaRPr lang="en-US" sz="1100" dirty="0"/>
          </a:p>
        </p:txBody>
      </p:sp>
      <p:sp>
        <p:nvSpPr>
          <p:cNvPr id="38" name="Text 35"/>
          <p:cNvSpPr/>
          <p:nvPr/>
        </p:nvSpPr>
        <p:spPr>
          <a:xfrm>
            <a:off x="6263640" y="5215876"/>
            <a:ext cx="516636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  Missing permit, certificate or inspection</a:t>
            </a:r>
            <a:endParaRPr lang="en-US" sz="1100" dirty="0"/>
          </a:p>
        </p:txBody>
      </p:sp>
      <p:sp>
        <p:nvSpPr>
          <p:cNvPr id="39" name="Text 36"/>
          <p:cNvSpPr/>
          <p:nvPr/>
        </p:nvSpPr>
        <p:spPr>
          <a:xfrm>
            <a:off x="6263640" y="5554204"/>
            <a:ext cx="516636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  Blocked emergency or public access</a:t>
            </a:r>
            <a:endParaRPr lang="en-US" sz="1100" dirty="0"/>
          </a:p>
        </p:txBody>
      </p:sp>
      <p:sp>
        <p:nvSpPr>
          <p:cNvPr id="41" name="Text 37"/>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06 · CLOSEOUT</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Demobilization, Handover &amp; Our Commitment</a:t>
            </a:r>
            <a:endParaRPr lang="en-US" sz="3000" dirty="0"/>
          </a:p>
        </p:txBody>
      </p:sp>
      <p:sp>
        <p:nvSpPr>
          <p:cNvPr id="5" name="Shape 2"/>
          <p:cNvSpPr/>
          <p:nvPr/>
        </p:nvSpPr>
        <p:spPr>
          <a:xfrm>
            <a:off x="502920" y="1581912"/>
            <a:ext cx="100584" cy="100584"/>
          </a:xfrm>
          <a:prstGeom prst="ellipse">
            <a:avLst/>
          </a:prstGeom>
          <a:solidFill>
            <a:srgbClr val="43A99A"/>
          </a:solidFill>
          <a:ln/>
        </p:spPr>
        <p:txBody>
          <a:bodyPr/>
          <a:lstStyle/>
          <a:p>
            <a:endParaRPr lang="en-US"/>
          </a:p>
        </p:txBody>
      </p:sp>
      <p:sp>
        <p:nvSpPr>
          <p:cNvPr id="6" name="Text 3"/>
          <p:cNvSpPr/>
          <p:nvPr/>
        </p:nvSpPr>
        <p:spPr>
          <a:xfrm>
            <a:off x="749808" y="1463040"/>
            <a:ext cx="5577840" cy="45720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Removal of temporary facilities, stations and utilities.</a:t>
            </a:r>
            <a:endParaRPr lang="en-US" sz="1250" dirty="0"/>
          </a:p>
        </p:txBody>
      </p:sp>
      <p:sp>
        <p:nvSpPr>
          <p:cNvPr id="7" name="Shape 4"/>
          <p:cNvSpPr/>
          <p:nvPr/>
        </p:nvSpPr>
        <p:spPr>
          <a:xfrm>
            <a:off x="502920" y="2093976"/>
            <a:ext cx="100584" cy="100584"/>
          </a:xfrm>
          <a:prstGeom prst="ellipse">
            <a:avLst/>
          </a:prstGeom>
          <a:solidFill>
            <a:srgbClr val="43A99A"/>
          </a:solidFill>
          <a:ln/>
        </p:spPr>
        <p:txBody>
          <a:bodyPr/>
          <a:lstStyle/>
          <a:p>
            <a:endParaRPr lang="en-US"/>
          </a:p>
        </p:txBody>
      </p:sp>
      <p:sp>
        <p:nvSpPr>
          <p:cNvPr id="8" name="Text 5"/>
          <p:cNvSpPr/>
          <p:nvPr/>
        </p:nvSpPr>
        <p:spPr>
          <a:xfrm>
            <a:off x="749808" y="1975104"/>
            <a:ext cx="5577840" cy="45720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Equipment, vehicle and asset demobilization and reconciliation.</a:t>
            </a:r>
            <a:endParaRPr lang="en-US" sz="1250" dirty="0"/>
          </a:p>
        </p:txBody>
      </p:sp>
      <p:sp>
        <p:nvSpPr>
          <p:cNvPr id="9" name="Shape 6"/>
          <p:cNvSpPr/>
          <p:nvPr/>
        </p:nvSpPr>
        <p:spPr>
          <a:xfrm>
            <a:off x="502920" y="2606040"/>
            <a:ext cx="100584" cy="100584"/>
          </a:xfrm>
          <a:prstGeom prst="ellipse">
            <a:avLst/>
          </a:prstGeom>
          <a:solidFill>
            <a:srgbClr val="43A99A"/>
          </a:solidFill>
          <a:ln/>
        </p:spPr>
        <p:txBody>
          <a:bodyPr/>
          <a:lstStyle/>
          <a:p>
            <a:endParaRPr lang="en-US"/>
          </a:p>
        </p:txBody>
      </p:sp>
      <p:sp>
        <p:nvSpPr>
          <p:cNvPr id="10" name="Text 7"/>
          <p:cNvSpPr/>
          <p:nvPr/>
        </p:nvSpPr>
        <p:spPr>
          <a:xfrm>
            <a:off x="749808" y="2487168"/>
            <a:ext cx="5577840" cy="45720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Reinstatement of temporary diversions and laydown areas.</a:t>
            </a:r>
            <a:endParaRPr lang="en-US" sz="1250" dirty="0"/>
          </a:p>
        </p:txBody>
      </p:sp>
      <p:sp>
        <p:nvSpPr>
          <p:cNvPr id="11" name="Shape 8"/>
          <p:cNvSpPr/>
          <p:nvPr/>
        </p:nvSpPr>
        <p:spPr>
          <a:xfrm>
            <a:off x="502920" y="3118104"/>
            <a:ext cx="100584" cy="100584"/>
          </a:xfrm>
          <a:prstGeom prst="ellipse">
            <a:avLst/>
          </a:prstGeom>
          <a:solidFill>
            <a:srgbClr val="43A99A"/>
          </a:solidFill>
          <a:ln/>
        </p:spPr>
        <p:txBody>
          <a:bodyPr/>
          <a:lstStyle/>
          <a:p>
            <a:endParaRPr lang="en-US"/>
          </a:p>
        </p:txBody>
      </p:sp>
      <p:sp>
        <p:nvSpPr>
          <p:cNvPr id="12" name="Text 9"/>
          <p:cNvSpPr/>
          <p:nvPr/>
        </p:nvSpPr>
        <p:spPr>
          <a:xfrm>
            <a:off x="749808" y="2999232"/>
            <a:ext cx="5577840" cy="45720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Permit and authority closeout, record handover and archive.</a:t>
            </a:r>
            <a:endParaRPr lang="en-US" sz="1250" dirty="0"/>
          </a:p>
        </p:txBody>
      </p:sp>
      <p:sp>
        <p:nvSpPr>
          <p:cNvPr id="13" name="Shape 10"/>
          <p:cNvSpPr/>
          <p:nvPr/>
        </p:nvSpPr>
        <p:spPr>
          <a:xfrm>
            <a:off x="502920" y="3630168"/>
            <a:ext cx="100584" cy="100584"/>
          </a:xfrm>
          <a:prstGeom prst="ellipse">
            <a:avLst/>
          </a:prstGeom>
          <a:solidFill>
            <a:srgbClr val="43A99A"/>
          </a:solidFill>
          <a:ln/>
        </p:spPr>
        <p:txBody>
          <a:bodyPr/>
          <a:lstStyle/>
          <a:p>
            <a:endParaRPr lang="en-US"/>
          </a:p>
        </p:txBody>
      </p:sp>
      <p:sp>
        <p:nvSpPr>
          <p:cNvPr id="14" name="Text 11"/>
          <p:cNvSpPr/>
          <p:nvPr/>
        </p:nvSpPr>
        <p:spPr>
          <a:xfrm>
            <a:off x="749808" y="3511296"/>
            <a:ext cx="5577840" cy="45720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Lessons-learned workshop and closeout report.</a:t>
            </a:r>
            <a:endParaRPr lang="en-US" sz="1250" dirty="0"/>
          </a:p>
        </p:txBody>
      </p:sp>
      <p:sp>
        <p:nvSpPr>
          <p:cNvPr id="15" name="Text 12"/>
          <p:cNvSpPr/>
          <p:nvPr/>
        </p:nvSpPr>
        <p:spPr>
          <a:xfrm>
            <a:off x="502920" y="4178808"/>
            <a:ext cx="5577840" cy="548640"/>
          </a:xfrm>
          <a:prstGeom prst="rect">
            <a:avLst/>
          </a:prstGeom>
          <a:noFill/>
          <a:ln/>
        </p:spPr>
        <p:txBody>
          <a:bodyPr wrap="square" rtlCol="0" anchor="ctr"/>
          <a:lstStyle/>
          <a:p>
            <a:pPr marL="0" indent="0">
              <a:buNone/>
            </a:pPr>
            <a:r>
              <a:rPr lang="en-US" sz="1150" i="1" dirty="0">
                <a:solidFill>
                  <a:srgbClr val="5A626E"/>
                </a:solidFill>
                <a:latin typeface="Calibri" pitchFamily="34" charset="0"/>
                <a:ea typeface="Calibri" pitchFamily="34" charset="-122"/>
                <a:cs typeface="Calibri" pitchFamily="34" charset="-120"/>
              </a:rPr>
              <a:t>No logistics area is handed over until it is inspected, cleared, reinstated and formally accepted.</a:t>
            </a:r>
            <a:endParaRPr lang="en-US" sz="1150" dirty="0"/>
          </a:p>
        </p:txBody>
      </p:sp>
      <p:sp>
        <p:nvSpPr>
          <p:cNvPr id="16" name="Shape 13"/>
          <p:cNvSpPr/>
          <p:nvPr/>
        </p:nvSpPr>
        <p:spPr>
          <a:xfrm>
            <a:off x="6446520" y="1508760"/>
            <a:ext cx="5257800" cy="4251960"/>
          </a:xfrm>
          <a:prstGeom prst="roundRect">
            <a:avLst>
              <a:gd name="adj" fmla="val 2151"/>
            </a:avLst>
          </a:prstGeom>
          <a:solidFill>
            <a:srgbClr val="004549"/>
          </a:solidFill>
          <a:ln/>
        </p:spPr>
        <p:txBody>
          <a:bodyPr/>
          <a:lstStyle/>
          <a:p>
            <a:endParaRPr lang="en-US"/>
          </a:p>
        </p:txBody>
      </p:sp>
      <p:sp>
        <p:nvSpPr>
          <p:cNvPr id="17" name="Text 14"/>
          <p:cNvSpPr/>
          <p:nvPr/>
        </p:nvSpPr>
        <p:spPr>
          <a:xfrm>
            <a:off x="6720840" y="1600200"/>
            <a:ext cx="914400" cy="914400"/>
          </a:xfrm>
          <a:prstGeom prst="rect">
            <a:avLst/>
          </a:prstGeom>
          <a:noFill/>
          <a:ln/>
        </p:spPr>
        <p:txBody>
          <a:bodyPr wrap="square" rtlCol="0" anchor="ctr"/>
          <a:lstStyle/>
          <a:p>
            <a:pPr marL="0" indent="0">
              <a:buNone/>
            </a:pPr>
            <a:r>
              <a:rPr lang="en-US" sz="6000" b="1" dirty="0">
                <a:solidFill>
                  <a:srgbClr val="8FCFC3"/>
                </a:solidFill>
                <a:latin typeface="Calibri" pitchFamily="34" charset="0"/>
                <a:ea typeface="Calibri" pitchFamily="34" charset="-122"/>
                <a:cs typeface="Calibri" pitchFamily="34" charset="-120"/>
              </a:rPr>
              <a:t>“</a:t>
            </a:r>
            <a:endParaRPr lang="en-US" sz="6000" dirty="0"/>
          </a:p>
        </p:txBody>
      </p:sp>
      <p:sp>
        <p:nvSpPr>
          <p:cNvPr id="18" name="Text 15"/>
          <p:cNvSpPr/>
          <p:nvPr/>
        </p:nvSpPr>
        <p:spPr>
          <a:xfrm>
            <a:off x="6903720" y="2514600"/>
            <a:ext cx="4572000" cy="1463040"/>
          </a:xfrm>
          <a:prstGeom prst="rect">
            <a:avLst/>
          </a:prstGeom>
          <a:noFill/>
          <a:ln/>
        </p:spPr>
        <p:txBody>
          <a:bodyPr wrap="square" rtlCol="0" anchor="ctr"/>
          <a:lstStyle/>
          <a:p>
            <a:pPr marL="0" indent="0">
              <a:lnSpc>
                <a:spcPts val="2200"/>
              </a:lnSpc>
              <a:buNone/>
            </a:pPr>
            <a:r>
              <a:rPr lang="en-US" sz="1700" b="1" i="1" dirty="0">
                <a:solidFill>
                  <a:srgbClr val="FFFFFF"/>
                </a:solidFill>
                <a:latin typeface="Calibri" pitchFamily="34" charset="0"/>
                <a:ea typeface="Calibri" pitchFamily="34" charset="-122"/>
                <a:cs typeface="Calibri" pitchFamily="34" charset="-120"/>
              </a:rPr>
              <a:t>MAH manages logistics as an integrated project-control function — not merely a transportation service.</a:t>
            </a:r>
            <a:endParaRPr lang="en-US" sz="1700" dirty="0"/>
          </a:p>
        </p:txBody>
      </p:sp>
      <p:sp>
        <p:nvSpPr>
          <p:cNvPr id="19" name="Text 16"/>
          <p:cNvSpPr/>
          <p:nvPr/>
        </p:nvSpPr>
        <p:spPr>
          <a:xfrm>
            <a:off x="6903720" y="4160520"/>
            <a:ext cx="4572000" cy="1371600"/>
          </a:xfrm>
          <a:prstGeom prst="rect">
            <a:avLst/>
          </a:prstGeom>
          <a:noFill/>
          <a:ln/>
        </p:spPr>
        <p:txBody>
          <a:bodyPr wrap="square" rtlCol="0" anchor="ctr"/>
          <a:lstStyle/>
          <a:p>
            <a:pPr marL="0" indent="0">
              <a:lnSpc>
                <a:spcPts val="1600"/>
              </a:lnSpc>
              <a:buNone/>
            </a:pPr>
            <a:r>
              <a:rPr lang="en-US" sz="1200" dirty="0">
                <a:solidFill>
                  <a:srgbClr val="CFE6E1"/>
                </a:solidFill>
                <a:latin typeface="Calibri" pitchFamily="34" charset="0"/>
                <a:ea typeface="Calibri" pitchFamily="34" charset="-122"/>
                <a:cs typeface="Calibri" pitchFamily="34" charset="-120"/>
              </a:rPr>
              <a:t>Successful logistics requires coordinated planning between Procurement, Stores, Construction, Planning, HSE, QA/QC, Traffic Management, Security, Interface Management, suppliers and subcontractors.</a:t>
            </a:r>
            <a:endParaRPr lang="en-US" sz="1200" dirty="0"/>
          </a:p>
        </p:txBody>
      </p:sp>
      <p:sp>
        <p:nvSpPr>
          <p:cNvPr id="21" name="Text 17"/>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assets/bg_cover.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3886200"/>
            <a:ext cx="7315200" cy="91440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Thank You</a:t>
            </a:r>
            <a:endParaRPr lang="en-US" sz="3800" dirty="0"/>
          </a:p>
        </p:txBody>
      </p:sp>
      <p:sp>
        <p:nvSpPr>
          <p:cNvPr id="4" name="Text 1"/>
          <p:cNvSpPr/>
          <p:nvPr/>
        </p:nvSpPr>
        <p:spPr>
          <a:xfrm>
            <a:off x="822960" y="4709160"/>
            <a:ext cx="7315200" cy="548640"/>
          </a:xfrm>
          <a:prstGeom prst="rect">
            <a:avLst/>
          </a:prstGeom>
          <a:noFill/>
          <a:ln/>
        </p:spPr>
        <p:txBody>
          <a:bodyPr wrap="square" rtlCol="0" anchor="ctr"/>
          <a:lstStyle/>
          <a:p>
            <a:pPr marL="0" indent="0">
              <a:buNone/>
            </a:pPr>
            <a:r>
              <a:rPr lang="en-US" sz="1600" dirty="0">
                <a:solidFill>
                  <a:srgbClr val="8FCFC3"/>
                </a:solidFill>
                <a:latin typeface="Calibri" pitchFamily="34" charset="0"/>
                <a:ea typeface="Calibri" pitchFamily="34" charset="-122"/>
                <a:cs typeface="Calibri" pitchFamily="34" charset="-120"/>
              </a:rPr>
              <a:t>Questions &amp; Discussion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7B49EA6-D788-4A2F-B966-9F6636B915A7}">
  <we:reference id="WA200010215" version="2.0.0.0" store="Omex" storeType="OMEX"/>
  <we:alternateReferences>
    <we:reference id="WA200010215" version="2.0.0.0" store="WA200010215" storeType="OMEX"/>
  </we:alternateReferences>
  <we:properties>
    <we:property name="bps.codex_control.document_id" value="&quot;1a02bc72-28e1-414d-9158-fdc170f5b15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169</TotalTime>
  <Words>3758</Words>
  <Application>Microsoft Office PowerPoint</Application>
  <PresentationFormat>Widescreen</PresentationFormat>
  <Paragraphs>360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Ahmed Ashraf Youssef</cp:lastModifiedBy>
  <cp:revision>2</cp:revision>
  <dcterms:created xsi:type="dcterms:W3CDTF">2026-08-22T19:36:30Z</dcterms:created>
  <dcterms:modified xsi:type="dcterms:W3CDTF">2026-09-10T07:26:36Z</dcterms:modified>
</cp:coreProperties>
</file>